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media/image1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20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Relationship Id="rId7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3" r:id="rId4"/>
  </p:sldMasterIdLst>
  <p:notesMasterIdLst>
    <p:notesMasterId r:id="rId28"/>
  </p:notesMasterIdLst>
  <p:handoutMasterIdLst>
    <p:handoutMasterId r:id="rId29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</p:sldIdLst>
  <p:sldSz cx="12192000" cy="6858000"/>
  <p:notesSz cx="13716000" cy="243871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D7E6404-F187-8246-A766-E0E29954D569}" name="Iryna Markiv" initials="" userId="S::imarki@softserveinc.com::51b74fcb-94de-4ae6-a833-f560b14dbba8" providerId="AD"/>
  <p188:author id="{5A1AA315-E1D3-F2C9-1337-4740BB9B7B6C}" name="Nataliia Kolobkova" initials="" userId="S::nkolob@softserveinc.com::792c482e-2a45-494f-bd9a-f084b16b9457" providerId="AD"/>
  <p188:author id="{A587C119-866E-FC84-10C9-07DBC241A71F}" name="Pawel Domal" initials="PD" userId="S::padomal@softserveinc.com::0dcc0bba-ce81-4726-adfc-5167fa8cd2c5" providerId="AD"/>
  <p188:author id="{74989E37-B850-1D40-C287-E7457D095939}" name="Taras Lopushanskyi" initials="" userId="S::tlopu@softserveinc.com::7b479547-1ac6-4c3e-bfc7-6a03fe16e469" providerId="AD"/>
  <p188:author id="{21482640-A5A7-D737-7BF2-D35DE245910F}" name="Bohdan Khomych" initials="BK" userId="S::bkhomy@softserveinc.com::a74afff9-9061-49b9-9ccd-c94257aae52d" providerId="AD"/>
  <p188:author id="{DC511251-FA26-9433-1173-3030CF824937}" name="Neill Furmston" initials="" userId="S::nfurm@softserveinc.com::1f7bb88b-ebba-4afe-b2d3-53cd9fd2713d" providerId="AD"/>
  <p188:author id="{F3764051-4701-B8D2-F2FF-086436182B31}" name="Helga Kuklieva" initials="HK" userId="S::okukl@softserveinc.com::8058d566-3e94-4190-bb8d-b787b7329c88" providerId="AD"/>
  <p188:author id="{C2E33E54-C8C2-0C5D-040E-12AE751738F1}" name="Volodymyr Horbovyi" initials="VH" userId="S::vhorbo@softserveinc.com::c81b15e6-e052-4beb-9940-6f5a346dc6fb" providerId="AD"/>
  <p188:author id="{FC195F60-30CD-1CEB-73C0-F626030225A3}" name="Vika Shemet" initials="" userId="S::vsheme@softserveinc.com::db0cc8c0-0552-412f-b1bb-b7d23224c7a0" providerId="AD"/>
  <p188:author id="{2894DD6E-0494-9116-161E-584914936762}" name="Viktoriya Klymenko" initials="VK" userId="S::vklym@softserveinc.com::5ae53fcc-30d6-497b-a87f-600e3b37d87f" providerId="AD"/>
  <p188:author id="{4394AC8E-DC3E-F677-9D4D-E54A7EE923E3}" name="Karsten Tramborg" initials="" userId="S::ktram@softserveinc.com::1262f8f5-da82-4171-8a2c-b12ccabce2e4" providerId="AD"/>
  <p188:author id="{A1D112A3-AFCA-883A-F2AF-90D764BC06CD}" name="Volodymyr S. Chornyy" initials="VSC" userId="S::vchornyy@softserveinc.com::bce045a6-b280-45d7-8bfb-708a3f37d1d9" providerId="AD"/>
  <p188:author id="{7ED644DC-D3AC-75B6-36A0-CC58848AD126}" name="Iryna Sukhotska" initials="" userId="S::isukh@softserveinc.com::57b3c95b-473f-45db-abc5-73044ff921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FFFF"/>
    <a:srgbClr val="66FFCC"/>
    <a:srgbClr val="66B1DA"/>
    <a:srgbClr val="6197DF"/>
    <a:srgbClr val="C34230"/>
    <a:srgbClr val="F2F4F7"/>
    <a:srgbClr val="90F0BB"/>
    <a:srgbClr val="FCA8A8"/>
    <a:srgbClr val="00FF99"/>
    <a:srgbClr val="4285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2E4527-6086-4226-CC7C-98496AD5F3F6}" v="8" dt="2026-07-21T15:24:56.738"/>
    <p1510:client id="{7C8135A0-CDA8-4096-ACFF-4CF245CF60B9}" v="75" dt="2026-07-22T13:24:59.659"/>
    <p1510:client id="{CE09A14E-E1CD-BEB9-E7FE-63B1E3B99F3C}" v="1" dt="2026-07-22T13:58:24.311"/>
    <p1510:client id="{D50E7535-712B-BC2E-D404-6C68C20F7725}" v="254" dt="2026-07-21T15:52:24.36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8" Type="http://schemas.openxmlformats.org/officeDocument/2006/relationships/notesMaster" Target="notesMasters/notesMaster1.xml"/><Relationship Id="rId29" Type="http://schemas.openxmlformats.org/officeDocument/2006/relationships/handoutMaster" Target="handoutMasters/handout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microsoft.com/office/2015/10/relationships/revisionInfo" Target="revisionInfo.xml"/><Relationship Id="rId35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B680F3-DD1E-2F10-DC7E-0F75713A06A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3F4D9F-E224-EC65-6891-0836CE2DB58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AD74B5-A0C2-784A-8B79-F49806F2F400}" type="datetimeFigureOut">
              <a:rPr lang="en-US" smtClean="0">
                <a:latin typeface="Replica LL TT" panose="020B0504010101010104" pitchFamily="34" charset="77"/>
              </a:rPr>
              <a:t>7/27/2026</a:t>
            </a:fld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E25027-960B-0D77-E2EA-8CA65A6DC5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4681D8-F754-61ED-C9B7-7CCEB164E16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856655-A3FC-734D-870A-74EA14882906}" type="slidenum">
              <a:rPr lang="en-US" smtClean="0">
                <a:latin typeface="Replica LL TT" panose="020B0504010101010104" pitchFamily="34" charset="77"/>
              </a:rPr>
              <a:t>‹#›</a:t>
            </a:fld>
            <a:endParaRPr lang="en-US">
              <a:latin typeface="Replica LL TT" panose="020B05040101010101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99831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22803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509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017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526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034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2543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051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59956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068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2E51680A-FFEB-87D3-5EF8-50A2898A208D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58775" y="2819400"/>
            <a:ext cx="11490325" cy="3429000"/>
          </a:xfrm>
        </p:spPr>
        <p:txBody>
          <a:bodyPr/>
          <a:lstStyle>
            <a:lvl1pPr marL="0" indent="0">
              <a:lnSpc>
                <a:spcPct val="110000"/>
              </a:lnSpc>
              <a:spcAft>
                <a:spcPts val="1000"/>
              </a:spcAft>
              <a:buNone/>
              <a:tabLst/>
              <a:defRPr b="0" i="0">
                <a:latin typeface="+mn-lt"/>
              </a:defRPr>
            </a:lvl1pPr>
            <a:lvl2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2pPr>
            <a:lvl3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3pPr>
            <a:lvl4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4pPr>
            <a:lvl5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5pPr>
            <a:lvl6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6pPr>
            <a:lvl7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7pPr>
            <a:lvl8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8pPr>
            <a:lvl9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D571CDE-B9F4-7B75-49A8-D1C30DB9346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64CAFCC1-38CA-3166-0FCA-B21C3B410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" pitchFamily="49" charset="0"/>
                <a:ea typeface="Roboto Mono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8734" y="1081986"/>
            <a:ext cx="4111150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4432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0" Type="http://schemas.openxmlformats.org/officeDocument/2006/relationships/slideLayout" Target="../slideLayouts/slideLayout20.xml"/><Relationship Id="rId70" Type="http://schemas.openxmlformats.org/officeDocument/2006/relationships/theme" Target="../theme/theme1.xml"/><Relationship Id="rId71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lide Number Placeholder 9">
            <a:extLst>
              <a:ext uri="{FF2B5EF4-FFF2-40B4-BE49-F238E27FC236}">
                <a16:creationId xmlns:a16="http://schemas.microsoft.com/office/drawing/2014/main" id="{CC28ACB6-8CB3-E190-AAA3-6747DFFE15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" pitchFamily="49" charset="0"/>
                <a:ea typeface="Roboto Mono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0F829B-1468-26F9-C19B-9857419738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45FEAE-7A79-66BA-FD94-F1B2ECDB84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900" y="2448909"/>
            <a:ext cx="11468102" cy="3728053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  <a:endParaRPr lang="en-US"/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24F31599-6B9F-8BB9-66CC-7517887D0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0" y="920338"/>
            <a:ext cx="5220104" cy="1325563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85B0EE91-61D1-8D52-0B58-F63F4033609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3" name="Image 1" descr=" ">
            <a:extLst>
              <a:ext uri="{FF2B5EF4-FFF2-40B4-BE49-F238E27FC236}">
                <a16:creationId xmlns:a16="http://schemas.microsoft.com/office/drawing/2014/main" id="{A85A963D-3698-3156-78F6-92AE46B288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1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781D3F8-2806-623C-E4A5-125725F3FCAF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6666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2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1" b="0" i="0" kern="1200">
          <a:solidFill>
            <a:schemeClr val="tx1"/>
          </a:solidFill>
          <a:latin typeface="+mn-lt"/>
          <a:ea typeface="+mj-ea"/>
          <a:cs typeface="Replica LL TT" panose="020B0504010101010104" pitchFamily="34" charset="77"/>
        </a:defRPr>
      </a:lvl1pPr>
    </p:titleStyle>
    <p:bodyStyle>
      <a:lvl1pPr marL="145098" indent="-145098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tabLst/>
        <a:defRPr sz="1400" b="0" i="0" kern="1200" baseline="0">
          <a:solidFill>
            <a:schemeClr val="tx1"/>
          </a:solidFill>
          <a:latin typeface="+mn-lt"/>
          <a:ea typeface="+mn-ea"/>
          <a:cs typeface="Replica LL TT" panose="020B0504010101010104" pitchFamily="34" charset="77"/>
        </a:defRPr>
      </a:lvl1pPr>
      <a:lvl2pPr marL="292608" indent="-146304" algn="l" defTabSz="146304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38912" indent="-146304" algn="l" defTabSz="146304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1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585216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731520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00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877824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900" b="0" i="0" kern="1200">
          <a:solidFill>
            <a:schemeClr val="tx1"/>
          </a:solidFill>
          <a:latin typeface="+mn-lt"/>
          <a:ea typeface="+mn-ea"/>
          <a:cs typeface="+mn-cs"/>
        </a:defRPr>
      </a:lvl6pPr>
      <a:lvl7pPr marL="1024128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800" b="0" i="0" kern="1200">
          <a:solidFill>
            <a:schemeClr val="tx1"/>
          </a:solidFill>
          <a:latin typeface="+mn-lt"/>
          <a:ea typeface="+mn-ea"/>
          <a:cs typeface="+mn-cs"/>
        </a:defRPr>
      </a:lvl7pPr>
      <a:lvl8pPr marL="1170432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700" b="0" i="0" kern="1200">
          <a:solidFill>
            <a:schemeClr val="tx1"/>
          </a:solidFill>
          <a:latin typeface="+mn-lt"/>
          <a:ea typeface="+mn-ea"/>
          <a:cs typeface="+mn-cs"/>
        </a:defRPr>
      </a:lvl8pPr>
      <a:lvl9pPr marL="1316736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600" b="0" i="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99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4" userDrawn="1">
          <p15:clr>
            <a:srgbClr val="F26B43"/>
          </p15:clr>
        </p15:guide>
        <p15:guide id="2" pos="3778" userDrawn="1">
          <p15:clr>
            <a:srgbClr val="F26B43"/>
          </p15:clr>
        </p15:guide>
        <p15:guide id="3" pos="216" userDrawn="1">
          <p15:clr>
            <a:srgbClr val="F26B43"/>
          </p15:clr>
        </p15:guide>
        <p15:guide id="4" pos="1011" userDrawn="1">
          <p15:clr>
            <a:srgbClr val="F26B43"/>
          </p15:clr>
        </p15:guide>
        <p15:guide id="5" pos="1135" userDrawn="1">
          <p15:clr>
            <a:srgbClr val="F26B43"/>
          </p15:clr>
        </p15:guide>
        <p15:guide id="6" pos="2060" userDrawn="1">
          <p15:clr>
            <a:srgbClr val="F26B43"/>
          </p15:clr>
        </p15:guide>
        <p15:guide id="7" pos="1936" userDrawn="1">
          <p15:clr>
            <a:srgbClr val="F26B43"/>
          </p15:clr>
        </p15:guide>
        <p15:guide id="8" pos="2858" userDrawn="1">
          <p15:clr>
            <a:srgbClr val="F26B43"/>
          </p15:clr>
        </p15:guide>
        <p15:guide id="9" pos="2982" userDrawn="1">
          <p15:clr>
            <a:srgbClr val="F26B43"/>
          </p15:clr>
        </p15:guide>
        <p15:guide id="10" pos="3904" userDrawn="1">
          <p15:clr>
            <a:srgbClr val="F26B43"/>
          </p15:clr>
        </p15:guide>
        <p15:guide id="11" pos="4700" userDrawn="1">
          <p15:clr>
            <a:srgbClr val="F26B43"/>
          </p15:clr>
        </p15:guide>
        <p15:guide id="12" pos="4826" userDrawn="1">
          <p15:clr>
            <a:srgbClr val="F26B43"/>
          </p15:clr>
        </p15:guide>
        <p15:guide id="13" pos="5620" userDrawn="1">
          <p15:clr>
            <a:srgbClr val="F26B43"/>
          </p15:clr>
        </p15:guide>
        <p15:guide id="14" pos="5748" userDrawn="1">
          <p15:clr>
            <a:srgbClr val="F26B43"/>
          </p15:clr>
        </p15:guide>
        <p15:guide id="15" pos="6544" userDrawn="1">
          <p15:clr>
            <a:srgbClr val="F26B43"/>
          </p15:clr>
        </p15:guide>
        <p15:guide id="16" pos="6670" userDrawn="1">
          <p15:clr>
            <a:srgbClr val="F26B43"/>
          </p15:clr>
        </p15:guide>
        <p15:guide id="17" pos="7464" userDrawn="1">
          <p15:clr>
            <a:srgbClr val="F26B43"/>
          </p15:clr>
        </p15:guide>
        <p15:guide id="18" orient="horz" pos="4104" userDrawn="1">
          <p15:clr>
            <a:srgbClr val="F26B43"/>
          </p15:clr>
        </p15:guide>
        <p15:guide id="19" orient="horz" pos="55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6.jpg"/><Relationship Id="rId3" Type="http://schemas.openxmlformats.org/officeDocument/2006/relationships/image" Target="../media/image7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03120"/>
            <a:ext cx="5212080" cy="681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+mj-lt"/>
              </a:rPr>
              <a:t>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912872"/>
            <a:ext cx="5212080" cy="1659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D9E4EC"/>
                </a:solidFill>
                <a:latin typeface="+mj-lt"/>
              </a:rPr>
              <a:t>More opportunities from the companies you already track: the news, filings and updates on them become a named next move for each — scored, cited and reviewed before anything reaches your systems.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8" y="475488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+mj-lt"/>
              </a:rPr>
              <a:t>Accelerator App by SoftServe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" y="5138928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36949"/>
                </a:solidFill>
                <a:latin typeface="+mj-lt"/>
              </a:rPr>
              <a:t>WHO IT IS FOR   </a:t>
            </a:r>
            <a:r>
              <a:rPr sz="1000" b="0">
                <a:solidFill>
                  <a:srgbClr val="AEB6BD"/>
                </a:solidFill>
                <a:latin typeface="+mj-lt"/>
              </a:rPr>
              <a:t>Any team responsible for a named set of companies — the accounts it sells to, the partners it develops, the holdings in its portfolio.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USE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1755648"/>
            <a:ext cx="5504688" cy="3364992"/>
          </a:xfrm>
          <a:prstGeom prst="rect">
            <a:avLst/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" y="1755648"/>
            <a:ext cx="91440" cy="3364992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0216" y="1755648"/>
            <a:ext cx="5504688" cy="3364992"/>
          </a:xfrm>
          <a:prstGeom prst="rect">
            <a:avLst/>
          </a:prstGeom>
          <a:solidFill>
            <a:srgbClr val="EC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00216" y="1755648"/>
            <a:ext cx="91440" cy="3364992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9202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0256" y="19202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85C3"/>
                </a:solidFill>
                <a:latin typeface="Replica LL TT"/>
              </a:rPr>
              <a:t>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2286000"/>
            <a:ext cx="4937760" cy="2670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34" b="1">
                <a:solidFill>
                  <a:srgbClr val="26282B"/>
                </a:solidFill>
                <a:latin typeface="Replica LL TT"/>
              </a:rPr>
              <a:t>An account manager, a partnerships lead or a portfolio manager each covers dozens of companies and cannot keep up with the news, filings and updates landing on all of them.</a:t>
            </a:r>
          </a:p>
          <a:p>
            <a:pPr algn="l">
              <a:spcAft>
                <a:spcPts val="500"/>
              </a:spcAft>
            </a:pPr>
            <a:r>
              <a:rPr sz="1276" b="1">
                <a:solidFill>
                  <a:srgbClr val="26282B"/>
                </a:solidFill>
                <a:latin typeface="Replica LL TT"/>
              </a:rPr>
              <a:t>Too much to keep up with: </a:t>
            </a:r>
            <a:r>
              <a:rPr sz="1276" b="0">
                <a:solidFill>
                  <a:srgbClr val="6B7076"/>
                </a:solidFill>
                <a:latin typeface="Replica LL TT"/>
              </a:rPr>
              <a:t>dozens of companies, hundreds of sources, one person</a:t>
            </a:r>
          </a:p>
          <a:p>
            <a:pPr algn="l">
              <a:spcAft>
                <a:spcPts val="500"/>
              </a:spcAft>
            </a:pPr>
            <a:r>
              <a:rPr sz="1276" b="1">
                <a:solidFill>
                  <a:srgbClr val="26282B"/>
                </a:solidFill>
                <a:latin typeface="Replica LL TT"/>
              </a:rPr>
              <a:t>Found out too late: </a:t>
            </a:r>
            <a:r>
              <a:rPr sz="1276" b="0">
                <a:solidFill>
                  <a:srgbClr val="6B7076"/>
                </a:solidFill>
                <a:latin typeface="Replica LL TT"/>
              </a:rPr>
              <a:t>the update surfaces after the company has already decided</a:t>
            </a:r>
          </a:p>
          <a:p>
            <a:pPr algn="l">
              <a:spcAft>
                <a:spcPts val="500"/>
              </a:spcAft>
            </a:pPr>
            <a:r>
              <a:rPr sz="1276" b="1">
                <a:solidFill>
                  <a:srgbClr val="26282B"/>
                </a:solidFill>
                <a:latin typeface="Replica LL TT"/>
              </a:rPr>
              <a:t>Only the company in the headline: </a:t>
            </a:r>
            <a:r>
              <a:rPr sz="1276" b="0">
                <a:solidFill>
                  <a:srgbClr val="6B7076"/>
                </a:solidFill>
                <a:latin typeface="Replica LL TT"/>
              </a:rPr>
              <a:t>what it means for its suppliers, customers, competitors or sister holdings is never worked 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286000"/>
            <a:ext cx="49377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768" b="1">
                <a:solidFill>
                  <a:srgbClr val="1485C3"/>
                </a:solidFill>
                <a:latin typeface="Replica LL TT"/>
              </a:rPr>
              <a:t>REVIEW THE OPPORTUNITY, DON'T RESEARCH IT</a:t>
            </a:r>
          </a:p>
          <a:p>
            <a:pPr algn="l"/>
            <a:r>
              <a:rPr sz="1564" b="0">
                <a:solidFill>
                  <a:srgbClr val="26282B"/>
                </a:solidFill>
                <a:latin typeface="Replica LL TT"/>
              </a:rPr>
              <a:t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29400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02552" y="4617720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Reviewer agreement 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11896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8" y="4617720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Confidence calibrated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94392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67544" y="4617720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Coverage 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5321808"/>
            <a:ext cx="11420856" cy="566928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321808"/>
            <a:ext cx="110916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Replica LL TT"/>
              </a:rPr>
              <a:t>Runs on OCI — every run is GPU consumption an Oracle account exec can sell; Oracle CX is the natural system of record.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VERTICAL APPLICATIONS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" y="2267712"/>
            <a:ext cx="2057400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" name="Picture 6" descr="tru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" y="2697480"/>
            <a:ext cx="969264" cy="96926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441448" y="2267712"/>
            <a:ext cx="54864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06624" y="2487168"/>
            <a:ext cx="29352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6282B"/>
                </a:solidFill>
                <a:latin typeface="Replica LL TT"/>
              </a:rPr>
              <a:t>Logistics &amp; supply chain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06624" y="3172968"/>
            <a:ext cx="502920" cy="36576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06624" y="3273552"/>
            <a:ext cx="29352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Signals on shippers and their networks become named forwarding, warehousing and contract-logistics opportunities on the accounts that carry them.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4768" y="2267712"/>
            <a:ext cx="2057400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ba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836" y="2697480"/>
            <a:ext cx="969264" cy="969264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8202168" y="2267712"/>
            <a:ext cx="54864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67344" y="2487168"/>
            <a:ext cx="29352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6282B"/>
                </a:solidFill>
                <a:latin typeface="Replica LL TT"/>
              </a:rPr>
              <a:t>Financial services &amp; banking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67344" y="3172968"/>
            <a:ext cx="502920" cy="36576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3273552"/>
            <a:ext cx="29352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One event is resolved across the obligor group and returns both the coverage opportunity and the exposure it puts at risk, to two different owners.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4352544"/>
            <a:ext cx="2057400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fac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" y="4782312"/>
            <a:ext cx="969264" cy="96926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2441448" y="4352544"/>
            <a:ext cx="54864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06624" y="4572000"/>
            <a:ext cx="29352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6282B"/>
                </a:solidFill>
                <a:latin typeface="Replica LL TT"/>
              </a:rPr>
              <a:t>Industrial &amp; manufacturing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06624" y="5257800"/>
            <a:ext cx="502920" cy="36576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06624" y="5358384"/>
            <a:ext cx="29352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One signal fans out across the affected companies with the supply, reallocation or partnership opportunities each one creates.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4352544"/>
            <a:ext cx="2057400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8" name="Picture 27" descr="gener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8836" y="4782312"/>
            <a:ext cx="969264" cy="969264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8202168" y="4352544"/>
            <a:ext cx="54864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4572000"/>
            <a:ext cx="29352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6282B"/>
                </a:solidFill>
                <a:latin typeface="Replica LL TT"/>
              </a:rPr>
              <a:t>Private equity funds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67344" y="5257800"/>
            <a:ext cx="502920" cy="36576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67344" y="5358384"/>
            <a:ext cx="29352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Signals across the portfolio are resolved to the holdings they affect and mapped to the value-creation levers the fund actually pulls.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1252728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26282B"/>
                </a:solidFill>
                <a:latin typeface="Replica LL TT"/>
              </a:rPr>
              <a:t>What if the team reviewed the opportunities instead of researching them?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" y="1792224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076"/>
                </a:solidFill>
                <a:latin typeface="Replica LL TT"/>
              </a:rPr>
              <a:t>More opportunities from the companies you already track — found in the news, filings and updates on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215798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Vertical case: a logistics operator's key-account team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2578608"/>
            <a:ext cx="5504688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2578608"/>
            <a:ext cx="55046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Replica LL TT"/>
              </a:rPr>
              <a:t>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3090672"/>
            <a:ext cx="550468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The account manager, partnerships lead or portfolio manager reads what they can, when they can — usually the night before a meeting, usually only about the company in the headline. What it means for the other companies they cover is never worked out.</a:t>
            </a:r>
          </a:p>
        </p:txBody>
      </p:sp>
      <p:pic>
        <p:nvPicPr>
          <p:cNvPr id="10" name="Picture 9" descr="today-A-filefolders-business.jpg"/>
          <p:cNvPicPr>
            <a:picLocks noChangeAspect="1"/>
          </p:cNvPicPr>
          <p:nvPr/>
        </p:nvPicPr>
        <p:blipFill>
          <a:blip r:embed="rId2"/>
          <a:srcRect t="23172" b="23172"/>
          <a:stretch>
            <a:fillRect/>
          </a:stretch>
        </p:blipFill>
        <p:spPr>
          <a:xfrm>
            <a:off x="384048" y="4069080"/>
            <a:ext cx="5504688" cy="19659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91072" y="2578608"/>
            <a:ext cx="5504688" cy="42062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1072" y="2578608"/>
            <a:ext cx="55046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Replica LL TT"/>
              </a:rPr>
              <a:t>TOMORROW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91072" y="3090672"/>
            <a:ext cx="550468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Each morning they open a short list: the changes that matter across the companies they cover, what each one means, and the named next move — with the evidence beside it. They approve, reject or comment, and the approved moves go to the system they already work in.</a:t>
            </a:r>
          </a:p>
        </p:txBody>
      </p:sp>
      <p:pic>
        <p:nvPicPr>
          <p:cNvPr id="14" name="Picture 13" descr="tomorrow-C-analytics-charts.jpg"/>
          <p:cNvPicPr>
            <a:picLocks noChangeAspect="1"/>
          </p:cNvPicPr>
          <p:nvPr/>
        </p:nvPicPr>
        <p:blipFill>
          <a:blip r:embed="rId3"/>
          <a:srcRect t="23214" b="23214"/>
          <a:stretch>
            <a:fillRect/>
          </a:stretch>
        </p:blipFill>
        <p:spPr>
          <a:xfrm>
            <a:off x="6291072" y="4069080"/>
            <a:ext cx="5504688" cy="1965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188720"/>
            <a:ext cx="1142085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00" b="1">
                <a:solidFill>
                  <a:srgbClr val="26282B"/>
                </a:solidFill>
                <a:latin typeface="Replica LL TT"/>
              </a:rPr>
              <a:t>A first engagement in delivery — results to follow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2103120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2103120"/>
            <a:ext cx="5230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Replica LL TT"/>
              </a:rPr>
              <a:t>CONTEXT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2432304"/>
            <a:ext cx="5504688" cy="996315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2523744"/>
            <a:ext cx="5193792" cy="813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26282B"/>
                </a:solidFill>
                <a:latin typeface="Replica LL TT"/>
              </a:rPr>
              <a:t>A global logistics and supply-chain operator. A contracted proof of concept on NVIDIA AI-Q over OCI, turning external signals and first-party account context into per-account opportunity and risk records — scored, cited and reviewed in a purpose-built reviewer UI, across seven external data sources. Contracted; results follow the proof of value.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0216" y="2103120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103120"/>
            <a:ext cx="5230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Replica LL TT"/>
              </a:rPr>
              <a:t>WHAT THE PACK DOES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0216" y="2432304"/>
            <a:ext cx="5504688" cy="996315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2523744"/>
            <a:ext cx="5193792" cy="813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26282B"/>
                </a:solidFill>
                <a:latin typeface="Replica LL TT"/>
              </a:rPr>
              <a:t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3739515"/>
            <a:ext cx="11420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485C3"/>
                </a:solidFill>
                <a:latin typeface="Replica LL TT"/>
              </a:rPr>
              <a:t>HOW IT WORKS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Set the 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4160139"/>
            <a:ext cx="83972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076"/>
                </a:solidFill>
                <a:latin typeface="Replica LL TT"/>
              </a:rPr>
              <a:t>person in the loop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1991868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375916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522220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22220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2220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Pick up the signal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983736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67784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14088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14088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14088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Work out what it means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75604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59652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05956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05956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05956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Map it to your next move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7967472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1520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497824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97824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97824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6282B"/>
                </a:solidFill>
                <a:latin typeface="Replica LL TT"/>
              </a:rPr>
              <a:t>Score it, evidence it, review 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27008" y="4160139"/>
            <a:ext cx="83972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076"/>
                </a:solidFill>
                <a:latin typeface="Replica LL TT"/>
              </a:rPr>
              <a:t>person in the loop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9959340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343388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0489692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489692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89692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Deliver it and learn from it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4048" y="5175123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095"/>
                </a:solidFill>
                <a:latin typeface="Replica LL TT"/>
              </a:rPr>
              <a:t>First engagement: a global logistics and supply-chain operator, contracted; results follow the proof of value. Pack scope differs from the delivered engagement: The pack generalizes what one engagement configured: the signal sources, the account universe and the service catalog are per-client configuration, and the catalog mapping and cross-account ripple reasoning are the reusable core.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WHY IT SELLS FOR YOUR ACCOUNT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2048256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076"/>
                </a:solidFill>
                <a:latin typeface="Replica LL TT"/>
              </a:rPr>
              <a:t>What this pack does for an Oracle account team's number.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2487168"/>
            <a:ext cx="3648456" cy="2628392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7249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369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27249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36949"/>
                </a:solidFill>
                <a:latin typeface="Replica LL TT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145536"/>
            <a:ext cx="3172968" cy="1084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Net-new OCI consumption: recurring GPU and inference workloads on dedicated OCI clusters, driven by signal volume rather than seat count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70248" y="2487168"/>
            <a:ext cx="3648456" cy="2628392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07992" y="27249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369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27249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36949"/>
                </a:solidFill>
                <a:latin typeface="Replica LL TT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3145536"/>
            <a:ext cx="3172968" cy="1084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Complements Oracle's own account intelligence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4394708"/>
            <a:ext cx="3172968" cy="464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076"/>
                </a:solidFill>
                <a:latin typeface="Replica LL TT"/>
              </a:rPr>
              <a:t>Sales Command Center works on first-party CX data; this pack brings the external signal and the next move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56448" y="2487168"/>
            <a:ext cx="3648456" cy="2628392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94192" y="27249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369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4192" y="27249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36949"/>
                </a:solidFill>
                <a:latin typeface="Replica LL TT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3145536"/>
            <a:ext cx="3172968" cy="1084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Repeatable across any Oracle customer that tracks a named set of companies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4394708"/>
            <a:ext cx="3172968" cy="464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076"/>
                </a:solidFill>
                <a:latin typeface="Replica LL TT"/>
              </a:rPr>
              <a:t>customer accounts in Oracle CX, partners, or portfolio holdings — and has a real catalog of moves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" y="5632704"/>
            <a:ext cx="11420856" cy="475488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" y="5632704"/>
            <a:ext cx="56692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Replica LL TT"/>
              </a:rPr>
              <a:t>Ready to test the fit on one customer's accounts?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5632704"/>
            <a:ext cx="538581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AEB6BD"/>
                </a:solidFill>
                <a:latin typeface="Replica LL TT"/>
              </a:rPr>
              <a:t>Karsten Tramborg · Alliances &amp; Partnerships Director · ktram@softserveinc.com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SOLUTION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2048256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076"/>
                </a:solidFill>
                <a:latin typeface="Replica LL TT"/>
              </a:rPr>
              <a:t>How the pack is layered — from the infrastructure up to the customer's own configuration.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8" y="2542032"/>
            <a:ext cx="18288" cy="3200400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6949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E5E8A"/>
                </a:solidFill>
                <a:latin typeface="Replica LL TT"/>
              </a:rPr>
              <a:t>▲ business value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542032"/>
            <a:ext cx="10469880" cy="704088"/>
          </a:xfrm>
          <a:prstGeom prst="rect">
            <a:avLst/>
          </a:prstGeom>
          <a:solidFill>
            <a:srgbClr val="FDEDE8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2542032"/>
            <a:ext cx="54864" cy="704088"/>
          </a:xfrm>
          <a:prstGeom prst="rect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542032"/>
            <a:ext cx="28346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Custom configuration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60520" y="2670048"/>
            <a:ext cx="9144" cy="448056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2542032"/>
            <a:ext cx="461772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6282B"/>
                </a:solidFill>
                <a:latin typeface="Replica LL TT"/>
              </a:rPr>
              <a:t>In-scope account list and tiering, Reasoning and ripple rules per domain, Catalog-of-moves capture and mapping logic, Scoring rubric and thresholds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81160" y="2720340"/>
            <a:ext cx="187452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54312" y="2720340"/>
            <a:ext cx="172821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44515A"/>
                </a:solidFill>
                <a:latin typeface="Replica LL TT"/>
              </a:rPr>
              <a:t>SoftServe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3374136"/>
            <a:ext cx="10469880" cy="704088"/>
          </a:xfrm>
          <a:prstGeom prst="rect">
            <a:avLst/>
          </a:prstGeom>
          <a:solidFill>
            <a:srgbClr val="D2E7F6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68680" y="3374136"/>
            <a:ext cx="54864" cy="704088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3374136"/>
            <a:ext cx="28346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Account insights by SoftServe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3502152"/>
            <a:ext cx="9144" cy="448056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3374136"/>
            <a:ext cx="461772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6282B"/>
                </a:solidFill>
                <a:latin typeface="Replica LL TT"/>
              </a:rPr>
              <a:t>normalize · fan out · reason · map · score · reviewer UI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81160" y="3552444"/>
            <a:ext cx="187452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54312" y="3552444"/>
            <a:ext cx="172821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44515A"/>
                </a:solidFill>
                <a:latin typeface="Replica LL TT"/>
              </a:rPr>
              <a:t>Oracle + SoftServe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4206240"/>
            <a:ext cx="10469880" cy="704088"/>
          </a:xfrm>
          <a:prstGeom prst="rect">
            <a:avLst/>
          </a:prstGeom>
          <a:solidFill>
            <a:srgbClr val="EAF3FB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" y="4206240"/>
            <a:ext cx="54864" cy="704088"/>
          </a:xfrm>
          <a:prstGeom prst="rect">
            <a:avLst/>
          </a:prstGeom>
          <a:solidFill>
            <a:srgbClr val="6DB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4206240"/>
            <a:ext cx="28346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NVIDIA AI-Q agentic engine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60520" y="4334256"/>
            <a:ext cx="9144" cy="448056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4206240"/>
            <a:ext cx="461772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6282B"/>
                </a:solidFill>
                <a:latin typeface="Replica LL TT"/>
              </a:rPr>
              <a:t>Agentic orchestration and deep research, Retrieval, reranking and citation verification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81160" y="4384548"/>
            <a:ext cx="187452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54312" y="4384548"/>
            <a:ext cx="172821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44515A"/>
                </a:solidFill>
                <a:latin typeface="Replica LL TT"/>
              </a:rPr>
              <a:t>NVIDIA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8680" y="5038344"/>
            <a:ext cx="10469880" cy="704088"/>
          </a:xfrm>
          <a:prstGeom prst="rect">
            <a:avLst/>
          </a:prstGeom>
          <a:solidFill>
            <a:srgbClr val="EEF1F3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68680" y="5038344"/>
            <a:ext cx="54864" cy="704088"/>
          </a:xfrm>
          <a:prstGeom prst="rect">
            <a:avLst/>
          </a:prstGeom>
          <a:solidFill>
            <a:srgbClr val="6B7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038344"/>
            <a:ext cx="28346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Cloud infrastructure and GPUs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60520" y="5166360"/>
            <a:ext cx="9144" cy="448056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0" y="5038344"/>
            <a:ext cx="461772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26282B"/>
                </a:solidFill>
                <a:latin typeface="Replica LL TT"/>
              </a:rPr>
              <a:t>OCI dedicated AI cluster — reserved GPU capacity for the engine, OCI Kubernetes Engine for the pack's services, Object Storage for sources and artifacts, Oracle AI Database for the retrieval index, API Gateway for exposure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81160" y="5216652"/>
            <a:ext cx="187452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54312" y="5216652"/>
            <a:ext cx="172821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44515A"/>
                </a:solidFill>
                <a:latin typeface="Replica LL TT"/>
              </a:rPr>
              <a:t>Oracle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2048256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076"/>
                </a:solidFill>
                <a:latin typeface="Replica LL TT"/>
              </a:rPr>
              <a:t>Reference architecture: signals and the system of record in, reviewed moves 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3822192" y="2395728"/>
            <a:ext cx="4590288" cy="3346704"/>
          </a:xfrm>
          <a:prstGeom prst="rect">
            <a:avLst/>
          </a:prstGeom>
          <a:solidFill>
            <a:srgbClr val="FFFFFF"/>
          </a:solidFill>
          <a:ln w="1905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096512" y="2761488"/>
            <a:ext cx="4041648" cy="896112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61104" y="2761488"/>
            <a:ext cx="3712464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50" b="1">
                <a:solidFill>
                  <a:srgbClr val="FFFFFF"/>
                </a:solidFill>
                <a:latin typeface="Replica LL TT"/>
              </a:rPr>
              <a:t>Account insights by SoftServe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096512" y="3877056"/>
            <a:ext cx="4041648" cy="896112"/>
          </a:xfrm>
          <a:prstGeom prst="rect">
            <a:avLst/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61104" y="3877056"/>
            <a:ext cx="3712464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50" b="1">
                <a:solidFill>
                  <a:srgbClr val="44515A"/>
                </a:solidFill>
                <a:latin typeface="Replica LL TT"/>
              </a:rPr>
              <a:t>NVIDIA AI-Q Blueprint</a:t>
            </a:r>
          </a:p>
          <a:p>
            <a:pPr algn="ctr">
              <a:spcBef>
                <a:spcPts val="200"/>
              </a:spcBef>
            </a:pPr>
            <a:r>
              <a:rPr sz="1000" b="0">
                <a:solidFill>
                  <a:srgbClr val="44515A"/>
                </a:solidFill>
                <a:latin typeface="Replica LL TT"/>
              </a:rPr>
              <a:t>NVIDIA AI-Q agentic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96512" y="4937760"/>
            <a:ext cx="40416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0" b="1">
                <a:solidFill>
                  <a:srgbClr val="26282B"/>
                </a:solidFill>
                <a:latin typeface="Replica LL TT"/>
              </a:rPr>
              <a:t>Cloud infrastructure and GPUs</a:t>
            </a:r>
          </a:p>
          <a:p>
            <a:pPr algn="l">
              <a:spcBef>
                <a:spcPts val="200"/>
              </a:spcBef>
            </a:pPr>
            <a:r>
              <a:rPr sz="840" b="0">
                <a:solidFill>
                  <a:srgbClr val="6B7076"/>
                </a:solidFill>
                <a:latin typeface="Replica LL TT"/>
              </a:rPr>
              <a:t>OCI dedicated AI cluster — reserved GPU capacity for the engine, OCI Kubernetes Engine for the pack's services, Object Storage for sources and artifacts, Oracle AI Database for the retrieval index, API Gateway for exposure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2395728"/>
            <a:ext cx="2331720" cy="1536192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395728"/>
            <a:ext cx="2039112" cy="1536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Replica LL TT"/>
              </a:rPr>
              <a:t>Signal feeds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4206240"/>
            <a:ext cx="2331720" cy="1536192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4206240"/>
            <a:ext cx="2039112" cy="1536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Replica LL TT"/>
              </a:rPr>
              <a:t>Organization context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798064" y="3113532"/>
            <a:ext cx="1024128" cy="100584"/>
          </a:xfrm>
          <a:prstGeom prst="rightArrow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98064" y="2345436"/>
            <a:ext cx="1024128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850" b="0">
                <a:solidFill>
                  <a:srgbClr val="6B7076"/>
                </a:solidFill>
                <a:latin typeface="Replica LL TT"/>
              </a:rPr>
              <a:t>news, filings, disclosures, commercial data feeds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798064" y="4924044"/>
            <a:ext cx="1024128" cy="100584"/>
          </a:xfrm>
          <a:prstGeom prst="rightArrow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98064" y="4155948"/>
            <a:ext cx="1024128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850" b="0">
                <a:solidFill>
                  <a:srgbClr val="6B7076"/>
                </a:solidFill>
                <a:latin typeface="Replica LL TT"/>
              </a:rPr>
              <a:t>records and framing from the system of record, the catalog of moves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18904" y="2432304"/>
            <a:ext cx="2286000" cy="155448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65208" y="2432304"/>
            <a:ext cx="1993392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Replica LL TT"/>
              </a:rPr>
              <a:t>Any CRM or CX platform — Oracle Customer Experience (CX) included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494776" y="3159252"/>
            <a:ext cx="1024128" cy="100584"/>
          </a:xfrm>
          <a:prstGeom prst="rightArrow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94776" y="2414016"/>
            <a:ext cx="1024128" cy="69037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850" b="0">
                <a:solidFill>
                  <a:srgbClr val="6B7076"/>
                </a:solidFill>
                <a:latin typeface="Replica LL TT"/>
              </a:rPr>
              <a:t>structured per-account records, routed to the owner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" y="5925312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095"/>
                </a:solidFill>
                <a:latin typeface="Replica LL TT"/>
              </a:rPr>
              <a:t>Integration by tier — Oracle Customer Experience (CX) — PoV Jumpstart: an agreed extract in, file export out · Integration: API both ways · Scaling: live write-back with idempotency and dedupe-on-write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SERVICE PACKAGES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84048" y="1810512"/>
          <a:ext cx="11301984" cy="420624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70048"/>
                <a:gridCol w="2877312"/>
                <a:gridCol w="2877312"/>
                <a:gridCol w="2877312"/>
              </a:tblGrid>
              <a:tr h="32782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2628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PoV Jumpstart  ·  S</a:t>
                      </a:r>
                    </a:p>
                  </a:txBody>
                  <a:tcPr marL="109728" marR="109728" marT="45720" marB="45720" anchor="ctr">
                    <a:solidFill>
                      <a:srgbClr val="FE8D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Integration  ·  M</a:t>
                      </a:r>
                    </a:p>
                  </a:txBody>
                  <a:tcPr marL="109728" marR="109728" marT="45720" marB="45720" anchor="ctr">
                    <a:solidFill>
                      <a:srgbClr val="F369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Scaling  ·  L</a:t>
                      </a:r>
                    </a:p>
                  </a:txBody>
                  <a:tcPr marL="109728" marR="109728" marT="45720" marB="45720" anchor="ctr">
                    <a:solidFill>
                      <a:srgbClr val="D84F2E"/>
                    </a:solidFill>
                  </a:tcPr>
                </a:tc>
              </a:tr>
              <a:tr h="660967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Package scope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One signal set, one segment, files in and out: prove the reviewer agrees.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Wired into the team's day: licensed feeds in, system of record out.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Make it improve: live write-back, outcome capture, confidence tested against real outcomes.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16497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Services price (one-time)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9845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Infrastructure (monthly, consumption-based)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16497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Timeline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6–8 weeks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1720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Grounding &amp; sources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1720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Signal normalization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1720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Implication reasoning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1720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Review &amp; evidence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1720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Output &amp; delivery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84048" y="6089904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095"/>
                </a:solidFill>
                <a:latin typeface="Apple Symbols"/>
              </a:rPr>
              <a:t>◐</a:t>
            </a:r>
            <a:r>
              <a:rPr sz="850" b="0">
                <a:solidFill>
                  <a:srgbClr val="8A9095"/>
                </a:solidFill>
                <a:latin typeface="Replica LL TT"/>
              </a:rPr>
              <a:t> partial   </a:t>
            </a:r>
            <a:r>
              <a:rPr sz="850" b="0">
                <a:solidFill>
                  <a:srgbClr val="8A9095"/>
                </a:solidFill>
                <a:latin typeface="Apple Symbols"/>
              </a:rPr>
              <a:t>●</a:t>
            </a:r>
            <a:r>
              <a:rPr sz="850" b="0">
                <a:solidFill>
                  <a:srgbClr val="8A9095"/>
                </a:solidFill>
                <a:latin typeface="Replica LL TT"/>
              </a:rPr>
              <a:t> included   </a:t>
            </a:r>
            <a:r>
              <a:rPr sz="850" b="0">
                <a:solidFill>
                  <a:srgbClr val="8A9095"/>
                </a:solidFill>
                <a:latin typeface="Apple Symbols"/>
              </a:rPr>
              <a:t>●●</a:t>
            </a:r>
            <a:r>
              <a:rPr sz="850" b="0">
                <a:solidFill>
                  <a:srgbClr val="8A9095"/>
                </a:solidFill>
                <a:latin typeface="Replica LL TT"/>
              </a:rPr>
              <a:t> multi-region / advanced   </a:t>
            </a:r>
            <a:r>
              <a:rPr sz="850" b="0">
                <a:solidFill>
                  <a:srgbClr val="8A9095"/>
                </a:solidFill>
                <a:latin typeface="Apple Symbols"/>
              </a:rPr>
              <a:t>—</a:t>
            </a:r>
            <a:r>
              <a:rPr sz="850" b="0">
                <a:solidFill>
                  <a:srgbClr val="8A9095"/>
                </a:solidFill>
                <a:latin typeface="Replica LL TT"/>
              </a:rPr>
              <a:t> not in this tier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SERVICE PACKAGES (DETAILED)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84048" y="1874520"/>
          <a:ext cx="11420856" cy="417880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31720"/>
                <a:gridCol w="3029712"/>
                <a:gridCol w="3029712"/>
                <a:gridCol w="3029712"/>
              </a:tblGrid>
              <a:tr h="395373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2628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PoV Jumpstart  ·  S</a:t>
                      </a:r>
                    </a:p>
                  </a:txBody>
                  <a:tcPr marL="109728" marR="109728" marT="45720" marB="45720" anchor="ctr">
                    <a:solidFill>
                      <a:srgbClr val="FE8D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Integration  ·  M</a:t>
                      </a:r>
                    </a:p>
                  </a:txBody>
                  <a:tcPr marL="109728" marR="109728" marT="45720" marB="45720" anchor="ctr">
                    <a:solidFill>
                      <a:srgbClr val="F369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Scaling  ·  L</a:t>
                      </a:r>
                    </a:p>
                  </a:txBody>
                  <a:tcPr marL="109728" marR="109728" marT="45720" marB="45720" anchor="ctr">
                    <a:solidFill>
                      <a:srgbClr val="D84F2E"/>
                    </a:solidFill>
                  </a:tcPr>
                </a:tc>
              </a:tr>
              <a:tr h="76777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82B"/>
                          </a:solidFill>
                          <a:latin typeface="Replica LL TT"/>
                        </a:rPr>
                        <a:t>Package scope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82B"/>
                          </a:solidFill>
                          <a:latin typeface="Replica LL TT"/>
                        </a:rPr>
                        <a:t>One signal set, one segment, files in and out: prove the reviewer agrees.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82B"/>
                          </a:solidFill>
                          <a:latin typeface="Replica LL TT"/>
                        </a:rPr>
                        <a:t>Wired into the team's day: licensed feeds in, system of record out.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82B"/>
                          </a:solidFill>
                          <a:latin typeface="Replica LL TT"/>
                        </a:rPr>
                        <a:t>Make it improve: live write-back, outcome capture, confidence tested against real outcomes.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61973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82B"/>
                          </a:solidFill>
                          <a:latin typeface="Replica LL TT"/>
                        </a:rPr>
                        <a:t>Grounding &amp; sources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◐  One set of companies; an agreed extract; a bounded, licensed source set</a:t>
                      </a:r>
                      <a:r>
                        <a:rPr sz="10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●  Their own licensed feeds; a versioned catalog of moves</a:t>
                      </a:r>
                      <a:r>
                        <a:rPr sz="10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●●  Multi-source, multi-market; a licensed relationship graph</a:t>
                      </a:r>
                      <a:r>
                        <a:rPr sz="10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61973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82B"/>
                          </a:solidFill>
                          <a:latin typeface="Replica LL TT"/>
                        </a:rPr>
                        <a:t>Signal normalization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◐  Relevance, de-duplication, account resolution; both trigger paths</a:t>
                      </a:r>
                      <a:r>
                        <a:rPr sz="10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●  Standing subscription per account; what changed; nothing-material state</a:t>
                      </a:r>
                      <a:r>
                        <a:rPr sz="10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●●  Deadline-bound triggers and provenance-class gating</a:t>
                      </a:r>
                      <a:r>
                        <a:rPr sz="10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76777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82B"/>
                          </a:solidFill>
                          <a:latin typeface="Replica LL TT"/>
                        </a:rPr>
                        <a:t>Implication reasoning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◐</a:t>
                      </a:r>
                      <a:r>
                        <a:rPr sz="1050" b="0">
                          <a:solidFill>
                            <a:srgbClr val="26282B"/>
                          </a:solidFill>
                          <a:latin typeface="Replica LL TT"/>
                        </a:rPr>
                        <a:t>  ● Opportunity and risk reasoning; next-move mapping; ripple to two levels; scoring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●  Dual implication routed to separate owners; configurable catalog target</a:t>
                      </a:r>
                      <a:r>
                        <a:rPr sz="10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●●  Graph-backed ripple, portfolio aggregation, cost-aware ranking</a:t>
                      </a:r>
                      <a:r>
                        <a:rPr sz="10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61973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82B"/>
                          </a:solidFill>
                          <a:latin typeface="Replica LL TT"/>
                        </a:rPr>
                        <a:t>Review &amp; evidence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◐</a:t>
                      </a:r>
                      <a:r>
                        <a:rPr sz="1050" b="0">
                          <a:solidFill>
                            <a:srgbClr val="26282B"/>
                          </a:solidFill>
                          <a:latin typeface="Replica LL TT"/>
                        </a:rPr>
                        <a:t>  ● Reviewer UI; citations; evaluation harness; feedback capture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●  Human triage of raw inbound; negative assertion recorded as a result</a:t>
                      </a:r>
                      <a:r>
                        <a:rPr sz="10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●●  Feedback-driven tuning as a persisted loop; point-in-time replay</a:t>
                      </a:r>
                      <a:r>
                        <a:rPr sz="10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61973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82B"/>
                          </a:solidFill>
                          <a:latin typeface="Replica LL TT"/>
                        </a:rPr>
                        <a:t>Output &amp; delivery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◐  Records exported as files; reviewer decisions captured, not written back</a:t>
                      </a:r>
                      <a:r>
                        <a:rPr sz="10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●  Export to the system of record; routing to the owner</a:t>
                      </a:r>
                      <a:r>
                        <a:rPr sz="10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82B"/>
                          </a:solidFill>
                          <a:latin typeface="Apple Symbols"/>
                          <a:sym typeface="Segoe UI Symbol"/>
                        </a:rPr>
                        <a:t>●●  Live write-back; outcome capture feeding scoring</a:t>
                      </a:r>
                      <a:r>
                        <a:rPr sz="10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84048" y="6126480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095"/>
                </a:solidFill>
                <a:latin typeface="Apple Symbols"/>
              </a:rPr>
              <a:t>◐</a:t>
            </a:r>
            <a:r>
              <a:rPr sz="850" b="0">
                <a:solidFill>
                  <a:srgbClr val="8A9095"/>
                </a:solidFill>
                <a:latin typeface="Replica LL TT"/>
              </a:rPr>
              <a:t> partial   </a:t>
            </a:r>
            <a:r>
              <a:rPr sz="850" b="0">
                <a:solidFill>
                  <a:srgbClr val="8A9095"/>
                </a:solidFill>
                <a:latin typeface="Apple Symbols"/>
              </a:rPr>
              <a:t>●</a:t>
            </a:r>
            <a:r>
              <a:rPr sz="850" b="0">
                <a:solidFill>
                  <a:srgbClr val="8A9095"/>
                </a:solidFill>
                <a:latin typeface="Replica LL TT"/>
              </a:rPr>
              <a:t> included   </a:t>
            </a:r>
            <a:r>
              <a:rPr sz="850" b="0">
                <a:solidFill>
                  <a:srgbClr val="8A9095"/>
                </a:solidFill>
                <a:latin typeface="Apple Symbols"/>
              </a:rPr>
              <a:t>●●</a:t>
            </a:r>
            <a:r>
              <a:rPr sz="850" b="0">
                <a:solidFill>
                  <a:srgbClr val="8A9095"/>
                </a:solidFill>
                <a:latin typeface="Replica LL TT"/>
              </a:rPr>
              <a:t> multi-region / advanced   </a:t>
            </a:r>
            <a:r>
              <a:rPr sz="850" b="0">
                <a:solidFill>
                  <a:srgbClr val="8A9095"/>
                </a:solidFill>
                <a:latin typeface="Apple Symbols"/>
              </a:rPr>
              <a:t>—</a:t>
            </a:r>
            <a:r>
              <a:rPr sz="850" b="0">
                <a:solidFill>
                  <a:srgbClr val="8A9095"/>
                </a:solidFill>
                <a:latin typeface="Replica LL TT"/>
              </a:rPr>
              <a:t> not in this tier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6 Corporate Template">
  <a:themeElements>
    <a:clrScheme name="SoftServe">
      <a:dk1>
        <a:srgbClr val="000000"/>
      </a:dk1>
      <a:lt1>
        <a:srgbClr val="FFFFFF"/>
      </a:lt1>
      <a:dk2>
        <a:srgbClr val="26282B"/>
      </a:dk2>
      <a:lt2>
        <a:srgbClr val="EDF0F2"/>
      </a:lt2>
      <a:accent1>
        <a:srgbClr val="1485C3"/>
      </a:accent1>
      <a:accent2>
        <a:srgbClr val="459FDD"/>
      </a:accent2>
      <a:accent3>
        <a:srgbClr val="C1DFF3"/>
      </a:accent3>
      <a:accent4>
        <a:srgbClr val="F36949"/>
      </a:accent4>
      <a:accent5>
        <a:srgbClr val="FE8D6B"/>
      </a:accent5>
      <a:accent6>
        <a:srgbClr val="FFCEC0"/>
      </a:accent6>
      <a:hlink>
        <a:srgbClr val="0563C1"/>
      </a:hlink>
      <a:folHlink>
        <a:srgbClr val="4C5156"/>
      </a:folHlink>
    </a:clrScheme>
    <a:fontScheme name="Mix2">
      <a:majorFont>
        <a:latin typeface="Azurio"/>
        <a:ea typeface=""/>
        <a:cs typeface=""/>
      </a:majorFont>
      <a:minorFont>
        <a:latin typeface="Replica LL TT"/>
        <a:ea typeface=""/>
        <a:cs typeface="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ftServe Template_30.04" id="{78154BEB-4A8C-EB46-9F23-388FEC231FF7}" vid="{FFFE069B-A98E-1946-A600-E97DFA03DE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213D2FA8-45BC-914D-B66F-02B3A077ACCB}">
  <we:reference id="wa200010001" version="1.0.0.1" store="en-GB" storeType="OMEX"/>
  <we:alternateReferences>
    <we:reference id="WA200010001" version="1.0.0.1" store="WA200010001" storeType="OMEX"/>
  </we:alternateReferences>
  <we:properties>
    <we:property name="claude.fileId" value="&quot;f69d9a96-e3ef-4104-8c4b-2ddeca3b27be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1D8B1DC3-C6EC-B840-AEB7-A60E8AC76933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9f2eafe5-bf42-4964-9d6e-64abb0700d17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1EA2235D5E88145BF1C4547E2B18A06" ma:contentTypeVersion="4" ma:contentTypeDescription="Create a new document." ma:contentTypeScope="" ma:versionID="07eb133998e241ca422b03216c87fb5a">
  <xsd:schema xmlns:xsd="http://www.w3.org/2001/XMLSchema" xmlns:xs="http://www.w3.org/2001/XMLSchema" xmlns:p="http://schemas.microsoft.com/office/2006/metadata/properties" xmlns:ns2="8aa81e57-3ca5-41ca-b900-588daa88edda" targetNamespace="http://schemas.microsoft.com/office/2006/metadata/properties" ma:root="true" ma:fieldsID="75ca66f714348251d9eab6ffafbf4d89" ns2:_="">
    <xsd:import namespace="8aa81e57-3ca5-41ca-b900-588daa88ed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a81e57-3ca5-41ca-b900-588daa88edd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328D0A93-F0EA-45EB-9DB5-5B844358CA9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6738464-044C-470B-8810-28CF6336FCA2}">
  <ds:schemaRefs>
    <ds:schemaRef ds:uri="8aa81e57-3ca5-41ca-b900-588daa88edd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D9383CD7-F1A8-471C-A0CD-38F0172F3A2B}">
  <ds:schemaRefs>
    <ds:schemaRef ds:uri="8aa81e57-3ca5-41ca-b900-588daa88edd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6c51c659-9d52-41af-81f7-dde16380e813}" enabled="0" method="" siteId="{6c51c659-9d52-41af-81f7-dde16380e81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SoftServe Template</Template>
  <Application>Microsoft Office PowerPoint</Application>
  <PresentationFormat>Widescreen</PresentationFormat>
  <Slides>23</Slides>
  <Notes>5</Notes>
  <HiddenSlides>4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4" baseType="lpstr">
      <vt:lpstr>2026 Corporate Template</vt:lpstr>
      <vt:lpstr>PowerPoint Presentation</vt:lpstr>
      <vt:lpstr>Contents</vt:lpstr>
      <vt:lpstr>Executive updates on cooperation progress</vt:lpstr>
      <vt:lpstr>Joint opportunities &amp; pipeline review</vt:lpstr>
      <vt:lpstr>Engagement Status (NVIDIA funding track)</vt:lpstr>
      <vt:lpstr>Engagement Status (Oracle-SoftServe direct customer pursuit)</vt:lpstr>
      <vt:lpstr>Follow-up topics from previous Executive Alignment May 2026</vt:lpstr>
      <vt:lpstr>AI-accelerated Apps initiative</vt:lpstr>
      <vt:lpstr>Workforce optimization – accelerator app</vt:lpstr>
      <vt:lpstr>Oracle aidp relaunch and gtm alignment</vt:lpstr>
      <vt:lpstr>Partnership structure</vt:lpstr>
      <vt:lpstr>AI FACTORY as SERVICE </vt:lpstr>
      <vt:lpstr>Softserve dedicated oracle practice</vt:lpstr>
      <vt:lpstr>PowerPoint Presentation</vt:lpstr>
      <vt:lpstr>HOW SOFTSERVE DEDICATED PRACTICE CAN CONTRIBUTE TO ORACLE’S AI AND DATA GTM STRATEGY</vt:lpstr>
      <vt:lpstr>01  · PACKAGED BUSINESS APPS</vt:lpstr>
      <vt:lpstr>01  · PACKAGED BUSINESS APPS: AI USE CASES</vt:lpstr>
      <vt:lpstr>HOW SOFTSERVE DEDICATED PRACTICE CAN CONTRIBUTE TO ORACLE’S AI AND DATA GTM STRATEGY</vt:lpstr>
      <vt:lpstr>01  · PACKAGED BUSINESS APPS: AI USE CASES</vt:lpstr>
      <vt:lpstr>02  ·  JOINT MARKETING &amp; LEAD GEN</vt:lpstr>
      <vt:lpstr>03  ·  SERVICE DELIVERY: VALUE REALIZATION &amp; ADOPTION</vt:lpstr>
      <vt:lpstr>Next Steps &amp; Closure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PptxGenJS Presentation</dc:subject>
  <dc:creator>Nataliia Kolobkova</dc:creator>
  <cp:keywords/>
  <dc:description/>
  <cp:revision>2</cp:revision>
  <dcterms:created xsi:type="dcterms:W3CDTF">2026-05-05T14:12:12Z</dcterms:created>
  <dcterms:modified xsi:type="dcterms:W3CDTF">2026-07-27T11:41:55Z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0x01010081EA2235D5E88145BF1C4547E2B18A06</vt:lpwstr>
  </property>
  <property fmtid="{D5CDD505-2E9C-101B-9397-08002B2CF9AE}" pid="3" name="MediaServiceImageTags">
    <vt:lpwstr/>
  </property>
</Properties>
</file>