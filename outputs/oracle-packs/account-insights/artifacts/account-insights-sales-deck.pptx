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Relationship Id="rId5" Type="http://schemas.openxmlformats.org/officeDocument/2006/relationships/image" Target="../media/image31.png"/><Relationship Id="rId6" Type="http://schemas.openxmlformats.org/officeDocument/2006/relationships/image" Target="../media/image32.jpg"/><Relationship Id="rId7" Type="http://schemas.openxmlformats.org/officeDocument/2006/relationships/image" Target="../media/image3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Relationship Id="rId4" Type="http://schemas.openxmlformats.org/officeDocument/2006/relationships/image" Target="../media/image3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Teams keeping up with the companies they cover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Too much to keep up with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dozens of companies, hundreds of sources, one person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Found out too late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the update surfaces after the company has already decided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Only the company in the headline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what it means for its suppliers, customers, competitors or sister holdings is never worked 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A shipper's news — a new plant, a new market, a supplier strike — becomes a forwarding, warehousing or contract-logistics opportunity for the team that serves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News about a borrower is traced across its group and returns two answers: the deal it opens for the relationship team, and the exposure it puts at risk for credit.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An event at a supplier or an OEM customer is traced to every affected company on the list, with the supply, reallocation or partnership move it opens for 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News about a market, a regulator or a competitor is matched to the portfolio companies it touches and to the levers the fund actually pulls to grow them.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16751" y="1255847"/>
            <a:ext cx="8275249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list, not built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pic>
        <p:nvPicPr>
          <p:cNvPr id="17" name="Pic">
            <a:extLst>
              <a:ext uri="{FF2B5EF4-FFF2-40B4-BE49-F238E27FC236}">
                <a16:creationId xmlns:a16="http://schemas.microsoft.com/office/drawing/2014/main" id="{FB6BEF3F-34B8-032B-5515-FB80AA7785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51" y="1058191"/>
            <a:ext cx="3000000" cy="675000"/>
          </a:xfrm>
          <a:prstGeom prst="rect">
            <a:avLst/>
          </a:prstGeom>
        </p:spPr>
      </p:pic>
      <p:pic>
        <p:nvPicPr>
          <p:cNvPr id="3" name="Picture 2" descr="672 Spreadsheet Stress Royalty-Free Images, Stock Photos &amp; Pictures |  Shutterstock">
            <a:extLst>
              <a:ext uri="{FF2B5EF4-FFF2-40B4-BE49-F238E27FC236}">
                <a16:creationId xmlns:a16="http://schemas.microsoft.com/office/drawing/2014/main" id="{AA4194F6-0D00-5207-5622-3BCDE7FE073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202" b="18202"/>
          <a:stretch>
            <a:fillRect/>
          </a:stretch>
        </p:blipFill>
        <p:spPr>
          <a:xfrm>
            <a:off x="384048" y="3814571"/>
            <a:ext cx="5504688" cy="2330197"/>
          </a:xfrm>
          <a:prstGeom prst="rect">
            <a:avLst/>
          </a:prstGeom>
        </p:spPr>
      </p:pic>
      <p:pic>
        <p:nvPicPr>
          <p:cNvPr id="4" name="Picture 3" descr="The need to 'work happy' – Computerworld">
            <a:extLst>
              <a:ext uri="{FF2B5EF4-FFF2-40B4-BE49-F238E27FC236}">
                <a16:creationId xmlns:a16="http://schemas.microsoft.com/office/drawing/2014/main" id="{8D6B6E28-AD5F-6464-07FA-AD23FCBFC9C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8252" b="18252"/>
          <a:stretch>
            <a:fillRect/>
          </a:stretch>
        </p:blipFill>
        <p:spPr>
          <a:xfrm>
            <a:off x="6300216" y="3813049"/>
            <a:ext cx="5504688" cy="2330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DHL's key-account teams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pic>
        <p:nvPicPr>
          <p:cNvPr id="30" name="Pic">
            <a:extLst>
              <a:ext uri="{FF2B5EF4-FFF2-40B4-BE49-F238E27FC236}">
                <a16:creationId xmlns:a16="http://schemas.microsoft.com/office/drawing/2014/main" id="{EC013DDC-31A8-D33E-C64C-5D78648D99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51" y="1058191"/>
            <a:ext cx="3000000" cy="675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648199" y="1065412"/>
            <a:ext cx="6735699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12-week proof of value in delivery at DHL — results to follow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i="0" dirty="0">
                <a:solidFill>
                  <a:srgbClr val="1485C3"/>
                </a:solidFill>
                <a:latin typeface="Replica LL TT"/>
              </a:rPr>
              <a:t xml:space="preserve">Reviewer agreement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of generated moves approved by the team's own reviewers — measured in the proof of value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reviewer agreement within each confidence band — measured in the proof of value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00" b="1" dirty="0">
                <a:solidFill>
                  <a:srgbClr val="1485C3"/>
                </a:solidFill>
                <a:latin typeface="Replica LL TT"/>
              </a:rPr>
              <a:t xml:space="preserve">Coverage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of the companies in scope with a reviewed record each period — measured in the proof of value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DHL's account teams prepare the briefings on their enterprise customers by hand — company context, strategic and operational signals, and what each one means for DHL's logistics services — and a manually written briefing per account is the benchmark the proof of value is measured against.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SOLUTION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Client Compass — a 12-week proof of value on NVIDIA AI-Q over OCI. Account data from the CRM, approved public sources and commercial feeds such as Dow Jones Factiva are read per account; the signals in them are extracted, mapped to DHL's logistics capabilities and service offerings, scored and cited to source, and every record is reviewed by the account team in a reviewer screen before it goes anywhere.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VALUE FOR ORACLE + NVIDIA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Attaches recurring OCI GPU consumption — a dedicated AI cluster running NVIDIA AI-Q — to the account, driven by signal volume rather than seats; the reviewed records land in Oracle CX as the system of record, net-new on top of the SaaS seat.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VALUE FOR CLIENT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Account managers move from researching their accounts to reviewing a scored, cited list of opportunities and risks per account; coverage of the account book, reviewer agreement and confidence calibration are measured in the proof of value against the team's own approve / reject decisions.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First engagement: proof of value at DHL — contracted, results to follow.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WITH NAMED ACCOUNTS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To be defined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account-insights accelerator is layered — from the infrastructure up to the tailored service.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1078992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770632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807208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831335"/>
            <a:ext cx="10469880" cy="1078992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995927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4032503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977639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4178807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056631"/>
            <a:ext cx="10469880" cy="1078992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22122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25779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202936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40410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724910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816351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Oracle AI accelerator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ORACLE / SOFTSERVE-ENHANCED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182110"/>
            <a:ext cx="3236975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6B7076"/>
                </a:solidFill>
                <a:latin typeface="Replica LL TT"/>
              </a:rPr>
              <a:t xml:space="preserve">Pre-built and reusable: normalize · fan out · reason · map · score · reviewer UI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724910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816351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Tailored solution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3132801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  <a:p>
            <a:pPr algn="ctr"/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6B7076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One signal set, one segment, files in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3132769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3127026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24993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757446"/>
            <a:ext cx="3527912" cy="779615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NVIDIA AI-Q Blueprint + NVIDIA NeMo Agent Toolkit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Agentic orchestration, retrieval, citation checks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71728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758951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normalize · fan out · reason · map · score · reviewer UI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37446"/>
            <a:ext cx="1719167" cy="139492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564290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15330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290429"/>
            <a:ext cx="1719167" cy="1534693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073028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291238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Oracle Customer Experience (CX)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or any CRM the team already works in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63937"/>
            <a:ext cx="1473761" cy="837093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388382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services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set of companies; an agreed extract; a bounded, licensed source set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Their own licensed feeds; a versioned catalog of moves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Multi-source, multi-market; a licensed relationship graph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Relevance, de-duplication, account resolution; scheduled and on-demand runs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A standing watch per account, reporting what changed since last time — or that nothing did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Deadline-driven triggers; sources gated by reliability class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routed to separate owners; map to offerings, levers or mitigations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Graph-backed ripple, portfolio aggregation, cost-aware ranking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Human triage of raw inbound; a 'nothing found' verdict recorded like any other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Tuning from reviewer feedback, kept as a learning loop; replay of any past day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Records exported as files; reviewer decisions captured, not written back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Export to the system of record; routing to the owner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Live write-back; outcome capture feeding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