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2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28"/>
  </p:notesMasterIdLst>
  <p:handoutMasterIdLst>
    <p:handoutMasterId r:id="rId29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7E6404-F187-8246-A766-E0E29954D569}" name="Iryna Markiv" initials="" userId="S::imarki@softserveinc.com::51b74fcb-94de-4ae6-a833-f560b14dbba8" providerId="AD"/>
  <p188:author id="{5A1AA315-E1D3-F2C9-1337-4740BB9B7B6C}" name="Nataliia Kolobkova" initials="" userId="S::nkolob@softserveinc.com::792c482e-2a45-494f-bd9a-f084b16b9457" providerId="AD"/>
  <p188:author id="{A587C119-866E-FC84-10C9-07DBC241A71F}" name="Pawel Domal" initials="PD" userId="S::padomal@softserveinc.com::0dcc0bba-ce81-4726-adfc-5167fa8cd2c5" providerId="AD"/>
  <p188:author id="{74989E37-B850-1D40-C287-E7457D095939}" name="Taras Lopushanskyi" initials="" userId="S::tlopu@softserveinc.com::7b479547-1ac6-4c3e-bfc7-6a03fe16e469" providerId="AD"/>
  <p188:author id="{21482640-A5A7-D737-7BF2-D35DE245910F}" name="Bohdan Khomych" initials="BK" userId="S::bkhomy@softserveinc.com::a74afff9-9061-49b9-9ccd-c94257aae52d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C2E33E54-C8C2-0C5D-040E-12AE751738F1}" name="Volodymyr Horbovyi" initials="VH" userId="S::vhorbo@softserveinc.com::c81b15e6-e052-4beb-9940-6f5a346dc6fb" providerId="AD"/>
  <p188:author id="{FC195F60-30CD-1CEB-73C0-F626030225A3}" name="Vika Shemet" initials="" userId="S::vsheme@softserveinc.com::db0cc8c0-0552-412f-b1bb-b7d23224c7a0" providerId="AD"/>
  <p188:author id="{2894DD6E-0494-9116-161E-584914936762}" name="Viktoriya Klymenko" initials="VK" userId="S::vklym@softserveinc.com::5ae53fcc-30d6-497b-a87f-600e3b37d87f" providerId="AD"/>
  <p188:author id="{4394AC8E-DC3E-F677-9D4D-E54A7EE923E3}" name="Karsten Tramborg" initials="" userId="S::ktram@softserveinc.com::1262f8f5-da82-4171-8a2c-b12ccabce2e4" providerId="AD"/>
  <p188:author id="{A1D112A3-AFCA-883A-F2AF-90D764BC06CD}" name="Volodymyr S. Chornyy" initials="VSC" userId="S::vchornyy@softserveinc.com::bce045a6-b280-45d7-8bfb-708a3f37d1d9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FF"/>
    <a:srgbClr val="66FFCC"/>
    <a:srgbClr val="66B1DA"/>
    <a:srgbClr val="6197DF"/>
    <a:srgbClr val="C34230"/>
    <a:srgbClr val="F2F4F7"/>
    <a:srgbClr val="90F0BB"/>
    <a:srgbClr val="FCA8A8"/>
    <a:srgbClr val="00FF99"/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E4527-6086-4226-CC7C-98496AD5F3F6}" v="8" dt="2026-07-21T15:24:56.738"/>
    <p1510:client id="{7C8135A0-CDA8-4096-ACFF-4CF245CF60B9}" v="75" dt="2026-07-22T13:24:59.659"/>
    <p1510:client id="{CE09A14E-E1CD-BEB9-E7FE-63B1E3B99F3C}" v="1" dt="2026-07-22T13:58:24.311"/>
    <p1510:client id="{D50E7535-712B-BC2E-D404-6C68C20F7725}" v="254" dt="2026-07-21T15:52:24.3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5/10/relationships/revisionInfo" Target="revisionInfo.xml"/><Relationship Id="rId3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7/27/2026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0" indent="0">
              <a:lnSpc>
                <a:spcPct val="110000"/>
              </a:lnSpc>
              <a:spcAft>
                <a:spcPts val="1000"/>
              </a:spcAft>
              <a:buNone/>
              <a:tabLst/>
              <a:defRPr b="0" i="0">
                <a:latin typeface="+mn-lt"/>
              </a:defRPr>
            </a:lvl1pPr>
            <a:lvl2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2pPr>
            <a:lvl3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3pPr>
            <a:lvl4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4pPr>
            <a:lvl5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5pPr>
            <a:lvl6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6pPr>
            <a:lvl7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7pPr>
            <a:lvl8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8pPr>
            <a:lvl9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0" Type="http://schemas.openxmlformats.org/officeDocument/2006/relationships/slideLayout" Target="../slideLayouts/slideLayout20.xml"/><Relationship Id="rId70" Type="http://schemas.openxmlformats.org/officeDocument/2006/relationships/theme" Target="../theme/theme1.xml"/><Relationship Id="rId71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  <a:endParaRPr lang="en-US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Replica LL TT" panose="020B0504010101010104" pitchFamily="34" charset="77"/>
        </a:defRPr>
      </a:lvl1pPr>
    </p:titleStyle>
    <p:bodyStyle>
      <a:lvl1pPr marL="145098" indent="-145098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Replica LL TT" panose="020B0504010101010104" pitchFamily="34" charset="77"/>
        </a:defRPr>
      </a:lvl1pPr>
      <a:lvl2pPr marL="292608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58521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877824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900" b="0" i="0" kern="1200">
          <a:solidFill>
            <a:schemeClr val="tx1"/>
          </a:solidFill>
          <a:latin typeface="+mn-lt"/>
          <a:ea typeface="+mn-ea"/>
          <a:cs typeface="+mn-cs"/>
        </a:defRPr>
      </a:lvl6pPr>
      <a:lvl7pPr marL="1024128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800" b="0" i="0" kern="1200">
          <a:solidFill>
            <a:schemeClr val="tx1"/>
          </a:solidFill>
          <a:latin typeface="+mn-lt"/>
          <a:ea typeface="+mn-ea"/>
          <a:cs typeface="+mn-cs"/>
        </a:defRPr>
      </a:lvl7pPr>
      <a:lvl8pPr marL="1170432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700" b="0" i="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600" b="0" i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20"/>
            <a:ext cx="822960" cy="4114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DB2E2"/>
                </a:solidFill>
                <a:latin typeface="Replica LL TT"/>
              </a:rPr>
              <a:t>POV JUMPSTART · INTEGRATION ·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8412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Replica LL TT"/>
              </a:rPr>
              <a:t>Account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18688"/>
            <a:ext cx="8412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DB2E2"/>
                </a:solidFill>
                <a:latin typeface="Replica LL TT"/>
              </a:rPr>
              <a:t>Accelerator App by SoftServe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4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D9E4EC"/>
                </a:solidFill>
                <a:latin typeface="Replica LL TT"/>
              </a:rPr>
              <a:t>More opportunities from the companies you already track: the news, filings and updates on them become a named next move for each — scored, cited and reviewed before anything reaches your systems.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1208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36949"/>
                </a:solidFill>
                <a:latin typeface="Replica LL TT"/>
              </a:rPr>
              <a:t>WHO IT IS FOR   </a:t>
            </a:r>
            <a:r>
              <a:rPr sz="1000" b="0">
                <a:solidFill>
                  <a:srgbClr val="AEB6BD"/>
                </a:solidFill>
                <a:latin typeface="Replica LL TT"/>
              </a:rPr>
              <a:t>Any team responsible for a named set of companies it has to stay current on — the accounts it sells to, the partners it develops, or the companies in its portfolio.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USE CASE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755648"/>
            <a:ext cx="5504688" cy="3364992"/>
          </a:xfrm>
          <a:prstGeom prst="round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755648"/>
            <a:ext cx="91440" cy="3364992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0216" y="1755648"/>
            <a:ext cx="5504688" cy="3364992"/>
          </a:xfrm>
          <a:prstGeom prst="roundRect">
            <a:avLst/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0216" y="1755648"/>
            <a:ext cx="91440" cy="336499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0256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286000"/>
            <a:ext cx="4937760" cy="2670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34" b="1">
                <a:solidFill>
                  <a:srgbClr val="26282B"/>
                </a:solidFill>
                <a:latin typeface="Replica LL TT"/>
              </a:rPr>
              <a:t>An account manager, a partnerships lead or a portfolio manager each covers dozens of companies and cannot keep up with the news, filings and updates landing on all of them.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Too much to keep up with: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dozens of companies, hundreds of sources, one person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Found out too late: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the update surfaces after the company has already decided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Only the company in the headline: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what it means for its suppliers, customers, competitors or sister holdings is never worked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68" b="1">
                <a:solidFill>
                  <a:srgbClr val="1485C3"/>
                </a:solidFill>
                <a:latin typeface="Replica LL TT"/>
              </a:rPr>
              <a:t>REVIEW THE OPPORTUNITY, DON'T RESEARCH IT</a:t>
            </a:r>
          </a:p>
          <a:p>
            <a:pPr algn="l"/>
            <a:r>
              <a:rPr sz="1564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2552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Reviewer agreement 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Confidence calibrated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67544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Coverage 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5321808"/>
            <a:ext cx="11420856" cy="56692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21808"/>
            <a:ext cx="110916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Replica LL TT"/>
              </a:rPr>
              <a:t>Runs on OCI —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VERTICAL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62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0662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662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216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Financial services &amp; banking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6734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0662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Industrial &amp; manufacturing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0662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signal fans out across the affected companies with the supply, reallocation or partnership opportunities each one creates.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0216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Private equity funds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6734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6734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across the portfolio are resolved to the holdings they affect and mapped to the value-creation levers the fund actually pulls.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1252728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What if the team reviewed the opportunities instead of researching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" y="179222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076"/>
                </a:solidFill>
                <a:latin typeface="Replica LL TT"/>
              </a:rPr>
              <a:t>More opportunities from the companies you already track — found in the news, filings and updates on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215798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Vertical case: a logistics operator's key-account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The account manager, partnerships lead or portfolio manager reads what they can, when they can — usually the night before a meeting, usually only about the company in the headline. What it means for the other companies they cover is never worked 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Before: the manual artefact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After: the product screen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1142085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A first engagement in delivery — results to follow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A global logistics and supply-chain operator.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WHAT THE PACK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216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739515"/>
            <a:ext cx="11420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485C3"/>
                </a:solidFill>
                <a:latin typeface="Replica LL TT"/>
              </a:rPr>
              <a:t>HOW IT WORKS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Set the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991868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75916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22220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2220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2220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Pick up the signal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983736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7784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14088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4088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4088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Work out what it means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75604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9652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5956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5956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5956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Map it to your next move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967472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1520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97824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97824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7824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6282B"/>
                </a:solidFill>
                <a:latin typeface="Replica LL TT"/>
              </a:rPr>
              <a:t>Score it, evidence it, review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7008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959340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338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8969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8969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8969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Deliver it and learn from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" y="5175123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First engagement: a global logistics and supply-chain operator, contracted; results follow the proof of value. Pack scope differs from the delivered engagement: The pack generalizes what one engagement configured: the signal sources, the account universe and the service catalog are per-client configuration, and the catalog mapping and cross-account ripple reasoning are the reusable 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WHY IT SELLS FOR YOUR ACCOUNT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What this pack does for an Oracle account team's number.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Net-new OCI consumption: recurring GPU and inference workloads on dedicated OCI clusters, driven by signal volume rather than seat count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079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Complements Oracle's own account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Sales Command Center works on first-party CX data; this pack brings the external signal and the next move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64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941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Repeatable across any Oracle customer that tracks a named set of companies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customer accounts in Oracle CX, partners, or portfolio holdings — and has a real catalog of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5632704"/>
            <a:ext cx="11420856" cy="47548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5632704"/>
            <a:ext cx="5669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Replica LL TT"/>
              </a:rPr>
              <a:t>Ready to test the fit on one customer's accounts?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632704"/>
            <a:ext cx="538581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AEB6BD"/>
                </a:solidFill>
                <a:latin typeface="Replica LL TT"/>
              </a:rPr>
              <a:t>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SOLUTION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How the pack is layered — from the infrastructure up to the customer's own configuration.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" y="2542032"/>
            <a:ext cx="18288" cy="3200400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542032"/>
            <a:ext cx="10469880" cy="704088"/>
          </a:xfrm>
          <a:prstGeom prst="roundRect">
            <a:avLst/>
          </a:prstGeom>
          <a:solidFill>
            <a:srgbClr val="FDEDE8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542032"/>
            <a:ext cx="54864" cy="70408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42032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Custom 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670048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542032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In-scope account list and tiering, Reasoning and ripple rules per domain, Catalog-of-moves capture and mapping logic, Scoring rubric and thresholds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720340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4312" y="2720340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SoftServe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374136"/>
            <a:ext cx="10469880" cy="704088"/>
          </a:xfrm>
          <a:prstGeom prst="roundRect">
            <a:avLst/>
          </a:prstGeom>
          <a:solidFill>
            <a:srgbClr val="D2E7F6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3374136"/>
            <a:ext cx="54864" cy="704088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374136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Account insights by SoftServe (application)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502152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374136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3552444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3552444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 + SoftServe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206240"/>
            <a:ext cx="10469880" cy="704088"/>
          </a:xfrm>
          <a:prstGeom prst="roundRect">
            <a:avLst/>
          </a:prstGeom>
          <a:solidFill>
            <a:srgbClr val="EAF3FB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206240"/>
            <a:ext cx="54864" cy="704088"/>
          </a:xfrm>
          <a:prstGeom prst="rect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206240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NVIDIA AI-Q agentic engine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4334256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206240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4384548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2" y="4384548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NVIDIA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5038344"/>
            <a:ext cx="10469880" cy="704088"/>
          </a:xfrm>
          <a:prstGeom prst="roundRect">
            <a:avLst/>
          </a:prstGeom>
          <a:solidFill>
            <a:srgbClr val="EEF1F3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8680" y="5038344"/>
            <a:ext cx="54864" cy="704088"/>
          </a:xfrm>
          <a:prstGeom prst="rect">
            <a:avLst/>
          </a:prstGeom>
          <a:solidFill>
            <a:srgbClr val="6B7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038344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5166360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5038344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26282B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81160" y="5216652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54312" y="5216652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Reference architecture: signals and the system of record in, reviewed moves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Signal feeds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02336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Organization context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records and framing from the system of record, the catalog of moves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01184" y="2331720"/>
            <a:ext cx="6684264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85232" y="2715768"/>
            <a:ext cx="5916168" cy="841248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9824" y="2715768"/>
            <a:ext cx="55869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Replica LL TT"/>
              </a:rPr>
              <a:t>Account insights by SoftServe (application)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FFFFFF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85232" y="3767328"/>
            <a:ext cx="5916168" cy="841248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3767328"/>
            <a:ext cx="55869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44515A"/>
                </a:solidFill>
                <a:latin typeface="Replica LL TT"/>
              </a:rPr>
              <a:t>NVIDIA AI-Q agentic engine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44515A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85232" y="4873752"/>
            <a:ext cx="59161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8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  <a:p>
            <a:pPr algn="l">
              <a:spcBef>
                <a:spcPts val="200"/>
              </a:spcBef>
            </a:pPr>
            <a:r>
              <a:rPr sz="966" b="0">
                <a:solidFill>
                  <a:srgbClr val="6B7076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8" y="2834640"/>
            <a:ext cx="1463040" cy="100584"/>
          </a:xfrm>
          <a:prstGeom prst="rightArrow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2432304"/>
            <a:ext cx="1609344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3310128" y="3401568"/>
            <a:ext cx="1463040" cy="100584"/>
          </a:xfrm>
          <a:prstGeom prst="leftArrow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547872"/>
            <a:ext cx="16093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structured per-account records, routed to the owner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598932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Integration by tier — Oracle Customer Experience (CX) — PoV Jumpstart: an agreed extract in, file export out · Integration: API both ways · Scaling: live write-back with idempotency and dedupe-on-write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10512"/>
          <a:ext cx="11301984" cy="388632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0048"/>
                <a:gridCol w="2877312"/>
                <a:gridCol w="2877312"/>
                <a:gridCol w="28773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7386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team's working day: their own licensed feeds in, their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Services price (one-time)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52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Infrastructure (monthly, consumption-based)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Timeline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6–8 weeks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089904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 (DETAILED)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74520"/>
          <a:ext cx="11420856" cy="288505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/>
                <a:gridCol w="3029712"/>
                <a:gridCol w="3029712"/>
                <a:gridCol w="30297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5836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team's working day: their own licensed feeds in, their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One set of companies; an agreed extract; a bounded, licensed source set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Their own licensed feeds; a versioned catalog of moves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Multi-source, multi-market; a licensed relationship graph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Relevance, de-duplication, account resolution; both trigger paths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Standing subscription per account; what changed; nothing-material state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Deadline-bound triggers and provenance-class gating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Opportunity and risk reasoning; next-move mapping; ripple to two levels;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Dual implication routed to separate owners; configurable catalog target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Graph-backed ripple, portfolio aggregation, cost-aware ranking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Reviewer UI; citations; evaluation harness; feedback capture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Human triage of raw inbound; negative assertion recorded as a result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Feedback-driven tuning as a persisted loop; point-in-time replay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Records exported as files; reviewer decisions captured, not written back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Export to the system of record; routing to the owner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Live write-back; outcome capture feeding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12648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2">
      <a:majorFont>
        <a:latin typeface="Azurio"/>
        <a:ea typeface=""/>
        <a:cs typeface=""/>
      </a:majorFont>
      <a:minorFont>
        <a:latin typeface="Replica LL TT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_30.04" id="{78154BEB-4A8C-EB46-9F23-388FEC231FF7}" vid="{FFFE069B-A98E-1946-A600-E97DFA03DE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13D2FA8-45BC-914D-B66F-02B3A077ACCB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f69d9a96-e3ef-4104-8c4b-2ddeca3b27b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D8B1DC3-C6EC-B840-AEB7-A60E8AC76933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9f2eafe5-bf42-4964-9d6e-64abb0700d17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738464-044C-470B-8810-28CF6336FCA2}">
  <ds:schemaRefs>
    <ds:schemaRef ds:uri="8aa81e57-3ca5-41ca-b900-588daa88ed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9383CD7-F1A8-471C-A0CD-38F0172F3A2B}">
  <ds:schemaRefs>
    <ds:schemaRef ds:uri="8aa81e57-3ca5-41ca-b900-588daa88edd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SoftServe Template</Template>
  <Application>Microsoft Office PowerPoint</Application>
  <PresentationFormat>Widescreen</PresentationFormat>
  <Slides>23</Slides>
  <Notes>5</Notes>
  <HiddenSlides>4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2026 Corporate Template</vt:lpstr>
      <vt:lpstr>PowerPoint Presentation</vt:lpstr>
      <vt:lpstr>Contents</vt:lpstr>
      <vt:lpstr>Executive updates on cooperation progress</vt:lpstr>
      <vt:lpstr>Joint opportunities &amp; pipeline review</vt:lpstr>
      <vt:lpstr>Engagement Status (NVIDIA funding track)</vt:lpstr>
      <vt:lpstr>Engagement Status (Oracle-SoftServe direct customer pursuit)</vt:lpstr>
      <vt:lpstr>Follow-up topics from previous Executive Alignment May 2026</vt:lpstr>
      <vt:lpstr>AI-accelerated Apps initiative</vt:lpstr>
      <vt:lpstr>Workforce optimization – accelerator app</vt:lpstr>
      <vt:lpstr>Oracle aidp relaunch and gtm alignment</vt:lpstr>
      <vt:lpstr>Partnership structure</vt:lpstr>
      <vt:lpstr>AI FACTORY as SERVICE </vt:lpstr>
      <vt:lpstr>Softserve dedicated oracle practice</vt:lpstr>
      <vt:lpstr>PowerPoint Presentation</vt:lpstr>
      <vt:lpstr>HOW SOFTSERVE DEDICATED PRACTICE CAN CONTRIBUTE TO ORACLE’S AI AND DATA GTM STRATEGY</vt:lpstr>
      <vt:lpstr>01  · PACKAGED BUSINESS APPS</vt:lpstr>
      <vt:lpstr>01  · PACKAGED BUSINESS APPS: AI USE CASES</vt:lpstr>
      <vt:lpstr>HOW SOFTSERVE DEDICATED PRACTICE CAN CONTRIBUTE TO ORACLE’S AI AND DATA GTM STRATEGY</vt:lpstr>
      <vt:lpstr>01  · PACKAGED BUSINESS APPS: AI USE CASES</vt:lpstr>
      <vt:lpstr>02  ·  JOINT MARKETING &amp; LEAD GEN</vt:lpstr>
      <vt:lpstr>03  ·  SERVICE DELIVERY: VALUE REALIZATION &amp; ADOPTION</vt:lpstr>
      <vt:lpstr>Next Steps &amp; Closure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Nataliia Kolobkova</dc:creator>
  <cp:keywords/>
  <dc:description/>
  <cp:revision>2</cp:revision>
  <dcterms:created xsi:type="dcterms:W3CDTF">2026-05-05T14:12:12Z</dcterms:created>
  <dcterms:modified xsi:type="dcterms:W3CDTF">2026-07-27T11:41:55Z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