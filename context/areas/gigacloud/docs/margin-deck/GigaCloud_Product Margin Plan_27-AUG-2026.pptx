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8"/>
  </p:notesMasterIdLst>
  <p:sldIdLst>
    <p:sldId id="2129" r:id="rId5"/>
    <p:sldId id="2191" r:id="rId6"/>
    <p:sldId id="2202" r:id="rId7"/>
    <p:sldId id="2192" r:id="rId8"/>
    <p:sldId id="2193" r:id="rId9"/>
    <p:sldId id="2194" r:id="rId10"/>
    <p:sldId id="2195" r:id="rId11"/>
    <p:sldId id="2196" r:id="rId12"/>
    <p:sldId id="2201" r:id="rId13"/>
    <p:sldId id="2197" r:id="rId14"/>
    <p:sldId id="2204" r:id="rId15"/>
    <p:sldId id="2199" r:id="rId16"/>
    <p:sldId id="2203" r:id="rId17"/>
  </p:sldIdLst>
  <p:sldSz cx="24387175" cy="13716000"/>
  <p:notesSz cx="13716000" cy="24387175"/>
  <p:embeddedFontLst>
    <p:embeddedFont>
      <p:font typeface="e-Ukraine Bold" panose="020B0604020202020204" charset="0"/>
      <p:bold r:id="rId19"/>
    </p:embeddedFont>
    <p:embeddedFont>
      <p:font typeface="e-Ukraine Light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639033D-450E-6943-A80E-48F0E0D76C86}">
          <p14:sldIdLst>
            <p14:sldId id="2129"/>
            <p14:sldId id="2191"/>
            <p14:sldId id="2202"/>
            <p14:sldId id="2192"/>
            <p14:sldId id="2193"/>
            <p14:sldId id="2194"/>
            <p14:sldId id="2195"/>
            <p14:sldId id="2196"/>
            <p14:sldId id="2201"/>
            <p14:sldId id="2197"/>
            <p14:sldId id="2204"/>
            <p14:sldId id="2199"/>
            <p14:sldId id="2203"/>
          </p14:sldIdLst>
        </p14:section>
        <p14:section name="Overview" id="{41806F8D-1337-3D4B-B52E-090320794DDD}">
          <p14:sldIdLst/>
        </p14:section>
        <p14:section name="Well being" id="{D987296C-CCF9-554F-96C4-480896B17FF6}">
          <p14:sldIdLst/>
        </p14:section>
      </p14:sectionLst>
    </p:ext>
    <p:ext uri="{EFAFB233-063F-42B5-8137-9DF3F51BA10A}">
      <p15:sldGuideLst xmlns:p15="http://schemas.microsoft.com/office/powerpoint/2012/main">
        <p15:guide id="2" pos="7726" userDrawn="1">
          <p15:clr>
            <a:srgbClr val="A4A3A4"/>
          </p15:clr>
        </p15:guide>
        <p15:guide id="3" orient="horz" pos="427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563916-DB9D-6F66-B003-64538B7E4691}" name="Maksym Parenchuk" initials="" userId="S::maksym.parenchuk@gigacloud.ua::58fd2652-819c-4d00-9864-39b01942971f" providerId="AD"/>
  <p188:author id="{86013F1C-A4D2-04E0-94DE-22ACE08487C8}" name="Anastasiia Menailova" initials="" userId="S::anastasiia.menailova@gigacloud.ua::9c2beb9c-462a-41e4-9585-b039f08e200d" providerId="AD"/>
  <p188:author id="{AC69C69D-45C5-DF40-C6D7-B02A7B62BFB2}" name="Hennadii Matviienko" initials="HM" userId="S::hennadii.matviienko@gigacloud.ua::df979077-7f92-493a-bd30-a674b6f08ea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340"/>
    <a:srgbClr val="F6F4F4"/>
    <a:srgbClr val="101010"/>
    <a:srgbClr val="DE1F35"/>
    <a:srgbClr val="DE1F25"/>
    <a:srgbClr val="DE1E34"/>
    <a:srgbClr val="9A17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458C1E-D939-A3B7-5C1D-AC67FB4C6D5D}" v="2" dt="2026-08-19T09:53:13.873"/>
    <p1510:client id="{1FE3034A-A9DB-C1DE-823B-43957557A6E6}" v="2" dt="2026-08-19T09:53:23.886"/>
    <p1510:client id="{3B98B9F1-A724-ED63-63DA-5743C020F3A3}" v="465" dt="2026-08-19T07:20:11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2DE63D5-997A-4646-A377-4702673A728D}" styleName="Світлий стиль 2 –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60" d="100"/>
          <a:sy n="60" d="100"/>
        </p:scale>
        <p:origin x="800" y="184"/>
      </p:cViewPr>
      <p:guideLst>
        <p:guide pos="7726"/>
        <p:guide orient="horz" pos="42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586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2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svg"/><Relationship Id="rId3" Type="http://schemas.microsoft.com/office/2007/relationships/hdphoto" Target="../media/hdphoto1.wdp"/><Relationship Id="rId7" Type="http://schemas.openxmlformats.org/officeDocument/2006/relationships/image" Target="../media/image10.svg"/><Relationship Id="rId12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cloud 001 logomar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 ">
            <a:extLst>
              <a:ext uri="{FF2B5EF4-FFF2-40B4-BE49-F238E27FC236}">
                <a16:creationId xmlns:a16="http://schemas.microsoft.com/office/drawing/2014/main" id="{E007257A-37D3-5289-1E6E-3A62E6E57DC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2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29269" y="894"/>
            <a:ext cx="18554606" cy="13714214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C879E975-3D90-54DC-6565-C59974B71D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35267" y="457200"/>
            <a:ext cx="14225778" cy="13716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DE44695-D98C-5541-0343-5E136333A76C}"/>
              </a:ext>
            </a:extLst>
          </p:cNvPr>
          <p:cNvGrpSpPr/>
          <p:nvPr userDrawn="1"/>
        </p:nvGrpSpPr>
        <p:grpSpPr>
          <a:xfrm>
            <a:off x="20560938" y="10054683"/>
            <a:ext cx="3863994" cy="2593699"/>
            <a:chOff x="13737788" y="6257975"/>
            <a:chExt cx="4550117" cy="3054258"/>
          </a:xfrm>
        </p:grpSpPr>
        <p:pic>
          <p:nvPicPr>
            <p:cNvPr id="3" name="Image 2" descr=" ">
              <a:extLst>
                <a:ext uri="{FF2B5EF4-FFF2-40B4-BE49-F238E27FC236}">
                  <a16:creationId xmlns:a16="http://schemas.microsoft.com/office/drawing/2014/main" id="{6B93EDB8-91ED-C664-7BFB-F14A2B306166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427675" y="6257975"/>
              <a:ext cx="1860230" cy="2995320"/>
            </a:xfrm>
            <a:prstGeom prst="rect">
              <a:avLst/>
            </a:prstGeom>
          </p:spPr>
        </p:pic>
        <p:pic>
          <p:nvPicPr>
            <p:cNvPr id="4" name="Image 3" descr=" ">
              <a:extLst>
                <a:ext uri="{FF2B5EF4-FFF2-40B4-BE49-F238E27FC236}">
                  <a16:creationId xmlns:a16="http://schemas.microsoft.com/office/drawing/2014/main" id="{856E2691-5A40-8B4B-DCB7-37E8DB246F14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737788" y="6257975"/>
              <a:ext cx="2323865" cy="30542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514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cloud 002 logomar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 ">
            <a:extLst>
              <a:ext uri="{FF2B5EF4-FFF2-40B4-BE49-F238E27FC236}">
                <a16:creationId xmlns:a16="http://schemas.microsoft.com/office/drawing/2014/main" id="{0AF73D9D-4608-A777-9F76-17570DF797C9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67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DE44695-D98C-5541-0343-5E136333A76C}"/>
              </a:ext>
            </a:extLst>
          </p:cNvPr>
          <p:cNvGrpSpPr/>
          <p:nvPr userDrawn="1"/>
        </p:nvGrpSpPr>
        <p:grpSpPr>
          <a:xfrm>
            <a:off x="20560938" y="10054683"/>
            <a:ext cx="3863994" cy="2593699"/>
            <a:chOff x="13737788" y="6257975"/>
            <a:chExt cx="4550117" cy="3054258"/>
          </a:xfrm>
        </p:grpSpPr>
        <p:pic>
          <p:nvPicPr>
            <p:cNvPr id="3" name="Image 2" descr=" ">
              <a:extLst>
                <a:ext uri="{FF2B5EF4-FFF2-40B4-BE49-F238E27FC236}">
                  <a16:creationId xmlns:a16="http://schemas.microsoft.com/office/drawing/2014/main" id="{6B93EDB8-91ED-C664-7BFB-F14A2B306166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427675" y="6257975"/>
              <a:ext cx="1860230" cy="2995320"/>
            </a:xfrm>
            <a:prstGeom prst="rect">
              <a:avLst/>
            </a:prstGeom>
          </p:spPr>
        </p:pic>
        <p:pic>
          <p:nvPicPr>
            <p:cNvPr id="4" name="Image 3" descr=" ">
              <a:extLst>
                <a:ext uri="{FF2B5EF4-FFF2-40B4-BE49-F238E27FC236}">
                  <a16:creationId xmlns:a16="http://schemas.microsoft.com/office/drawing/2014/main" id="{856E2691-5A40-8B4B-DCB7-37E8DB246F14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737788" y="6257975"/>
              <a:ext cx="2323865" cy="30542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740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cloud 003 logomar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loud on a black background&#10;&#10;Description automatically generated">
            <a:extLst>
              <a:ext uri="{FF2B5EF4-FFF2-40B4-BE49-F238E27FC236}">
                <a16:creationId xmlns:a16="http://schemas.microsoft.com/office/drawing/2014/main" id="{05A9DBE1-A2D0-615D-3356-A66F7F7588CC}"/>
              </a:ext>
            </a:extLst>
          </p:cNvPr>
          <p:cNvPicPr/>
          <p:nvPr userDrawn="1"/>
        </p:nvPicPr>
        <p:blipFill>
          <a:blip r:embed="rId2">
            <a:alphaModFix amt="4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054784">
            <a:off x="5989627" y="-2955346"/>
            <a:ext cx="24923273" cy="2492327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668151C-6BFE-6EFD-2AE3-09E682425B28}"/>
              </a:ext>
            </a:extLst>
          </p:cNvPr>
          <p:cNvGrpSpPr/>
          <p:nvPr userDrawn="1"/>
        </p:nvGrpSpPr>
        <p:grpSpPr>
          <a:xfrm>
            <a:off x="20560938" y="10054683"/>
            <a:ext cx="3863994" cy="2593699"/>
            <a:chOff x="13737788" y="6257975"/>
            <a:chExt cx="4550117" cy="3054258"/>
          </a:xfrm>
        </p:grpSpPr>
        <p:pic>
          <p:nvPicPr>
            <p:cNvPr id="9" name="Image 2" descr=" ">
              <a:extLst>
                <a:ext uri="{FF2B5EF4-FFF2-40B4-BE49-F238E27FC236}">
                  <a16:creationId xmlns:a16="http://schemas.microsoft.com/office/drawing/2014/main" id="{036E9C23-4817-5B6F-7540-8ABEFA90E356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427675" y="6257975"/>
              <a:ext cx="1860230" cy="2995320"/>
            </a:xfrm>
            <a:prstGeom prst="rect">
              <a:avLst/>
            </a:prstGeom>
          </p:spPr>
        </p:pic>
        <p:pic>
          <p:nvPicPr>
            <p:cNvPr id="10" name="Image 3" descr=" ">
              <a:extLst>
                <a:ext uri="{FF2B5EF4-FFF2-40B4-BE49-F238E27FC236}">
                  <a16:creationId xmlns:a16="http://schemas.microsoft.com/office/drawing/2014/main" id="{CD24F111-B265-821F-BA66-82E3EE5B3368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737788" y="6257975"/>
              <a:ext cx="2323865" cy="30542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3467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ud 001 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529ACF-0936-B496-9E9C-324EAB59400D}"/>
              </a:ext>
            </a:extLst>
          </p:cNvPr>
          <p:cNvGrpSpPr/>
          <p:nvPr userDrawn="1"/>
        </p:nvGrpSpPr>
        <p:grpSpPr>
          <a:xfrm>
            <a:off x="1900575" y="11251628"/>
            <a:ext cx="5181572" cy="990470"/>
            <a:chOff x="2159270" y="11252199"/>
            <a:chExt cx="5182248" cy="990600"/>
          </a:xfrm>
        </p:grpSpPr>
        <p:pic>
          <p:nvPicPr>
            <p:cNvPr id="23" name="Image 2" descr=" ">
              <a:extLst>
                <a:ext uri="{FF2B5EF4-FFF2-40B4-BE49-F238E27FC236}">
                  <a16:creationId xmlns:a16="http://schemas.microsoft.com/office/drawing/2014/main" id="{A538C3DA-C482-B9F0-E813-2712142CE170}"/>
                </a:ext>
              </a:extLst>
            </p:cNvPr>
            <p:cNvPicPr/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159270" y="11252199"/>
              <a:ext cx="5182248" cy="990600"/>
            </a:xfrm>
            <a:prstGeom prst="rect">
              <a:avLst/>
            </a:prstGeom>
          </p:spPr>
        </p:pic>
        <p:pic>
          <p:nvPicPr>
            <p:cNvPr id="24" name="Image 3" descr=" ">
              <a:extLst>
                <a:ext uri="{FF2B5EF4-FFF2-40B4-BE49-F238E27FC236}">
                  <a16:creationId xmlns:a16="http://schemas.microsoft.com/office/drawing/2014/main" id="{050C4D38-9856-6FA2-BF9B-C1FA1BED77E0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48879" y="11476224"/>
              <a:ext cx="416222" cy="548748"/>
            </a:xfrm>
            <a:prstGeom prst="rect">
              <a:avLst/>
            </a:prstGeom>
          </p:spPr>
        </p:pic>
        <p:pic>
          <p:nvPicPr>
            <p:cNvPr id="25" name="Image 4" descr=" ">
              <a:extLst>
                <a:ext uri="{FF2B5EF4-FFF2-40B4-BE49-F238E27FC236}">
                  <a16:creationId xmlns:a16="http://schemas.microsoft.com/office/drawing/2014/main" id="{6003CDCA-7154-5625-8F3A-C1C48A8C2C6F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49525" y="11476224"/>
              <a:ext cx="122166" cy="538194"/>
            </a:xfrm>
            <a:prstGeom prst="rect">
              <a:avLst/>
            </a:prstGeom>
          </p:spPr>
        </p:pic>
        <p:pic>
          <p:nvPicPr>
            <p:cNvPr id="26" name="Image 5" descr=" ">
              <a:extLst>
                <a:ext uri="{FF2B5EF4-FFF2-40B4-BE49-F238E27FC236}">
                  <a16:creationId xmlns:a16="http://schemas.microsoft.com/office/drawing/2014/main" id="{83357103-62EA-FB5F-805F-A8F84F9AC564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45590" y="11629988"/>
              <a:ext cx="393607" cy="535167"/>
            </a:xfrm>
            <a:prstGeom prst="rect">
              <a:avLst/>
            </a:prstGeom>
          </p:spPr>
        </p:pic>
        <p:pic>
          <p:nvPicPr>
            <p:cNvPr id="27" name="Image 6" descr=" ">
              <a:extLst>
                <a:ext uri="{FF2B5EF4-FFF2-40B4-BE49-F238E27FC236}">
                  <a16:creationId xmlns:a16="http://schemas.microsoft.com/office/drawing/2014/main" id="{E1CBE81D-6085-AC62-7487-F9397055A4DF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20619" y="11629988"/>
              <a:ext cx="390602" cy="394984"/>
            </a:xfrm>
            <a:prstGeom prst="rect">
              <a:avLst/>
            </a:prstGeom>
          </p:spPr>
        </p:pic>
        <p:pic>
          <p:nvPicPr>
            <p:cNvPr id="28" name="Image 7" descr=" ">
              <a:extLst>
                <a:ext uri="{FF2B5EF4-FFF2-40B4-BE49-F238E27FC236}">
                  <a16:creationId xmlns:a16="http://schemas.microsoft.com/office/drawing/2014/main" id="{0FAF53DA-FFEB-67C3-FBFC-4488C80C2F0F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65497" y="11476205"/>
              <a:ext cx="416222" cy="548767"/>
            </a:xfrm>
            <a:prstGeom prst="rect">
              <a:avLst/>
            </a:prstGeom>
          </p:spPr>
        </p:pic>
        <p:pic>
          <p:nvPicPr>
            <p:cNvPr id="29" name="Image 8" descr=" ">
              <a:extLst>
                <a:ext uri="{FF2B5EF4-FFF2-40B4-BE49-F238E27FC236}">
                  <a16:creationId xmlns:a16="http://schemas.microsoft.com/office/drawing/2014/main" id="{E6C28C05-187D-9831-EAD9-CB982124EC2D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936026" y="11486778"/>
              <a:ext cx="95001" cy="527639"/>
            </a:xfrm>
            <a:prstGeom prst="rect">
              <a:avLst/>
            </a:prstGeom>
          </p:spPr>
        </p:pic>
        <p:pic>
          <p:nvPicPr>
            <p:cNvPr id="30" name="Image 9" descr=" ">
              <a:extLst>
                <a:ext uri="{FF2B5EF4-FFF2-40B4-BE49-F238E27FC236}">
                  <a16:creationId xmlns:a16="http://schemas.microsoft.com/office/drawing/2014/main" id="{84A82E41-924A-6F39-4E7A-A49C764A71A5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085319" y="11629988"/>
              <a:ext cx="392081" cy="394984"/>
            </a:xfrm>
            <a:prstGeom prst="rect">
              <a:avLst/>
            </a:prstGeom>
          </p:spPr>
        </p:pic>
        <p:pic>
          <p:nvPicPr>
            <p:cNvPr id="31" name="Image 10" descr=" ">
              <a:extLst>
                <a:ext uri="{FF2B5EF4-FFF2-40B4-BE49-F238E27FC236}">
                  <a16:creationId xmlns:a16="http://schemas.microsoft.com/office/drawing/2014/main" id="{6E350E90-437B-426C-A1C7-A4E3A083E6EA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531708" y="11640542"/>
              <a:ext cx="361946" cy="379909"/>
            </a:xfrm>
            <a:prstGeom prst="rect">
              <a:avLst/>
            </a:prstGeom>
          </p:spPr>
        </p:pic>
        <p:pic>
          <p:nvPicPr>
            <p:cNvPr id="32" name="Image 11" descr=" ">
              <a:extLst>
                <a:ext uri="{FF2B5EF4-FFF2-40B4-BE49-F238E27FC236}">
                  <a16:creationId xmlns:a16="http://schemas.microsoft.com/office/drawing/2014/main" id="{0554A386-61A1-F9FF-414E-A8F1142C4426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947927" y="11486790"/>
              <a:ext cx="393591" cy="538194"/>
            </a:xfrm>
            <a:prstGeom prst="rect">
              <a:avLst/>
            </a:prstGeom>
          </p:spPr>
        </p:pic>
      </p:grpSp>
      <p:pic>
        <p:nvPicPr>
          <p:cNvPr id="33" name="Image 0" descr=" ">
            <a:extLst>
              <a:ext uri="{FF2B5EF4-FFF2-40B4-BE49-F238E27FC236}">
                <a16:creationId xmlns:a16="http://schemas.microsoft.com/office/drawing/2014/main" id="{67672AD7-A110-F415-4C16-C694D85AAC0F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2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29269" y="894"/>
            <a:ext cx="18554606" cy="13714214"/>
          </a:xfrm>
          <a:prstGeom prst="rect">
            <a:avLst/>
          </a:prstGeom>
        </p:spPr>
      </p:pic>
      <p:pic>
        <p:nvPicPr>
          <p:cNvPr id="34" name="Image 1" descr=" ">
            <a:extLst>
              <a:ext uri="{FF2B5EF4-FFF2-40B4-BE49-F238E27FC236}">
                <a16:creationId xmlns:a16="http://schemas.microsoft.com/office/drawing/2014/main" id="{77F71496-092F-BBCB-531E-FF92268B49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35267" y="0"/>
            <a:ext cx="14225778" cy="13716000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cloud 002 logo">
    <p:bg>
      <p:bgPr>
        <a:solidFill>
          <a:schemeClr val="bg1">
            <a:alpha val="67000"/>
          </a:schemeClr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 descr=" ">
            <a:extLst>
              <a:ext uri="{FF2B5EF4-FFF2-40B4-BE49-F238E27FC236}">
                <a16:creationId xmlns:a16="http://schemas.microsoft.com/office/drawing/2014/main" id="{E01B50F5-5E4C-8FCA-D5B2-037F63E519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ACB9F28-A4E7-7A30-9295-045DE06BC129}"/>
              </a:ext>
            </a:extLst>
          </p:cNvPr>
          <p:cNvGrpSpPr/>
          <p:nvPr userDrawn="1"/>
        </p:nvGrpSpPr>
        <p:grpSpPr>
          <a:xfrm>
            <a:off x="1900575" y="11251628"/>
            <a:ext cx="5181572" cy="990470"/>
            <a:chOff x="2159270" y="11252199"/>
            <a:chExt cx="5182248" cy="990600"/>
          </a:xfrm>
        </p:grpSpPr>
        <p:pic>
          <p:nvPicPr>
            <p:cNvPr id="6" name="Image 2" descr=" ">
              <a:extLst>
                <a:ext uri="{FF2B5EF4-FFF2-40B4-BE49-F238E27FC236}">
                  <a16:creationId xmlns:a16="http://schemas.microsoft.com/office/drawing/2014/main" id="{AAAD6ABD-F54A-58EC-0F7B-0795F7D46E4A}"/>
                </a:ext>
              </a:extLst>
            </p:cNvPr>
            <p:cNvPicPr/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159270" y="11252199"/>
              <a:ext cx="5182248" cy="990600"/>
            </a:xfrm>
            <a:prstGeom prst="rect">
              <a:avLst/>
            </a:prstGeom>
          </p:spPr>
        </p:pic>
        <p:pic>
          <p:nvPicPr>
            <p:cNvPr id="7" name="Image 3" descr=" ">
              <a:extLst>
                <a:ext uri="{FF2B5EF4-FFF2-40B4-BE49-F238E27FC236}">
                  <a16:creationId xmlns:a16="http://schemas.microsoft.com/office/drawing/2014/main" id="{ECD56FDF-A37F-4D0E-0C28-599C820C0BC9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48879" y="11476224"/>
              <a:ext cx="416222" cy="548748"/>
            </a:xfrm>
            <a:prstGeom prst="rect">
              <a:avLst/>
            </a:prstGeom>
          </p:spPr>
        </p:pic>
        <p:pic>
          <p:nvPicPr>
            <p:cNvPr id="8" name="Image 4" descr=" ">
              <a:extLst>
                <a:ext uri="{FF2B5EF4-FFF2-40B4-BE49-F238E27FC236}">
                  <a16:creationId xmlns:a16="http://schemas.microsoft.com/office/drawing/2014/main" id="{443B842B-25AB-5098-BAFA-98B166B944E7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49525" y="11476224"/>
              <a:ext cx="122166" cy="538194"/>
            </a:xfrm>
            <a:prstGeom prst="rect">
              <a:avLst/>
            </a:prstGeom>
          </p:spPr>
        </p:pic>
        <p:pic>
          <p:nvPicPr>
            <p:cNvPr id="9" name="Image 5" descr=" ">
              <a:extLst>
                <a:ext uri="{FF2B5EF4-FFF2-40B4-BE49-F238E27FC236}">
                  <a16:creationId xmlns:a16="http://schemas.microsoft.com/office/drawing/2014/main" id="{91D7C0C0-D83D-E948-8353-4DEE7A8D974A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45590" y="11629988"/>
              <a:ext cx="393607" cy="535167"/>
            </a:xfrm>
            <a:prstGeom prst="rect">
              <a:avLst/>
            </a:prstGeom>
          </p:spPr>
        </p:pic>
        <p:pic>
          <p:nvPicPr>
            <p:cNvPr id="10" name="Image 6" descr=" ">
              <a:extLst>
                <a:ext uri="{FF2B5EF4-FFF2-40B4-BE49-F238E27FC236}">
                  <a16:creationId xmlns:a16="http://schemas.microsoft.com/office/drawing/2014/main" id="{AF3C9983-2905-180A-DD9F-E077DCD5624A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20619" y="11629988"/>
              <a:ext cx="390602" cy="394984"/>
            </a:xfrm>
            <a:prstGeom prst="rect">
              <a:avLst/>
            </a:prstGeom>
          </p:spPr>
        </p:pic>
        <p:pic>
          <p:nvPicPr>
            <p:cNvPr id="11" name="Image 7" descr=" ">
              <a:extLst>
                <a:ext uri="{FF2B5EF4-FFF2-40B4-BE49-F238E27FC236}">
                  <a16:creationId xmlns:a16="http://schemas.microsoft.com/office/drawing/2014/main" id="{EACC2340-9024-0C2A-F2B4-09133FA97E4C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465497" y="11476205"/>
              <a:ext cx="416222" cy="548767"/>
            </a:xfrm>
            <a:prstGeom prst="rect">
              <a:avLst/>
            </a:prstGeom>
          </p:spPr>
        </p:pic>
        <p:pic>
          <p:nvPicPr>
            <p:cNvPr id="12" name="Image 8" descr=" ">
              <a:extLst>
                <a:ext uri="{FF2B5EF4-FFF2-40B4-BE49-F238E27FC236}">
                  <a16:creationId xmlns:a16="http://schemas.microsoft.com/office/drawing/2014/main" id="{074A264C-05C7-ACBF-901A-698266270D3C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936026" y="11486778"/>
              <a:ext cx="95001" cy="527639"/>
            </a:xfrm>
            <a:prstGeom prst="rect">
              <a:avLst/>
            </a:prstGeom>
          </p:spPr>
        </p:pic>
        <p:pic>
          <p:nvPicPr>
            <p:cNvPr id="13" name="Image 9" descr=" ">
              <a:extLst>
                <a:ext uri="{FF2B5EF4-FFF2-40B4-BE49-F238E27FC236}">
                  <a16:creationId xmlns:a16="http://schemas.microsoft.com/office/drawing/2014/main" id="{7546BEF7-1BF9-6E8E-4168-8A1C5E5D070C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85319" y="11629988"/>
              <a:ext cx="392081" cy="394984"/>
            </a:xfrm>
            <a:prstGeom prst="rect">
              <a:avLst/>
            </a:prstGeom>
          </p:spPr>
        </p:pic>
        <p:pic>
          <p:nvPicPr>
            <p:cNvPr id="14" name="Image 10" descr=" ">
              <a:extLst>
                <a:ext uri="{FF2B5EF4-FFF2-40B4-BE49-F238E27FC236}">
                  <a16:creationId xmlns:a16="http://schemas.microsoft.com/office/drawing/2014/main" id="{D316F104-75B9-2BA7-6258-4ADCC60CA44E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1708" y="11640542"/>
              <a:ext cx="361946" cy="379909"/>
            </a:xfrm>
            <a:prstGeom prst="rect">
              <a:avLst/>
            </a:prstGeom>
          </p:spPr>
        </p:pic>
        <p:pic>
          <p:nvPicPr>
            <p:cNvPr id="15" name="Image 11" descr=" ">
              <a:extLst>
                <a:ext uri="{FF2B5EF4-FFF2-40B4-BE49-F238E27FC236}">
                  <a16:creationId xmlns:a16="http://schemas.microsoft.com/office/drawing/2014/main" id="{78E29749-3534-9C66-CF32-FB0D03CAB98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947927" y="11486790"/>
              <a:ext cx="393591" cy="5381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4677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cloud 003 log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loud on a black background&#10;&#10;Description automatically generated">
            <a:extLst>
              <a:ext uri="{FF2B5EF4-FFF2-40B4-BE49-F238E27FC236}">
                <a16:creationId xmlns:a16="http://schemas.microsoft.com/office/drawing/2014/main" id="{05A9DBE1-A2D0-615D-3356-A66F7F7588CC}"/>
              </a:ext>
            </a:extLst>
          </p:cNvPr>
          <p:cNvPicPr/>
          <p:nvPr userDrawn="1"/>
        </p:nvPicPr>
        <p:blipFill>
          <a:blip r:embed="rId2">
            <a:alphaModFix amt="4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054784">
            <a:off x="5989627" y="-2955346"/>
            <a:ext cx="24923273" cy="2492327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94BA8A8-FD06-B96C-2F2D-78D58320D01F}"/>
              </a:ext>
            </a:extLst>
          </p:cNvPr>
          <p:cNvGrpSpPr/>
          <p:nvPr userDrawn="1"/>
        </p:nvGrpSpPr>
        <p:grpSpPr>
          <a:xfrm>
            <a:off x="1900575" y="11251628"/>
            <a:ext cx="5181572" cy="990470"/>
            <a:chOff x="2159270" y="11252199"/>
            <a:chExt cx="5182248" cy="990600"/>
          </a:xfrm>
        </p:grpSpPr>
        <p:pic>
          <p:nvPicPr>
            <p:cNvPr id="4" name="Image 2" descr=" ">
              <a:extLst>
                <a:ext uri="{FF2B5EF4-FFF2-40B4-BE49-F238E27FC236}">
                  <a16:creationId xmlns:a16="http://schemas.microsoft.com/office/drawing/2014/main" id="{24129047-BEE5-129F-9F2B-910FB7777FB1}"/>
                </a:ext>
              </a:extLst>
            </p:cNvPr>
            <p:cNvPicPr/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2159270" y="11252199"/>
              <a:ext cx="5182248" cy="990600"/>
            </a:xfrm>
            <a:prstGeom prst="rect">
              <a:avLst/>
            </a:prstGeom>
          </p:spPr>
        </p:pic>
        <p:pic>
          <p:nvPicPr>
            <p:cNvPr id="5" name="Image 3" descr=" ">
              <a:extLst>
                <a:ext uri="{FF2B5EF4-FFF2-40B4-BE49-F238E27FC236}">
                  <a16:creationId xmlns:a16="http://schemas.microsoft.com/office/drawing/2014/main" id="{4970D349-2489-D6D9-C4DB-CA21B2019D9E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48879" y="11476224"/>
              <a:ext cx="416222" cy="548748"/>
            </a:xfrm>
            <a:prstGeom prst="rect">
              <a:avLst/>
            </a:prstGeom>
          </p:spPr>
        </p:pic>
        <p:pic>
          <p:nvPicPr>
            <p:cNvPr id="6" name="Image 4" descr=" ">
              <a:extLst>
                <a:ext uri="{FF2B5EF4-FFF2-40B4-BE49-F238E27FC236}">
                  <a16:creationId xmlns:a16="http://schemas.microsoft.com/office/drawing/2014/main" id="{506D0A6D-252C-3986-3D37-922C9E3945D5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49525" y="11476224"/>
              <a:ext cx="122166" cy="538194"/>
            </a:xfrm>
            <a:prstGeom prst="rect">
              <a:avLst/>
            </a:prstGeom>
          </p:spPr>
        </p:pic>
        <p:pic>
          <p:nvPicPr>
            <p:cNvPr id="7" name="Image 5" descr=" ">
              <a:extLst>
                <a:ext uri="{FF2B5EF4-FFF2-40B4-BE49-F238E27FC236}">
                  <a16:creationId xmlns:a16="http://schemas.microsoft.com/office/drawing/2014/main" id="{FA5B8367-FD47-F9AD-D69A-1082E507955C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45590" y="11629988"/>
              <a:ext cx="393607" cy="535167"/>
            </a:xfrm>
            <a:prstGeom prst="rect">
              <a:avLst/>
            </a:prstGeom>
          </p:spPr>
        </p:pic>
        <p:pic>
          <p:nvPicPr>
            <p:cNvPr id="8" name="Image 6" descr=" ">
              <a:extLst>
                <a:ext uri="{FF2B5EF4-FFF2-40B4-BE49-F238E27FC236}">
                  <a16:creationId xmlns:a16="http://schemas.microsoft.com/office/drawing/2014/main" id="{53DD5FA6-2BF7-A84C-E26E-31AAFE07E223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020619" y="11629988"/>
              <a:ext cx="390602" cy="394984"/>
            </a:xfrm>
            <a:prstGeom prst="rect">
              <a:avLst/>
            </a:prstGeom>
          </p:spPr>
        </p:pic>
        <p:pic>
          <p:nvPicPr>
            <p:cNvPr id="9" name="Image 7" descr=" ">
              <a:extLst>
                <a:ext uri="{FF2B5EF4-FFF2-40B4-BE49-F238E27FC236}">
                  <a16:creationId xmlns:a16="http://schemas.microsoft.com/office/drawing/2014/main" id="{E7F76F3E-7ECB-08F1-B88B-5AC9FF649289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465497" y="11476205"/>
              <a:ext cx="416222" cy="548767"/>
            </a:xfrm>
            <a:prstGeom prst="rect">
              <a:avLst/>
            </a:prstGeom>
          </p:spPr>
        </p:pic>
        <p:pic>
          <p:nvPicPr>
            <p:cNvPr id="10" name="Image 8" descr=" ">
              <a:extLst>
                <a:ext uri="{FF2B5EF4-FFF2-40B4-BE49-F238E27FC236}">
                  <a16:creationId xmlns:a16="http://schemas.microsoft.com/office/drawing/2014/main" id="{23C1B03F-71FB-E293-B8B2-8BD73D49F0D2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936026" y="11486778"/>
              <a:ext cx="95001" cy="527639"/>
            </a:xfrm>
            <a:prstGeom prst="rect">
              <a:avLst/>
            </a:prstGeom>
          </p:spPr>
        </p:pic>
        <p:pic>
          <p:nvPicPr>
            <p:cNvPr id="11" name="Image 9" descr=" ">
              <a:extLst>
                <a:ext uri="{FF2B5EF4-FFF2-40B4-BE49-F238E27FC236}">
                  <a16:creationId xmlns:a16="http://schemas.microsoft.com/office/drawing/2014/main" id="{98CEBCF6-C88E-886F-E486-C7B86A2E9FC4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085319" y="11629988"/>
              <a:ext cx="392081" cy="394984"/>
            </a:xfrm>
            <a:prstGeom prst="rect">
              <a:avLst/>
            </a:prstGeom>
          </p:spPr>
        </p:pic>
        <p:pic>
          <p:nvPicPr>
            <p:cNvPr id="12" name="Image 10" descr=" ">
              <a:extLst>
                <a:ext uri="{FF2B5EF4-FFF2-40B4-BE49-F238E27FC236}">
                  <a16:creationId xmlns:a16="http://schemas.microsoft.com/office/drawing/2014/main" id="{FB1CB0D2-5FF7-3B29-7294-65796AF49A5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531708" y="11640542"/>
              <a:ext cx="361946" cy="379909"/>
            </a:xfrm>
            <a:prstGeom prst="rect">
              <a:avLst/>
            </a:prstGeom>
          </p:spPr>
        </p:pic>
        <p:pic>
          <p:nvPicPr>
            <p:cNvPr id="13" name="Image 11" descr=" ">
              <a:extLst>
                <a:ext uri="{FF2B5EF4-FFF2-40B4-BE49-F238E27FC236}">
                  <a16:creationId xmlns:a16="http://schemas.microsoft.com/office/drawing/2014/main" id="{5EC0F669-933F-D8C9-A832-800FDB53E5BE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947927" y="11486790"/>
              <a:ext cx="393591" cy="5381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0911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cloud 001 without log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36318F4C-EACE-A4F7-FFF2-83AB4C30FA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5267" y="0"/>
            <a:ext cx="14225778" cy="13716000"/>
          </a:xfrm>
          <a:prstGeom prst="rect">
            <a:avLst/>
          </a:prstGeom>
        </p:spPr>
      </p:pic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4FDD332F-F66C-CE49-FF31-D0F9C1662B7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9269" y="894"/>
            <a:ext cx="18554606" cy="13714214"/>
          </a:xfrm>
          <a:prstGeom prst="rect">
            <a:avLst/>
          </a:prstGeom>
        </p:spPr>
      </p:pic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70E7B852-4439-4941-6F15-CF236F044A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87667" y="-5255"/>
            <a:ext cx="14225778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721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cloud 002 without log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 ">
            <a:extLst>
              <a:ext uri="{FF2B5EF4-FFF2-40B4-BE49-F238E27FC236}">
                <a16:creationId xmlns:a16="http://schemas.microsoft.com/office/drawing/2014/main" id="{A145C291-BDA6-629E-1A75-ED460067AB3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67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80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5" userDrawn="1">
          <p15:clr>
            <a:srgbClr val="FBAE40"/>
          </p15:clr>
        </p15:guide>
        <p15:guide id="2" pos="7681" userDrawn="1">
          <p15:clr>
            <a:srgbClr val="FBAE40"/>
          </p15:clr>
        </p15:guide>
        <p15:guide id="3" pos="1285" userDrawn="1">
          <p15:clr>
            <a:srgbClr val="FBAE40"/>
          </p15:clr>
        </p15:guide>
        <p15:guide id="4" pos="14031" userDrawn="1">
          <p15:clr>
            <a:srgbClr val="FBAE40"/>
          </p15:clr>
        </p15:guide>
        <p15:guide id="5" orient="horz" pos="873" userDrawn="1">
          <p15:clr>
            <a:srgbClr val="FBAE40"/>
          </p15:clr>
        </p15:guide>
        <p15:guide id="6" orient="horz" pos="1689" userDrawn="1">
          <p15:clr>
            <a:srgbClr val="FBAE40"/>
          </p15:clr>
        </p15:guide>
        <p15:guide id="7" orient="horz" pos="2075" userDrawn="1">
          <p15:clr>
            <a:srgbClr val="FBAE40"/>
          </p15:clr>
        </p15:guide>
        <p15:guide id="8" orient="horz" pos="6724" userDrawn="1">
          <p15:clr>
            <a:srgbClr val="FBAE40"/>
          </p15:clr>
        </p15:guide>
        <p15:guide id="9" orient="horz" pos="722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cloud 003 without log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loud on a black background&#10;&#10;Description automatically generated">
            <a:extLst>
              <a:ext uri="{FF2B5EF4-FFF2-40B4-BE49-F238E27FC236}">
                <a16:creationId xmlns:a16="http://schemas.microsoft.com/office/drawing/2014/main" id="{05A9DBE1-A2D0-615D-3356-A66F7F7588CC}"/>
              </a:ext>
            </a:extLst>
          </p:cNvPr>
          <p:cNvPicPr/>
          <p:nvPr userDrawn="1"/>
        </p:nvPicPr>
        <p:blipFill>
          <a:blip r:embed="rId2">
            <a:alphaModFix amt="4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054784">
            <a:off x="5989627" y="-2955346"/>
            <a:ext cx="24923273" cy="2492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22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no cloud no log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425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1_Пустой слайд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0DEF975-B36E-B2B6-F0D9-6C6464E1AD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89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1_Пустой слайд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0DEF975-B36E-B2B6-F0D9-6C6464E1AD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B153CD1-D259-D43C-27B8-659F652E4F41}"/>
              </a:ext>
            </a:extLst>
          </p:cNvPr>
          <p:cNvGrpSpPr/>
          <p:nvPr userDrawn="1"/>
        </p:nvGrpSpPr>
        <p:grpSpPr>
          <a:xfrm>
            <a:off x="1900575" y="11251628"/>
            <a:ext cx="5181572" cy="990470"/>
            <a:chOff x="2159270" y="11252199"/>
            <a:chExt cx="5182248" cy="990600"/>
          </a:xfrm>
        </p:grpSpPr>
        <p:pic>
          <p:nvPicPr>
            <p:cNvPr id="3" name="Image 2" descr=" ">
              <a:extLst>
                <a:ext uri="{FF2B5EF4-FFF2-40B4-BE49-F238E27FC236}">
                  <a16:creationId xmlns:a16="http://schemas.microsoft.com/office/drawing/2014/main" id="{43987BBE-AE9F-36DF-5771-B002F8D27047}"/>
                </a:ext>
              </a:extLst>
            </p:cNvPr>
            <p:cNvPicPr/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159270" y="11252199"/>
              <a:ext cx="5182248" cy="990600"/>
            </a:xfrm>
            <a:prstGeom prst="rect">
              <a:avLst/>
            </a:prstGeom>
          </p:spPr>
        </p:pic>
        <p:pic>
          <p:nvPicPr>
            <p:cNvPr id="4" name="Image 3" descr=" ">
              <a:extLst>
                <a:ext uri="{FF2B5EF4-FFF2-40B4-BE49-F238E27FC236}">
                  <a16:creationId xmlns:a16="http://schemas.microsoft.com/office/drawing/2014/main" id="{B5C4D819-6739-AFA5-5FC1-12D1AED6CAE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48879" y="11476224"/>
              <a:ext cx="416222" cy="548748"/>
            </a:xfrm>
            <a:prstGeom prst="rect">
              <a:avLst/>
            </a:prstGeom>
          </p:spPr>
        </p:pic>
        <p:pic>
          <p:nvPicPr>
            <p:cNvPr id="6" name="Image 4" descr=" ">
              <a:extLst>
                <a:ext uri="{FF2B5EF4-FFF2-40B4-BE49-F238E27FC236}">
                  <a16:creationId xmlns:a16="http://schemas.microsoft.com/office/drawing/2014/main" id="{0D637622-618F-613E-87E8-660308ECBCE1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49525" y="11476224"/>
              <a:ext cx="122166" cy="538194"/>
            </a:xfrm>
            <a:prstGeom prst="rect">
              <a:avLst/>
            </a:prstGeom>
          </p:spPr>
        </p:pic>
        <p:pic>
          <p:nvPicPr>
            <p:cNvPr id="7" name="Image 5" descr=" ">
              <a:extLst>
                <a:ext uri="{FF2B5EF4-FFF2-40B4-BE49-F238E27FC236}">
                  <a16:creationId xmlns:a16="http://schemas.microsoft.com/office/drawing/2014/main" id="{DAEE38B5-46D3-F2DF-14CD-E188A8694E39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45590" y="11629988"/>
              <a:ext cx="393607" cy="535167"/>
            </a:xfrm>
            <a:prstGeom prst="rect">
              <a:avLst/>
            </a:prstGeom>
          </p:spPr>
        </p:pic>
        <p:pic>
          <p:nvPicPr>
            <p:cNvPr id="8" name="Image 6" descr=" ">
              <a:extLst>
                <a:ext uri="{FF2B5EF4-FFF2-40B4-BE49-F238E27FC236}">
                  <a16:creationId xmlns:a16="http://schemas.microsoft.com/office/drawing/2014/main" id="{61F42E1D-C3A6-5B7F-76A2-0B7D12DDD8A5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20619" y="11629988"/>
              <a:ext cx="390602" cy="394984"/>
            </a:xfrm>
            <a:prstGeom prst="rect">
              <a:avLst/>
            </a:prstGeom>
          </p:spPr>
        </p:pic>
        <p:pic>
          <p:nvPicPr>
            <p:cNvPr id="9" name="Image 7" descr=" ">
              <a:extLst>
                <a:ext uri="{FF2B5EF4-FFF2-40B4-BE49-F238E27FC236}">
                  <a16:creationId xmlns:a16="http://schemas.microsoft.com/office/drawing/2014/main" id="{D90BFC63-DFFE-2356-46B6-8DD013B4B7F2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465497" y="11476205"/>
              <a:ext cx="416222" cy="548767"/>
            </a:xfrm>
            <a:prstGeom prst="rect">
              <a:avLst/>
            </a:prstGeom>
          </p:spPr>
        </p:pic>
        <p:pic>
          <p:nvPicPr>
            <p:cNvPr id="10" name="Image 8" descr=" ">
              <a:extLst>
                <a:ext uri="{FF2B5EF4-FFF2-40B4-BE49-F238E27FC236}">
                  <a16:creationId xmlns:a16="http://schemas.microsoft.com/office/drawing/2014/main" id="{8844126F-54BB-1DB0-874C-D7A8E1BB3B3A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936026" y="11486778"/>
              <a:ext cx="95001" cy="527639"/>
            </a:xfrm>
            <a:prstGeom prst="rect">
              <a:avLst/>
            </a:prstGeom>
          </p:spPr>
        </p:pic>
        <p:pic>
          <p:nvPicPr>
            <p:cNvPr id="11" name="Image 9" descr=" ">
              <a:extLst>
                <a:ext uri="{FF2B5EF4-FFF2-40B4-BE49-F238E27FC236}">
                  <a16:creationId xmlns:a16="http://schemas.microsoft.com/office/drawing/2014/main" id="{F7DFB06E-86A5-3BE8-AD78-4C19C5B61CCA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85319" y="11629988"/>
              <a:ext cx="392081" cy="394984"/>
            </a:xfrm>
            <a:prstGeom prst="rect">
              <a:avLst/>
            </a:prstGeom>
          </p:spPr>
        </p:pic>
        <p:pic>
          <p:nvPicPr>
            <p:cNvPr id="12" name="Image 10" descr=" ">
              <a:extLst>
                <a:ext uri="{FF2B5EF4-FFF2-40B4-BE49-F238E27FC236}">
                  <a16:creationId xmlns:a16="http://schemas.microsoft.com/office/drawing/2014/main" id="{0BCBDF72-611A-8ADF-B4C5-67091D3504BE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1708" y="11640542"/>
              <a:ext cx="361946" cy="379909"/>
            </a:xfrm>
            <a:prstGeom prst="rect">
              <a:avLst/>
            </a:prstGeom>
          </p:spPr>
        </p:pic>
        <p:pic>
          <p:nvPicPr>
            <p:cNvPr id="13" name="Image 11" descr=" ">
              <a:extLst>
                <a:ext uri="{FF2B5EF4-FFF2-40B4-BE49-F238E27FC236}">
                  <a16:creationId xmlns:a16="http://schemas.microsoft.com/office/drawing/2014/main" id="{DCB215E1-5B2E-C576-5A7B-49282BE53215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947927" y="11486790"/>
              <a:ext cx="393591" cy="5381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623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 preserve="1">
  <p:cSld name="1_Пустой слайд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0DEF975-B36E-B2B6-F0D9-6C6464E1AD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1D046C4-9461-2DB8-7C0B-29615F1568F6}"/>
              </a:ext>
            </a:extLst>
          </p:cNvPr>
          <p:cNvGrpSpPr/>
          <p:nvPr userDrawn="1"/>
        </p:nvGrpSpPr>
        <p:grpSpPr>
          <a:xfrm>
            <a:off x="20560938" y="10054683"/>
            <a:ext cx="3863994" cy="2593699"/>
            <a:chOff x="13737788" y="6257975"/>
            <a:chExt cx="4550117" cy="3054258"/>
          </a:xfrm>
        </p:grpSpPr>
        <p:pic>
          <p:nvPicPr>
            <p:cNvPr id="3" name="Image 2" descr=" ">
              <a:extLst>
                <a:ext uri="{FF2B5EF4-FFF2-40B4-BE49-F238E27FC236}">
                  <a16:creationId xmlns:a16="http://schemas.microsoft.com/office/drawing/2014/main" id="{07A8961D-95DB-B715-F354-4B1E35ED6B18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427675" y="6257975"/>
              <a:ext cx="1860230" cy="2995320"/>
            </a:xfrm>
            <a:prstGeom prst="rect">
              <a:avLst/>
            </a:prstGeom>
          </p:spPr>
        </p:pic>
        <p:pic>
          <p:nvPicPr>
            <p:cNvPr id="4" name="Image 3" descr=" ">
              <a:extLst>
                <a:ext uri="{FF2B5EF4-FFF2-40B4-BE49-F238E27FC236}">
                  <a16:creationId xmlns:a16="http://schemas.microsoft.com/office/drawing/2014/main" id="{2CF44DDA-4078-1856-82BA-19788F260E29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737788" y="6257975"/>
              <a:ext cx="2323865" cy="30542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5596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999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3BBB2-FE41-6BAD-B530-7CA48A2B5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397" y="2244726"/>
            <a:ext cx="18290381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2E7599B-3928-6C45-4648-9EB846C7C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397" y="7204076"/>
            <a:ext cx="18290381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6D8B083-F00F-2BC6-DF2C-5057A5F85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A598-96D9-4E79-B8C6-DD11EF328E82}" type="datetimeFigureOut">
              <a:rPr lang="uk-UA" smtClean="0"/>
              <a:t>26.09.2026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7F7393A-7470-7B4A-EA1E-82AC74F91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BB967D9-BE15-F127-35B9-BD91100B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98AF-3DA2-4FC5-8481-7A59CED0FAE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7718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8" r:id="rId3"/>
    <p:sldLayoutId id="2147483649" r:id="rId4"/>
    <p:sldLayoutId id="2147483655" r:id="rId5"/>
    <p:sldLayoutId id="2147483660" r:id="rId6"/>
    <p:sldLayoutId id="2147483657" r:id="rId7"/>
    <p:sldLayoutId id="2147483656" r:id="rId8"/>
    <p:sldLayoutId id="2147483659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1" userDrawn="1">
          <p15:clr>
            <a:srgbClr val="F26B43"/>
          </p15:clr>
        </p15:guide>
        <p15:guide id="3" orient="horz" pos="873" userDrawn="1">
          <p15:clr>
            <a:srgbClr val="F26B43"/>
          </p15:clr>
        </p15:guide>
        <p15:guide id="4" orient="horz" pos="1689" userDrawn="1">
          <p15:clr>
            <a:srgbClr val="F26B43"/>
          </p15:clr>
        </p15:guide>
        <p15:guide id="5" orient="horz" pos="2120" userDrawn="1">
          <p15:clr>
            <a:srgbClr val="F26B43"/>
          </p15:clr>
        </p15:guide>
        <p15:guide id="6" orient="horz" pos="6701" userDrawn="1">
          <p15:clr>
            <a:srgbClr val="F26B43"/>
          </p15:clr>
        </p15:guide>
        <p15:guide id="7" orient="horz" pos="7200" userDrawn="1">
          <p15:clr>
            <a:srgbClr val="F26B43"/>
          </p15:clr>
        </p15:guide>
        <p15:guide id="8" pos="1285" userDrawn="1">
          <p15:clr>
            <a:srgbClr val="F26B43"/>
          </p15:clr>
        </p15:guide>
        <p15:guide id="9" pos="140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19552" y="4432300"/>
            <a:ext cx="16664483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400"/>
              </a:lnSpc>
            </a:pPr>
            <a:r>
              <a:rPr lang="en-US" sz="7800">
                <a:solidFill>
                  <a:srgbClr val="C00000"/>
                </a:solidFill>
                <a:latin typeface="e-Ukraine Bold"/>
              </a:rPr>
              <a:t>Маржинальність продуктів</a:t>
            </a:r>
            <a:endParaRPr lang="en-US" sz="9000" err="1">
              <a:solidFill>
                <a:srgbClr val="C00000"/>
              </a:solidFill>
              <a:latin typeface="e-Ukraine Bold" pitchFamily="34" charset="0"/>
            </a:endParaRPr>
          </a:p>
          <a:p>
            <a:pPr>
              <a:lnSpc>
                <a:spcPts val="4200"/>
              </a:lnSpc>
              <a:spcBef>
                <a:spcPts val="2400"/>
              </a:spcBef>
            </a:pPr>
            <a:r>
              <a:rPr lang="uk-UA" sz="3200">
                <a:solidFill>
                  <a:srgbClr val="101010">
                    <a:alpha val="100000"/>
                  </a:srgbClr>
                </a:solidFill>
                <a:latin typeface="e-Ukraine Bold"/>
              </a:rPr>
              <a:t>План дій із розрахунку юніт-економіки продуктів</a:t>
            </a:r>
            <a:endParaRPr lang="uk-UA" sz="3200">
              <a:solidFill>
                <a:srgbClr val="101010">
                  <a:alpha val="100000"/>
                </a:srgbClr>
              </a:solidFill>
              <a:latin typeface="e-Ukraine Bold" pitchFamily="34" charset="0"/>
            </a:endParaRPr>
          </a:p>
          <a:p>
            <a:pPr>
              <a:lnSpc>
                <a:spcPts val="3000"/>
              </a:lnSpc>
              <a:spcBef>
                <a:spcPts val="1800"/>
              </a:spcBef>
            </a:pPr>
            <a:r>
              <a:rPr lang="en-US" sz="2200">
                <a:solidFill>
                  <a:srgbClr val="101010">
                    <a:alpha val="100000"/>
                  </a:srgbClr>
                </a:solidFill>
                <a:latin typeface="e-Ukraine Bold"/>
              </a:rPr>
              <a:t>Серпень 2026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5800" y="1133475"/>
            <a:ext cx="20475575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9600"/>
              </a:lnSpc>
              <a:buNone/>
            </a:pPr>
            <a:r>
              <a:rPr lang="uk-UA" sz="9600" dirty="0">
                <a:solidFill>
                  <a:srgbClr val="101010"/>
                </a:solidFill>
                <a:latin typeface="e-Ukraine Bold"/>
              </a:rPr>
              <a:t>Мета і ключові результати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55800" y="3017520"/>
            <a:ext cx="20475575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4000" dirty="0">
                <a:solidFill>
                  <a:srgbClr val="C00000"/>
                </a:solidFill>
                <a:latin typeface="e-Ukraine Bold"/>
              </a:rPr>
              <a:t>Мета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5800" y="3703320"/>
            <a:ext cx="20475575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400"/>
              </a:lnSpc>
              <a:buNone/>
            </a:pPr>
            <a:r>
              <a:rPr lang="uk-UA" sz="2600" dirty="0">
                <a:solidFill>
                  <a:srgbClr val="101010"/>
                </a:solidFill>
                <a:latin typeface="e-Ukraine Light"/>
              </a:rPr>
              <a:t>Кожна витрата компанії — атрибутована до компонентів продуктів і закладена в ціни. </a:t>
            </a:r>
            <a:r>
              <a:rPr lang="uk-UA" sz="2600" dirty="0">
                <a:solidFill>
                  <a:srgbClr val="101010"/>
                </a:solidFill>
                <a:latin typeface="e-Ukraine Bold"/>
              </a:rPr>
              <a:t>Бачимо реальну маржинальність кожного продукту і керуємо цінами свідомо.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5800" y="5989320"/>
            <a:ext cx="20475575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4000" dirty="0">
                <a:solidFill>
                  <a:srgbClr val="C00000"/>
                </a:solidFill>
                <a:latin typeface="e-Ukraine Bold"/>
              </a:rPr>
              <a:t>Ключові результати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55800" y="6903720"/>
            <a:ext cx="391180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11832" y="7159752"/>
            <a:ext cx="3399739" cy="2880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800"/>
              </a:lnSpc>
              <a:buNone/>
            </a:pPr>
            <a:r>
              <a:rPr lang="uk-UA" sz="3600" dirty="0">
                <a:solidFill>
                  <a:srgbClr val="C00000"/>
                </a:solidFill>
                <a:latin typeface="e-Ukraine Bold"/>
              </a:rPr>
              <a:t>01</a:t>
            </a:r>
          </a:p>
          <a:p>
            <a:pPr>
              <a:lnSpc>
                <a:spcPts val="2300"/>
              </a:lnSpc>
              <a:spcBef>
                <a:spcPts val="500"/>
              </a:spcBef>
              <a:buNone/>
            </a:pPr>
            <a:r>
              <a:rPr lang="uk-UA" sz="2000" dirty="0">
                <a:solidFill>
                  <a:srgbClr val="101010"/>
                </a:solidFill>
                <a:latin typeface="e-Ukraine Bold"/>
              </a:rPr>
              <a:t>Методологія атрибуції</a:t>
            </a:r>
          </a:p>
          <a:p>
            <a:pPr>
              <a:lnSpc>
                <a:spcPts val="2000"/>
              </a:lnSpc>
              <a:spcBef>
                <a:spcPts val="400"/>
              </a:spcBef>
              <a:buNone/>
            </a:pPr>
            <a:r>
              <a:rPr lang="uk-UA" sz="1600" dirty="0">
                <a:solidFill>
                  <a:srgbClr val="595959"/>
                </a:solidFill>
                <a:latin typeface="e-Ukraine Light"/>
              </a:rPr>
              <a:t>4 моделі рознесення витрат, погоджені з фінансами та керівниками відділів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203" y="6903720"/>
            <a:ext cx="391180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2235" y="7159752"/>
            <a:ext cx="3399739" cy="2880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800"/>
              </a:lnSpc>
              <a:buNone/>
            </a:pPr>
            <a:r>
              <a:rPr lang="uk-UA" sz="3600" dirty="0">
                <a:solidFill>
                  <a:srgbClr val="C00000"/>
                </a:solidFill>
                <a:latin typeface="e-Ukraine Bold"/>
              </a:rPr>
              <a:t>02</a:t>
            </a:r>
          </a:p>
          <a:p>
            <a:pPr>
              <a:lnSpc>
                <a:spcPts val="2300"/>
              </a:lnSpc>
              <a:spcBef>
                <a:spcPts val="500"/>
              </a:spcBef>
              <a:buNone/>
            </a:pPr>
            <a:r>
              <a:rPr lang="uk-UA" sz="2000" dirty="0">
                <a:solidFill>
                  <a:srgbClr val="101010"/>
                </a:solidFill>
                <a:latin typeface="e-Ukraine Bold"/>
              </a:rPr>
              <a:t>Бейзлайн собівартості</a:t>
            </a:r>
          </a:p>
          <a:p>
            <a:pPr>
              <a:lnSpc>
                <a:spcPts val="2000"/>
              </a:lnSpc>
              <a:spcBef>
                <a:spcPts val="400"/>
              </a:spcBef>
              <a:buNone/>
            </a:pPr>
            <a:r>
              <a:rPr lang="uk-UA" sz="1600" dirty="0">
                <a:solidFill>
                  <a:srgbClr val="595959"/>
                </a:solidFill>
                <a:latin typeface="e-Ukraine Light"/>
              </a:rPr>
              <a:t>Собівартість і маржинальність кожного компонента та продукту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36606" y="6903720"/>
            <a:ext cx="391180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92638" y="7159752"/>
            <a:ext cx="3399739" cy="2880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800"/>
              </a:lnSpc>
              <a:buNone/>
            </a:pPr>
            <a:r>
              <a:rPr lang="uk-UA" sz="3600" dirty="0">
                <a:solidFill>
                  <a:srgbClr val="C00000"/>
                </a:solidFill>
                <a:latin typeface="e-Ukraine Bold"/>
              </a:rPr>
              <a:t>03</a:t>
            </a:r>
          </a:p>
          <a:p>
            <a:pPr>
              <a:lnSpc>
                <a:spcPts val="2300"/>
              </a:lnSpc>
              <a:spcBef>
                <a:spcPts val="500"/>
              </a:spcBef>
              <a:buNone/>
            </a:pPr>
            <a:r>
              <a:rPr lang="uk-UA" sz="2000" dirty="0">
                <a:solidFill>
                  <a:srgbClr val="101010"/>
                </a:solidFill>
                <a:latin typeface="e-Ukraine Bold"/>
              </a:rPr>
              <a:t>Реальна профітабельність</a:t>
            </a:r>
          </a:p>
          <a:p>
            <a:pPr>
              <a:lnSpc>
                <a:spcPts val="2000"/>
              </a:lnSpc>
              <a:spcBef>
                <a:spcPts val="400"/>
              </a:spcBef>
              <a:buNone/>
            </a:pPr>
            <a:r>
              <a:rPr lang="uk-UA" sz="1600" dirty="0">
                <a:solidFill>
                  <a:srgbClr val="595959"/>
                </a:solidFill>
                <a:latin typeface="e-Ukraine Light"/>
              </a:rPr>
              <a:t>Фактична прибутковість продуктів сьогодні — на основі бейзлайну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377009" y="6903720"/>
            <a:ext cx="391180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3041" y="7159752"/>
            <a:ext cx="3399739" cy="2880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800"/>
              </a:lnSpc>
              <a:buNone/>
            </a:pPr>
            <a:r>
              <a:rPr lang="uk-UA" sz="3600" dirty="0">
                <a:solidFill>
                  <a:srgbClr val="C00000"/>
                </a:solidFill>
                <a:latin typeface="e-Ukraine Bold"/>
              </a:rPr>
              <a:t>04</a:t>
            </a:r>
          </a:p>
          <a:p>
            <a:pPr>
              <a:lnSpc>
                <a:spcPts val="2300"/>
              </a:lnSpc>
              <a:spcBef>
                <a:spcPts val="500"/>
              </a:spcBef>
              <a:buNone/>
            </a:pPr>
            <a:r>
              <a:rPr lang="uk-UA" sz="2000" dirty="0">
                <a:solidFill>
                  <a:srgbClr val="101010"/>
                </a:solidFill>
                <a:latin typeface="e-Ukraine Bold"/>
              </a:rPr>
              <a:t>Пропозиції щодо цін</a:t>
            </a:r>
          </a:p>
          <a:p>
            <a:pPr>
              <a:lnSpc>
                <a:spcPts val="2000"/>
              </a:lnSpc>
              <a:spcBef>
                <a:spcPts val="400"/>
              </a:spcBef>
              <a:buNone/>
            </a:pPr>
            <a:r>
              <a:rPr lang="uk-UA" sz="1600" dirty="0">
                <a:solidFill>
                  <a:srgbClr val="595959"/>
                </a:solidFill>
                <a:latin typeface="e-Ukraine Light"/>
              </a:rPr>
              <a:t>Перегляд цін там, де маржа не відповідає цільовій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517412" y="6903720"/>
            <a:ext cx="3911803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773444" y="7159752"/>
            <a:ext cx="3399739" cy="2880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800"/>
              </a:lnSpc>
              <a:buNone/>
            </a:pPr>
            <a:r>
              <a:rPr lang="uk-UA" sz="3600" dirty="0">
                <a:solidFill>
                  <a:srgbClr val="C00000"/>
                </a:solidFill>
                <a:latin typeface="e-Ukraine Bold"/>
              </a:rPr>
              <a:t>05</a:t>
            </a:r>
          </a:p>
          <a:p>
            <a:pPr>
              <a:lnSpc>
                <a:spcPts val="2300"/>
              </a:lnSpc>
              <a:spcBef>
                <a:spcPts val="500"/>
              </a:spcBef>
              <a:buNone/>
            </a:pPr>
            <a:r>
              <a:rPr lang="uk-UA" sz="2000" dirty="0">
                <a:solidFill>
                  <a:srgbClr val="101010"/>
                </a:solidFill>
                <a:latin typeface="e-Ukraine Bold"/>
              </a:rPr>
              <a:t>Постійний облік</a:t>
            </a:r>
          </a:p>
          <a:p>
            <a:pPr>
              <a:lnSpc>
                <a:spcPts val="2000"/>
              </a:lnSpc>
              <a:spcBef>
                <a:spcPts val="400"/>
              </a:spcBef>
              <a:buNone/>
            </a:pPr>
            <a:r>
              <a:rPr lang="uk-UA" sz="1600" dirty="0">
                <a:solidFill>
                  <a:srgbClr val="595959"/>
                </a:solidFill>
                <a:latin typeface="e-Ukraine Light"/>
              </a:rPr>
              <a:t>Модель обліку годин і витрат: дашборди, актуальні дані в CRM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5800" y="1133475"/>
            <a:ext cx="20475575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9600"/>
              </a:lnSpc>
              <a:buNone/>
            </a:pPr>
            <a:r>
              <a:rPr lang="uk-UA" sz="9600" dirty="0">
                <a:solidFill>
                  <a:srgbClr val="101010"/>
                </a:solidFill>
                <a:latin typeface="e-Ukraine Bold"/>
              </a:rPr>
              <a:t>Мета і ключові результати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55800" y="2743200"/>
            <a:ext cx="20475575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500"/>
              </a:lnSpc>
              <a:buNone/>
            </a:pPr>
            <a:r>
              <a:rPr lang="uk-UA" sz="2100" dirty="0">
                <a:solidFill>
                  <a:srgbClr val="595959"/>
                </a:solidFill>
                <a:latin typeface="e-Ukraine Light"/>
              </a:rPr>
              <a:t>Вихідний артефакт проєкту — розрахункова таблиця по кожному компоненту: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55800" y="3566160"/>
          <a:ext cx="20473416" cy="2734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uk-UA" sz="1400" dirty="0">
                          <a:solidFill>
                            <a:srgbClr val="101010"/>
                          </a:solidFill>
                          <a:latin typeface="e-Ukraine Bold"/>
                        </a:rPr>
                        <a:t>Компонент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uk-UA" sz="1400" dirty="0">
                          <a:solidFill>
                            <a:srgbClr val="FFFFFF"/>
                          </a:solidFill>
                          <a:latin typeface="e-Ukraine Bold"/>
                        </a:rPr>
                        <a:t>COGS, грн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uk-UA" sz="1400" dirty="0">
                          <a:solidFill>
                            <a:srgbClr val="FFFFFF"/>
                          </a:solidFill>
                          <a:latin typeface="e-Ukraine Bold"/>
                        </a:rPr>
                        <a:t>CAC, грн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uk-UA" sz="1400" dirty="0">
                          <a:solidFill>
                            <a:srgbClr val="FFFFFF"/>
                          </a:solidFill>
                          <a:latin typeface="e-Ukraine Bold"/>
                        </a:rPr>
                        <a:t>Загальні, грн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uk-UA" sz="1400" dirty="0">
                          <a:solidFill>
                            <a:srgbClr val="101010"/>
                          </a:solidFill>
                          <a:latin typeface="e-Ukraine Bold"/>
                        </a:rPr>
                        <a:t>Поточна ціна, грн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uk-UA" sz="1400" dirty="0">
                          <a:solidFill>
                            <a:srgbClr val="FFFFFF"/>
                          </a:solidFill>
                          <a:latin typeface="e-Ukraine Bold"/>
                        </a:rPr>
                        <a:t>Прибуток зараз, грн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uk-UA" sz="1400" dirty="0">
                          <a:solidFill>
                            <a:srgbClr val="FFFFFF"/>
                          </a:solidFill>
                          <a:latin typeface="e-Ukraine Bold"/>
                        </a:rPr>
                        <a:t>Прибуток зараз, %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uk-UA" sz="1400" dirty="0">
                          <a:solidFill>
                            <a:srgbClr val="FFFFFF"/>
                          </a:solidFill>
                          <a:latin typeface="e-Ukraine Bold"/>
                        </a:rPr>
                        <a:t>Мін. прибутковість, %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uk-UA" sz="1400" dirty="0">
                          <a:solidFill>
                            <a:srgbClr val="FFFFFF"/>
                          </a:solidFill>
                          <a:latin typeface="e-Ukraine Bold"/>
                        </a:rPr>
                        <a:t>Нова ціна, грн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uk-UA" sz="1400" dirty="0">
                          <a:solidFill>
                            <a:srgbClr val="FFFFFF"/>
                          </a:solidFill>
                          <a:latin typeface="e-Ukraine Bold"/>
                        </a:rPr>
                        <a:t>Зміна ціни, %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uk-UA" sz="1400" dirty="0">
                          <a:solidFill>
                            <a:srgbClr val="FFFFFF"/>
                          </a:solidFill>
                          <a:latin typeface="e-Ukraine Bold"/>
                        </a:rPr>
                        <a:t>Мін. ціна продажу, грн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Node for Private Cloud on VMware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30 000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4 000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6 000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45 000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5 000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11 %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10 %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Bold"/>
                        </a:rPr>
                        <a:t>50 000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Bold"/>
                        </a:rPr>
                        <a:t>+11 %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44 444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vCPU (Public Cloud), 1 GHz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60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10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14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180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96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53 %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10 %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Bold"/>
                        </a:rPr>
                        <a:t>120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Bold"/>
                        </a:rPr>
                        <a:t>−33 %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93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L="73152" marR="73152"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955800" y="6967728"/>
            <a:ext cx="365760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86152" y="6931152"/>
            <a:ext cx="4478813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buNone/>
            </a:pPr>
            <a:r>
              <a:rPr lang="uk-UA" sz="1500" dirty="0">
                <a:solidFill>
                  <a:srgbClr val="101010"/>
                </a:solidFill>
                <a:latin typeface="e-Ukraine Light"/>
              </a:rPr>
              <a:t>Обчислюємо за моделями A1–D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4693" y="6967728"/>
            <a:ext cx="365760" cy="36576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05045" y="6931152"/>
            <a:ext cx="4478813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buNone/>
            </a:pPr>
            <a:r>
              <a:rPr lang="uk-UA" sz="1500" dirty="0">
                <a:solidFill>
                  <a:srgbClr val="101010"/>
                </a:solidFill>
                <a:latin typeface="e-Ukraine Light"/>
              </a:rPr>
              <a:t>Вже пораховано — перевіримо повторно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3587" y="6967728"/>
            <a:ext cx="365760" cy="36576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723939" y="6931152"/>
            <a:ext cx="4478813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buNone/>
            </a:pPr>
            <a:r>
              <a:rPr lang="uk-UA" sz="1500" dirty="0">
                <a:solidFill>
                  <a:srgbClr val="101010"/>
                </a:solidFill>
                <a:latin typeface="e-Ukraine Light"/>
              </a:rPr>
              <a:t>Фіксовано на час проєкту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12481" y="6967728"/>
            <a:ext cx="365760" cy="36576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842833" y="6931152"/>
            <a:ext cx="4478813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buNone/>
            </a:pPr>
            <a:r>
              <a:rPr lang="uk-UA" sz="1500" dirty="0">
                <a:solidFill>
                  <a:srgbClr val="101010"/>
                </a:solidFill>
                <a:latin typeface="e-Ukraine Light"/>
              </a:rPr>
              <a:t>Політичне рішення проєкту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5800" y="8092440"/>
            <a:ext cx="20475575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1800" dirty="0">
                <a:solidFill>
                  <a:srgbClr val="C00000"/>
                </a:solidFill>
                <a:latin typeface="e-Ukraine Bold"/>
              </a:rPr>
              <a:t>Як читати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5800" y="8641080"/>
            <a:ext cx="20475575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lnSpc>
                <a:spcPts val="2050"/>
              </a:lnSpc>
              <a:spcBef>
                <a:spcPts val="300"/>
              </a:spcBef>
              <a:buFont typeface="Arial"/>
              <a:buChar char="•"/>
            </a:pPr>
            <a:r>
              <a:rPr lang="uk-UA" sz="1700" dirty="0">
                <a:solidFill>
                  <a:srgbClr val="101010"/>
                </a:solidFill>
                <a:latin typeface="e-Ukraine Light"/>
              </a:rPr>
              <a:t>Прибуток зараз = поточна ціна − COGS − CAC − загальні витрати (грн і % від поточної ціни).</a:t>
            </a:r>
          </a:p>
          <a:p>
            <a:pPr marL="342900" indent="-342900">
              <a:lnSpc>
                <a:spcPts val="2050"/>
              </a:lnSpc>
              <a:spcBef>
                <a:spcPts val="300"/>
              </a:spcBef>
              <a:buFont typeface="Arial"/>
              <a:buChar char="•"/>
            </a:pPr>
            <a:r>
              <a:rPr lang="uk-UA" sz="1700" dirty="0">
                <a:solidFill>
                  <a:srgbClr val="101010"/>
                </a:solidFill>
                <a:latin typeface="e-Ukraine Light"/>
              </a:rPr>
              <a:t>CAC і загальні — за моделями атрибуції; one-time частини приведені до місяця через customer lifetime.</a:t>
            </a:r>
          </a:p>
          <a:p>
            <a:pPr marL="342900" indent="-342900">
              <a:lnSpc>
                <a:spcPts val="2050"/>
              </a:lnSpc>
              <a:spcBef>
                <a:spcPts val="300"/>
              </a:spcBef>
              <a:buFont typeface="Arial"/>
              <a:buChar char="•"/>
            </a:pPr>
            <a:r>
              <a:rPr lang="uk-UA" sz="1700" dirty="0">
                <a:solidFill>
                  <a:srgbClr val="101010"/>
                </a:solidFill>
                <a:latin typeface="e-Ukraine Light"/>
              </a:rPr>
              <a:t>Мін. прибутковість — % від фактичної ціни продажу (не прайсової: можливі знижки); погоджують CFO, CEO, CBDO.</a:t>
            </a:r>
          </a:p>
          <a:p>
            <a:pPr marL="342900" indent="-342900">
              <a:lnSpc>
                <a:spcPts val="2050"/>
              </a:lnSpc>
              <a:spcBef>
                <a:spcPts val="300"/>
              </a:spcBef>
              <a:buFont typeface="Arial"/>
              <a:buChar char="•"/>
            </a:pPr>
            <a:r>
              <a:rPr lang="uk-UA" sz="1700" dirty="0">
                <a:solidFill>
                  <a:srgbClr val="101010"/>
                </a:solidFill>
                <a:latin typeface="e-Ukraine Light"/>
              </a:rPr>
              <a:t>Мін. ціна продажу = (COGS + CAC + загальні) ÷ (1 − мін. прибутковість) — нижня межа для будь-якої знижки.</a:t>
            </a:r>
          </a:p>
          <a:p>
            <a:pPr marL="342900" indent="-342900">
              <a:lnSpc>
                <a:spcPts val="2050"/>
              </a:lnSpc>
              <a:spcBef>
                <a:spcPts val="300"/>
              </a:spcBef>
              <a:buFont typeface="Arial"/>
              <a:buChar char="•"/>
            </a:pPr>
            <a:r>
              <a:rPr lang="uk-UA" sz="1700" dirty="0">
                <a:solidFill>
                  <a:srgbClr val="101010"/>
                </a:solidFill>
                <a:latin typeface="e-Ukraine Light"/>
              </a:rPr>
              <a:t>Нова ціна — розрахунок за цільовою прибутковістю; зміна ціни — відносно поточної. Цифри в таблиці ілюстративні.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5800" y="1133475"/>
            <a:ext cx="20475575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9600"/>
              </a:lnSpc>
              <a:buNone/>
            </a:pPr>
            <a:r>
              <a:rPr lang="uk-UA" sz="9600" dirty="0">
                <a:solidFill>
                  <a:srgbClr val="101010"/>
                </a:solidFill>
                <a:latin typeface="e-Ukraine Bold"/>
              </a:rPr>
              <a:t>Складові ціни компонента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81585" y="2687955"/>
            <a:ext cx="92354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uk-UA" sz="2800" dirty="0">
                <a:solidFill>
                  <a:srgbClr val="C00000"/>
                </a:solidFill>
                <a:latin typeface="e-Ukraine Bold"/>
              </a:rPr>
              <a:t>Ціна компонента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56432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uk-UA" b="1" dirty="0">
                <a:solidFill>
                  <a:srgbClr val="595959"/>
                </a:solidFill>
                <a:latin typeface="e-Ukraine Light"/>
              </a:rPr>
              <a:t>Спрощено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456432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uk-UA" b="1" dirty="0">
                <a:solidFill>
                  <a:srgbClr val="595959"/>
                </a:solidFill>
                <a:latin typeface="e-Ukraine Light"/>
              </a:rPr>
              <a:t>Повна розбивка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8183880"/>
            <a:ext cx="3200400" cy="32918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ts val="1950"/>
              </a:lnSpc>
              <a:buNone/>
            </a:pPr>
            <a:r>
              <a:rPr lang="uk-UA" sz="2000" dirty="0">
                <a:solidFill>
                  <a:srgbClr val="FFFFFF"/>
                </a:solidFill>
                <a:latin typeface="e-Ukraine Bold"/>
              </a:rPr>
              <a:t>Собівартість </a:t>
            </a:r>
          </a:p>
          <a:p>
            <a:pPr algn="ctr">
              <a:lnSpc>
                <a:spcPts val="1950"/>
              </a:lnSpc>
              <a:buNone/>
            </a:pPr>
            <a:r>
              <a:rPr lang="uk-UA" sz="2000" dirty="0">
                <a:solidFill>
                  <a:srgbClr val="FFFFFF"/>
                </a:solidFill>
                <a:latin typeface="e-Ukraine Bold"/>
              </a:rPr>
              <a:t>(COGS)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6336792"/>
            <a:ext cx="3200400" cy="173736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ts val="1950"/>
              </a:lnSpc>
              <a:buNone/>
            </a:pPr>
            <a:r>
              <a:rPr lang="uk-UA" sz="2000" dirty="0">
                <a:solidFill>
                  <a:srgbClr val="FFFFFF"/>
                </a:solidFill>
                <a:latin typeface="e-Ukraine Bold"/>
              </a:rPr>
              <a:t>Витрати на збут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4901184"/>
            <a:ext cx="3200400" cy="13258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ts val="1950"/>
              </a:lnSpc>
              <a:buNone/>
            </a:pPr>
            <a:r>
              <a:rPr lang="uk-UA" sz="2000" dirty="0">
                <a:solidFill>
                  <a:srgbClr val="101010"/>
                </a:solidFill>
                <a:latin typeface="e-Ukraine Bold"/>
              </a:rPr>
              <a:t>Загальні витрати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3739896"/>
            <a:ext cx="3200400" cy="105156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ts val="1950"/>
              </a:lnSpc>
              <a:buNone/>
            </a:pPr>
            <a:r>
              <a:rPr lang="uk-UA" sz="2000" dirty="0">
                <a:solidFill>
                  <a:srgbClr val="FFFFFF"/>
                </a:solidFill>
                <a:latin typeface="e-Ukraine Bold"/>
              </a:rPr>
              <a:t>Прибуток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0442448"/>
            <a:ext cx="3200400" cy="1033271"/>
          </a:xfrm>
          <a:prstGeom prst="rect">
            <a:avLst/>
          </a:prstGeom>
          <a:solidFill>
            <a:srgbClr val="C000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38160" y="9642348"/>
            <a:ext cx="3200400" cy="768096"/>
          </a:xfrm>
          <a:prstGeom prst="rect">
            <a:avLst/>
          </a:prstGeom>
          <a:solidFill>
            <a:srgbClr val="C00000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9061704"/>
            <a:ext cx="3200400" cy="548640"/>
          </a:xfrm>
          <a:prstGeom prst="rect">
            <a:avLst/>
          </a:prstGeom>
          <a:solidFill>
            <a:srgbClr val="C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8645652"/>
            <a:ext cx="3200400" cy="384048"/>
          </a:xfrm>
          <a:prstGeom prst="rect">
            <a:avLst/>
          </a:prstGeom>
          <a:solidFill>
            <a:srgbClr val="C00000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8183880"/>
            <a:ext cx="3200400" cy="429768"/>
          </a:xfrm>
          <a:prstGeom prst="rect">
            <a:avLst/>
          </a:prstGeom>
          <a:solidFill>
            <a:srgbClr val="C00000">
              <a:alpha val="4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7214616"/>
            <a:ext cx="3200400" cy="859535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6725412"/>
            <a:ext cx="3200400" cy="457199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6336792"/>
            <a:ext cx="3200400" cy="356615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5665208"/>
            <a:ext cx="3200400" cy="56185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5246353"/>
            <a:ext cx="3200400" cy="386851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4901184"/>
            <a:ext cx="3200400" cy="313165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3739896"/>
            <a:ext cx="3200400" cy="105156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567160" y="1078534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500"/>
              </a:lnSpc>
              <a:buNone/>
            </a:pPr>
            <a:r>
              <a:rPr lang="uk-UA" dirty="0">
                <a:solidFill>
                  <a:srgbClr val="101010"/>
                </a:solidFill>
                <a:latin typeface="e-Ukraine Light"/>
              </a:rPr>
              <a:t>Обладнання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67160" y="985266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500"/>
              </a:lnSpc>
              <a:buNone/>
            </a:pPr>
            <a:r>
              <a:rPr lang="uk-UA" dirty="0">
                <a:solidFill>
                  <a:srgbClr val="101010"/>
                </a:solidFill>
                <a:latin typeface="e-Ukraine Light"/>
              </a:rPr>
              <a:t>Ліцензії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67160" y="916228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500"/>
              </a:lnSpc>
              <a:buNone/>
            </a:pPr>
            <a:r>
              <a:rPr lang="uk-UA" dirty="0">
                <a:solidFill>
                  <a:srgbClr val="101010"/>
                </a:solidFill>
                <a:latin typeface="e-Ukraine Light"/>
              </a:rPr>
              <a:t>Колокейшн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67160" y="866394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500"/>
              </a:lnSpc>
              <a:buNone/>
            </a:pPr>
            <a:r>
              <a:rPr lang="uk-UA" dirty="0">
                <a:solidFill>
                  <a:srgbClr val="101010"/>
                </a:solidFill>
                <a:latin typeface="e-Ukraine Light"/>
              </a:rPr>
              <a:t>Канали звʼязку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67160" y="822502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500"/>
              </a:lnSpc>
              <a:buNone/>
            </a:pPr>
            <a:r>
              <a:rPr lang="uk-UA" dirty="0">
                <a:solidFill>
                  <a:srgbClr val="101010"/>
                </a:solidFill>
                <a:latin typeface="e-Ukraine Light"/>
              </a:rPr>
              <a:t>ФОТ доставки і супроводу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67160" y="747064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500"/>
              </a:lnSpc>
              <a:buNone/>
            </a:pPr>
            <a:r>
              <a:rPr lang="uk-UA" dirty="0">
                <a:solidFill>
                  <a:srgbClr val="101010"/>
                </a:solidFill>
                <a:latin typeface="e-Ukraine Light"/>
              </a:rPr>
              <a:t>Sales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67160" y="6780276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500"/>
              </a:lnSpc>
              <a:buNone/>
            </a:pPr>
            <a:r>
              <a:rPr lang="uk-UA" dirty="0">
                <a:solidFill>
                  <a:srgbClr val="101010"/>
                </a:solidFill>
                <a:latin typeface="e-Ukraine Light"/>
              </a:rPr>
              <a:t>Маркетинг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67160" y="634136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500"/>
              </a:lnSpc>
              <a:buNone/>
            </a:pPr>
            <a:r>
              <a:rPr lang="uk-UA" dirty="0">
                <a:solidFill>
                  <a:srgbClr val="101010"/>
                </a:solidFill>
                <a:latin typeface="e-Ukraine Light"/>
              </a:rPr>
              <a:t>Інше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67160" y="577240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500"/>
              </a:lnSpc>
              <a:buNone/>
            </a:pPr>
            <a:r>
              <a:rPr lang="uk-UA" dirty="0">
                <a:solidFill>
                  <a:srgbClr val="101010"/>
                </a:solidFill>
                <a:latin typeface="e-Ukraine Light"/>
              </a:rPr>
              <a:t>ФОТ адміністрації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67160" y="526604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500"/>
              </a:lnSpc>
              <a:buNone/>
            </a:pPr>
            <a:r>
              <a:rPr lang="uk-UA" dirty="0">
                <a:solidFill>
                  <a:srgbClr val="101010"/>
                </a:solidFill>
                <a:latin typeface="e-Ukraine Light"/>
              </a:rPr>
              <a:t>Оренда офісу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67160" y="488403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500"/>
              </a:lnSpc>
              <a:buNone/>
            </a:pPr>
            <a:r>
              <a:rPr lang="uk-UA" dirty="0">
                <a:solidFill>
                  <a:srgbClr val="101010"/>
                </a:solidFill>
                <a:latin typeface="e-Ukraine Light"/>
              </a:rPr>
              <a:t>Інше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67160" y="409194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500"/>
              </a:lnSpc>
              <a:buNone/>
            </a:pPr>
            <a:r>
              <a:rPr lang="uk-UA" dirty="0">
                <a:solidFill>
                  <a:srgbClr val="101010"/>
                </a:solidFill>
                <a:latin typeface="e-Ukraine Light"/>
              </a:rPr>
              <a:t>Прибуток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133320" y="3611880"/>
            <a:ext cx="7298055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 sz="2800"/>
          </a:p>
        </p:txBody>
      </p:sp>
      <p:sp>
        <p:nvSpPr>
          <p:cNvPr id="35" name="Rectangle 34"/>
          <p:cNvSpPr/>
          <p:nvPr/>
        </p:nvSpPr>
        <p:spPr>
          <a:xfrm>
            <a:off x="15389352" y="3913632"/>
            <a:ext cx="411480" cy="41148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16047720" y="3813048"/>
            <a:ext cx="6109335" cy="12070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180"/>
              </a:lnSpc>
              <a:spcAft>
                <a:spcPts val="600"/>
              </a:spcAft>
              <a:buNone/>
            </a:pPr>
            <a:r>
              <a:rPr lang="uk-UA" sz="2400" dirty="0">
                <a:solidFill>
                  <a:srgbClr val="101010"/>
                </a:solidFill>
                <a:latin typeface="e-Ukraine Bold"/>
              </a:rPr>
              <a:t>Прибуток</a:t>
            </a:r>
          </a:p>
          <a:p>
            <a:pPr>
              <a:lnSpc>
                <a:spcPts val="318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uk-UA" sz="2000" dirty="0">
                <a:solidFill>
                  <a:srgbClr val="595959"/>
                </a:solidFill>
                <a:latin typeface="e-Ukraine Light"/>
              </a:rPr>
              <a:t>цільова маржа компонента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133320" y="5367528"/>
            <a:ext cx="7298055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 sz="2800"/>
          </a:p>
        </p:txBody>
      </p:sp>
      <p:sp>
        <p:nvSpPr>
          <p:cNvPr id="38" name="Rectangle 37"/>
          <p:cNvSpPr/>
          <p:nvPr/>
        </p:nvSpPr>
        <p:spPr>
          <a:xfrm>
            <a:off x="15389352" y="5669280"/>
            <a:ext cx="411480" cy="4114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16047720" y="5568696"/>
            <a:ext cx="6109335" cy="12070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180"/>
              </a:lnSpc>
              <a:spcAft>
                <a:spcPts val="600"/>
              </a:spcAft>
              <a:buNone/>
            </a:pPr>
            <a:r>
              <a:rPr lang="uk-UA" sz="2400" dirty="0">
                <a:solidFill>
                  <a:srgbClr val="101010"/>
                </a:solidFill>
                <a:latin typeface="e-Ukraine Bold"/>
              </a:rPr>
              <a:t>Загальні витрати (General)</a:t>
            </a:r>
          </a:p>
          <a:p>
            <a:pPr>
              <a:lnSpc>
                <a:spcPts val="318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uk-UA" sz="2000" dirty="0">
                <a:solidFill>
                  <a:srgbClr val="595959"/>
                </a:solidFill>
                <a:latin typeface="e-Ukraine Light"/>
              </a:rPr>
              <a:t>адміністрація, оренда офісу, інше — модель 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133320" y="7123176"/>
            <a:ext cx="7298055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 sz="2800"/>
          </a:p>
        </p:txBody>
      </p:sp>
      <p:sp>
        <p:nvSpPr>
          <p:cNvPr id="41" name="Rectangle 40"/>
          <p:cNvSpPr/>
          <p:nvPr/>
        </p:nvSpPr>
        <p:spPr>
          <a:xfrm>
            <a:off x="15389352" y="7424927"/>
            <a:ext cx="411480" cy="4114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 sz="2800"/>
          </a:p>
        </p:txBody>
      </p:sp>
      <p:sp>
        <p:nvSpPr>
          <p:cNvPr id="42" name="TextBox 41"/>
          <p:cNvSpPr txBox="1"/>
          <p:nvPr/>
        </p:nvSpPr>
        <p:spPr>
          <a:xfrm>
            <a:off x="16047720" y="7324344"/>
            <a:ext cx="6109335" cy="12070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180"/>
              </a:lnSpc>
              <a:spcAft>
                <a:spcPts val="600"/>
              </a:spcAft>
              <a:buNone/>
            </a:pPr>
            <a:r>
              <a:rPr lang="uk-UA" sz="2400" dirty="0">
                <a:solidFill>
                  <a:srgbClr val="101010"/>
                </a:solidFill>
                <a:latin typeface="e-Ukraine Bold"/>
              </a:rPr>
              <a:t>Витрати на збут</a:t>
            </a:r>
          </a:p>
          <a:p>
            <a:pPr>
              <a:lnSpc>
                <a:spcPts val="318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uk-UA" sz="2000" dirty="0">
                <a:solidFill>
                  <a:srgbClr val="595959"/>
                </a:solidFill>
                <a:latin typeface="e-Ukraine Light"/>
              </a:rPr>
              <a:t>Sales, Маркетинг, інше — моделі B і C; </a:t>
            </a:r>
            <a:r>
              <a:rPr lang="uk-UA" sz="2000" dirty="0" err="1">
                <a:solidFill>
                  <a:srgbClr val="595959"/>
                </a:solidFill>
                <a:latin typeface="e-Ukraine Light"/>
              </a:rPr>
              <a:t>one-time</a:t>
            </a:r>
            <a:r>
              <a:rPr lang="uk-UA" sz="2000" dirty="0">
                <a:solidFill>
                  <a:srgbClr val="595959"/>
                </a:solidFill>
                <a:latin typeface="e-Ukraine Light"/>
              </a:rPr>
              <a:t> — через customer lifetime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133320" y="8878823"/>
            <a:ext cx="7298055" cy="2103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 sz="2800"/>
          </a:p>
        </p:txBody>
      </p:sp>
      <p:sp>
        <p:nvSpPr>
          <p:cNvPr id="44" name="Rectangle 43"/>
          <p:cNvSpPr/>
          <p:nvPr/>
        </p:nvSpPr>
        <p:spPr>
          <a:xfrm>
            <a:off x="15389352" y="9180576"/>
            <a:ext cx="4114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 sz="2800"/>
          </a:p>
        </p:txBody>
      </p:sp>
      <p:sp>
        <p:nvSpPr>
          <p:cNvPr id="45" name="TextBox 44"/>
          <p:cNvSpPr txBox="1"/>
          <p:nvPr/>
        </p:nvSpPr>
        <p:spPr>
          <a:xfrm>
            <a:off x="16047720" y="9079992"/>
            <a:ext cx="6109335" cy="12070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180"/>
              </a:lnSpc>
              <a:spcAft>
                <a:spcPts val="600"/>
              </a:spcAft>
              <a:buNone/>
            </a:pPr>
            <a:r>
              <a:rPr lang="uk-UA" sz="2400" dirty="0">
                <a:solidFill>
                  <a:srgbClr val="101010"/>
                </a:solidFill>
                <a:latin typeface="e-Ukraine Bold"/>
              </a:rPr>
              <a:t>Собівартість (COGS)</a:t>
            </a:r>
          </a:p>
          <a:p>
            <a:pPr>
              <a:lnSpc>
                <a:spcPts val="318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uk-UA" sz="2000" dirty="0">
                <a:solidFill>
                  <a:srgbClr val="595959"/>
                </a:solidFill>
                <a:latin typeface="e-Ukraine Light"/>
              </a:rPr>
              <a:t>закупівлі — обладнання, ліцензії, колокейшн, канали (A2) + ФОТ доставки і супроводу (A1)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55800" y="11841480"/>
            <a:ext cx="17282160" cy="11430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0" rIns="274320" bIns="0" rtlCol="0" anchor="ctr"/>
          <a:lstStyle/>
          <a:p>
            <a:pPr>
              <a:lnSpc>
                <a:spcPts val="2100"/>
              </a:lnSpc>
              <a:buNone/>
            </a:pPr>
            <a:r>
              <a:rPr lang="uk-UA" sz="2400" dirty="0">
                <a:solidFill>
                  <a:srgbClr val="C00000"/>
                </a:solidFill>
                <a:latin typeface="e-Ukraine Bold"/>
              </a:rPr>
              <a:t>Важливо: </a:t>
            </a:r>
            <a:r>
              <a:rPr lang="uk-UA" sz="2400" dirty="0">
                <a:solidFill>
                  <a:srgbClr val="101010"/>
                </a:solidFill>
                <a:latin typeface="e-Ukraine Light"/>
              </a:rPr>
              <a:t>one-time витрати (інсталяція, залучення клієнта) розкладаються на customer lifetime; ongoing — напряму в місячну ціну.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5800" y="1133475"/>
            <a:ext cx="20475575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9600"/>
              </a:lnSpc>
              <a:buNone/>
            </a:pPr>
            <a:r>
              <a:rPr lang="uk-UA" sz="9600" dirty="0">
                <a:solidFill>
                  <a:srgbClr val="101010"/>
                </a:solidFill>
                <a:latin typeface="e-Ukraine Bold"/>
              </a:rPr>
              <a:t>Ключові підходи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55800" y="3274828"/>
            <a:ext cx="6580936" cy="34598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21560" y="3836014"/>
            <a:ext cx="5849416" cy="20482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420"/>
              </a:lnSpc>
              <a:buNone/>
            </a:pPr>
            <a:r>
              <a:rPr lang="uk-UA" sz="3600" dirty="0">
                <a:solidFill>
                  <a:srgbClr val="C00000"/>
                </a:solidFill>
                <a:latin typeface="e-Ukraine Bold"/>
              </a:rPr>
              <a:t>01  </a:t>
            </a:r>
            <a:r>
              <a:rPr lang="uk-UA" sz="2800" dirty="0">
                <a:solidFill>
                  <a:srgbClr val="101010"/>
                </a:solidFill>
                <a:latin typeface="e-Ukraine Bold"/>
              </a:rPr>
              <a:t>Рахуємо від точки 0</a:t>
            </a:r>
          </a:p>
          <a:p>
            <a:pPr>
              <a:lnSpc>
                <a:spcPts val="3420"/>
              </a:lnSpc>
              <a:spcBef>
                <a:spcPts val="600"/>
              </a:spcBef>
              <a:buNone/>
            </a:pPr>
            <a:r>
              <a:rPr lang="uk-UA" sz="2800" dirty="0">
                <a:solidFill>
                  <a:srgbClr val="101010"/>
                </a:solidFill>
                <a:latin typeface="e-Ukraine Light"/>
              </a:rPr>
              <a:t>Юніт-економіка продуктів визначається сьогодні — без огляду на попередню історію.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02496" y="3274828"/>
            <a:ext cx="6580936" cy="34598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68256" y="3836014"/>
            <a:ext cx="5849416" cy="20482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420"/>
              </a:lnSpc>
              <a:buNone/>
            </a:pPr>
            <a:r>
              <a:rPr lang="uk-UA" sz="3600" dirty="0">
                <a:solidFill>
                  <a:srgbClr val="C00000"/>
                </a:solidFill>
                <a:latin typeface="e-Ukraine Bold"/>
              </a:rPr>
              <a:t>02  </a:t>
            </a:r>
            <a:r>
              <a:rPr lang="uk-UA" sz="2800" dirty="0">
                <a:solidFill>
                  <a:srgbClr val="101010"/>
                </a:solidFill>
                <a:latin typeface="e-Ukraine Bold"/>
              </a:rPr>
              <a:t>Історичні клієнти — фаза 2</a:t>
            </a:r>
          </a:p>
          <a:p>
            <a:pPr>
              <a:lnSpc>
                <a:spcPts val="3420"/>
              </a:lnSpc>
              <a:spcBef>
                <a:spcPts val="600"/>
              </a:spcBef>
              <a:buNone/>
            </a:pPr>
            <a:r>
              <a:rPr lang="uk-UA" sz="2800" dirty="0">
                <a:solidFill>
                  <a:srgbClr val="101010"/>
                </a:solidFill>
                <a:latin typeface="e-Ukraine Light"/>
              </a:rPr>
              <a:t>Аналіз маржинальності наявної бази — окремий проєкт; не блокує нову модель.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849192" y="3274828"/>
            <a:ext cx="6580936" cy="34598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214952" y="3836014"/>
            <a:ext cx="5849416" cy="20482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420"/>
              </a:lnSpc>
              <a:buNone/>
            </a:pPr>
            <a:r>
              <a:rPr lang="uk-UA" sz="3600" dirty="0">
                <a:solidFill>
                  <a:srgbClr val="C00000"/>
                </a:solidFill>
                <a:latin typeface="e-Ukraine Bold"/>
              </a:rPr>
              <a:t>03  </a:t>
            </a:r>
            <a:r>
              <a:rPr lang="uk-UA" sz="2800" dirty="0">
                <a:solidFill>
                  <a:srgbClr val="101010"/>
                </a:solidFill>
                <a:latin typeface="e-Ukraine Bold"/>
              </a:rPr>
              <a:t>Всі витрати — в компоненти</a:t>
            </a:r>
          </a:p>
          <a:p>
            <a:pPr>
              <a:lnSpc>
                <a:spcPts val="3420"/>
              </a:lnSpc>
              <a:spcBef>
                <a:spcPts val="600"/>
              </a:spcBef>
              <a:buNone/>
            </a:pPr>
            <a:r>
              <a:rPr lang="uk-UA" sz="2800" dirty="0">
                <a:solidFill>
                  <a:srgbClr val="101010"/>
                </a:solidFill>
                <a:latin typeface="e-Ukraine Light"/>
              </a:rPr>
              <a:t>Кожна стаття витрат атрибутується до компонентів і в певній пропорції іде в ціну.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55800" y="7073841"/>
            <a:ext cx="6580936" cy="34598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21560" y="7457463"/>
            <a:ext cx="5849416" cy="20482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420"/>
              </a:lnSpc>
              <a:buNone/>
            </a:pPr>
            <a:r>
              <a:rPr lang="uk-UA" sz="3600" dirty="0">
                <a:solidFill>
                  <a:srgbClr val="C00000"/>
                </a:solidFill>
                <a:latin typeface="e-Ukraine Bold"/>
              </a:rPr>
              <a:t>04  </a:t>
            </a:r>
            <a:r>
              <a:rPr lang="uk-UA" sz="2800" dirty="0">
                <a:solidFill>
                  <a:srgbClr val="101010"/>
                </a:solidFill>
                <a:latin typeface="e-Ukraine Bold"/>
              </a:rPr>
              <a:t>Враховуємо customer lifetime</a:t>
            </a:r>
          </a:p>
          <a:p>
            <a:pPr>
              <a:lnSpc>
                <a:spcPts val="3420"/>
              </a:lnSpc>
              <a:spcBef>
                <a:spcPts val="600"/>
              </a:spcBef>
              <a:buNone/>
            </a:pPr>
            <a:r>
              <a:rPr lang="uk-UA" sz="2800" dirty="0">
                <a:solidFill>
                  <a:srgbClr val="101010"/>
                </a:solidFill>
                <a:latin typeface="e-Ukraine Light"/>
              </a:rPr>
              <a:t>Витрати на залучення й утримання клієнта розносяться на термін його життя.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2496" y="7073841"/>
            <a:ext cx="6580936" cy="34598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68256" y="7457463"/>
            <a:ext cx="5849416" cy="20482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420"/>
              </a:lnSpc>
              <a:buNone/>
            </a:pPr>
            <a:r>
              <a:rPr lang="uk-UA" sz="3600" dirty="0">
                <a:solidFill>
                  <a:srgbClr val="C00000"/>
                </a:solidFill>
                <a:latin typeface="e-Ukraine Bold"/>
              </a:rPr>
              <a:t>05  </a:t>
            </a:r>
            <a:r>
              <a:rPr lang="uk-UA" sz="2800" dirty="0">
                <a:solidFill>
                  <a:srgbClr val="101010"/>
                </a:solidFill>
                <a:latin typeface="e-Ukraine Bold"/>
              </a:rPr>
              <a:t>ФОТ зростає разом із lifetime</a:t>
            </a:r>
          </a:p>
          <a:p>
            <a:pPr>
              <a:lnSpc>
                <a:spcPts val="3420"/>
              </a:lnSpc>
              <a:spcBef>
                <a:spcPts val="600"/>
              </a:spcBef>
              <a:buNone/>
            </a:pPr>
            <a:r>
              <a:rPr lang="uk-UA" sz="2800" dirty="0">
                <a:solidFill>
                  <a:srgbClr val="101010"/>
                </a:solidFill>
                <a:latin typeface="e-Ukraine Light"/>
              </a:rPr>
              <a:t>У lifetime закладаємо зростання ФОТ — готові піднімати ціни в разі зростання курсів.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849192" y="7073841"/>
            <a:ext cx="6580936" cy="34598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214952" y="7457463"/>
            <a:ext cx="5849416" cy="20482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420"/>
              </a:lnSpc>
              <a:buNone/>
            </a:pPr>
            <a:r>
              <a:rPr lang="uk-UA" sz="3600" dirty="0">
                <a:solidFill>
                  <a:srgbClr val="C00000"/>
                </a:solidFill>
                <a:latin typeface="e-Ukraine Bold"/>
              </a:rPr>
              <a:t>06  </a:t>
            </a:r>
            <a:r>
              <a:rPr lang="uk-UA" sz="2800" dirty="0">
                <a:solidFill>
                  <a:srgbClr val="101010"/>
                </a:solidFill>
                <a:latin typeface="e-Ukraine Bold"/>
              </a:rPr>
              <a:t>Бейзлайн, потім точність</a:t>
            </a:r>
          </a:p>
          <a:p>
            <a:pPr>
              <a:lnSpc>
                <a:spcPts val="3420"/>
              </a:lnSpc>
              <a:spcBef>
                <a:spcPts val="600"/>
              </a:spcBef>
              <a:buNone/>
            </a:pPr>
            <a:r>
              <a:rPr lang="uk-UA" sz="2800" dirty="0">
                <a:solidFill>
                  <a:srgbClr val="101010"/>
                </a:solidFill>
                <a:latin typeface="e-Ukraine Light"/>
              </a:rPr>
              <a:t>100% точного обліку немає: фіксуємо бейзлайн, далі покращуємо якість обліку і цифр.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5800" y="1133475"/>
            <a:ext cx="20475575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9600"/>
              </a:lnSpc>
              <a:buNone/>
            </a:pPr>
            <a:r>
              <a:rPr lang="uk-UA" sz="9600" dirty="0">
                <a:solidFill>
                  <a:srgbClr val="101010"/>
                </a:solidFill>
                <a:latin typeface="e-Ukraine Bold"/>
              </a:rPr>
              <a:t>Моделі атрибуції витрат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55800" y="3520440"/>
            <a:ext cx="4937760" cy="7306056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0664" y="3575304"/>
            <a:ext cx="4828032" cy="548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uk-UA" sz="2000" dirty="0">
                <a:solidFill>
                  <a:srgbClr val="FFFFFF"/>
                </a:solidFill>
                <a:latin typeface="e-Ukraine Bold"/>
              </a:rPr>
              <a:t>Собівартість (COGS)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47267" y="3520440"/>
            <a:ext cx="9692640" cy="7306056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02131" y="3575304"/>
            <a:ext cx="9582912" cy="54864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uk-UA" sz="2000" dirty="0">
                <a:solidFill>
                  <a:srgbClr val="FFFFFF"/>
                </a:solidFill>
                <a:latin typeface="e-Ukraine Bold"/>
              </a:rPr>
              <a:t>Витрати на збут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493614" y="3520440"/>
            <a:ext cx="4937760" cy="7306056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548478" y="3575304"/>
            <a:ext cx="482803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uk-UA" sz="2000" dirty="0">
                <a:solidFill>
                  <a:srgbClr val="101010"/>
                </a:solidFill>
                <a:latin typeface="e-Ukraine Bold"/>
              </a:rPr>
              <a:t>Загальні витрати (General)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5867" y="4288536"/>
            <a:ext cx="4480560" cy="6355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3611" y="4471416"/>
            <a:ext cx="400507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700"/>
              </a:lnSpc>
              <a:buNone/>
            </a:pPr>
            <a:r>
              <a:rPr lang="uk-UA" sz="3600" dirty="0">
                <a:solidFill>
                  <a:srgbClr val="C00000"/>
                </a:solidFill>
                <a:latin typeface="e-Ukraine Bold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3611" y="5074920"/>
            <a:ext cx="4005072" cy="8046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450"/>
              </a:lnSpc>
              <a:buNone/>
            </a:pPr>
            <a:r>
              <a:rPr lang="uk-UA" sz="2100" dirty="0">
                <a:solidFill>
                  <a:srgbClr val="101010"/>
                </a:solidFill>
                <a:latin typeface="e-Ukraine Bold"/>
              </a:rPr>
              <a:t>Витрати конкретних продуктів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3611" y="5934455"/>
            <a:ext cx="4005072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050"/>
              </a:lnSpc>
              <a:buNone/>
            </a:pPr>
            <a:r>
              <a:rPr lang="uk-UA" sz="1700" dirty="0">
                <a:solidFill>
                  <a:srgbClr val="595959"/>
                </a:solidFill>
                <a:latin typeface="e-Ukraine Light"/>
              </a:rPr>
              <a:t>Sales — залучення клієнтів (CAC)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3611" y="6684264"/>
            <a:ext cx="400507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1600" dirty="0">
                <a:solidFill>
                  <a:srgbClr val="C00000"/>
                </a:solidFill>
                <a:latin typeface="e-Ukraine Bold"/>
              </a:rPr>
              <a:t>Типи витрат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3611" y="7031736"/>
            <a:ext cx="4005072" cy="13167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lnSpc>
                <a:spcPts val="2150"/>
              </a:lnSpc>
              <a:spcBef>
                <a:spcPts val="250"/>
              </a:spcBef>
              <a:buFont typeface="Arial"/>
              <a:buChar char="•"/>
            </a:pPr>
            <a:r>
              <a:rPr lang="uk-UA" sz="1800" dirty="0">
                <a:solidFill>
                  <a:srgbClr val="101010"/>
                </a:solidFill>
                <a:latin typeface="e-Ukraine Light"/>
              </a:rPr>
              <a:t>One-time (новий акаунт) → на lifetime</a:t>
            </a:r>
          </a:p>
          <a:p>
            <a:pPr marL="342900" indent="-342900">
              <a:lnSpc>
                <a:spcPts val="2150"/>
              </a:lnSpc>
              <a:spcBef>
                <a:spcPts val="250"/>
              </a:spcBef>
              <a:buFont typeface="Arial"/>
              <a:buChar char="•"/>
            </a:pPr>
            <a:r>
              <a:rPr lang="en-US" sz="1800" i="1" dirty="0">
                <a:latin typeface="e-Ukraine Light"/>
              </a:rPr>
              <a:t>Growth team – </a:t>
            </a:r>
            <a:r>
              <a:rPr lang="uk-UA" sz="1800" i="1" dirty="0">
                <a:latin typeface="e-Ukraine Light"/>
              </a:rPr>
              <a:t>відкрите питання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3611" y="8421624"/>
            <a:ext cx="400507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1600" dirty="0">
                <a:solidFill>
                  <a:srgbClr val="C00000"/>
                </a:solidFill>
                <a:latin typeface="e-Ukraine Bold"/>
              </a:rPr>
              <a:t>У ціну компонента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3611" y="8769096"/>
            <a:ext cx="4005072" cy="8961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150"/>
              </a:lnSpc>
              <a:buNone/>
            </a:pPr>
            <a:r>
              <a:rPr lang="uk-UA" sz="1800" dirty="0">
                <a:solidFill>
                  <a:srgbClr val="101010"/>
                </a:solidFill>
                <a:latin typeface="e-Ukraine Light"/>
              </a:rPr>
              <a:t>CAC продукту → компоненти за середньою вагою COGS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3611" y="9720072"/>
            <a:ext cx="400507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1600" dirty="0">
                <a:solidFill>
                  <a:srgbClr val="C00000"/>
                </a:solidFill>
                <a:latin typeface="e-Ukraine Bold"/>
              </a:rPr>
              <a:t>Перевірка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3611" y="10049255"/>
            <a:ext cx="4005072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000"/>
              </a:lnSpc>
              <a:buNone/>
            </a:pPr>
            <a:r>
              <a:rPr lang="uk-UA" sz="1700" dirty="0">
                <a:solidFill>
                  <a:srgbClr val="101010"/>
                </a:solidFill>
                <a:latin typeface="e-Ukraine Light"/>
              </a:rPr>
              <a:t>План продажів × ставки vs ФОТ відділу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30747" y="4288536"/>
            <a:ext cx="4480560" cy="6355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568491" y="4471416"/>
            <a:ext cx="400507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700"/>
              </a:lnSpc>
              <a:buNone/>
            </a:pPr>
            <a:r>
              <a:rPr lang="uk-UA" sz="3600" dirty="0">
                <a:solidFill>
                  <a:srgbClr val="C00000"/>
                </a:solidFill>
                <a:latin typeface="e-Ukraine Bold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68491" y="5074920"/>
            <a:ext cx="4005072" cy="8046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450"/>
              </a:lnSpc>
              <a:buNone/>
            </a:pPr>
            <a:r>
              <a:rPr lang="uk-UA" sz="2100" dirty="0">
                <a:solidFill>
                  <a:srgbClr val="101010"/>
                </a:solidFill>
                <a:latin typeface="e-Ukraine Bold"/>
              </a:rPr>
              <a:t>Витрати груп продуктів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68491" y="5934455"/>
            <a:ext cx="4005072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050"/>
              </a:lnSpc>
              <a:buNone/>
            </a:pPr>
            <a:r>
              <a:rPr lang="uk-UA" sz="1700" dirty="0">
                <a:solidFill>
                  <a:srgbClr val="595959"/>
                </a:solidFill>
                <a:latin typeface="e-Ukraine Light"/>
              </a:rPr>
              <a:t>ВОК → група Resell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68491" y="6684264"/>
            <a:ext cx="400507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1600" dirty="0">
                <a:solidFill>
                  <a:srgbClr val="C00000"/>
                </a:solidFill>
                <a:latin typeface="e-Ukraine Bold"/>
              </a:rPr>
              <a:t>Типи витрат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68491" y="7031736"/>
            <a:ext cx="4005072" cy="13167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lnSpc>
                <a:spcPts val="2150"/>
              </a:lnSpc>
              <a:spcBef>
                <a:spcPts val="250"/>
              </a:spcBef>
              <a:buFont typeface="Arial"/>
              <a:buChar char="•"/>
            </a:pPr>
            <a:r>
              <a:rPr lang="uk-UA" sz="1800" dirty="0">
                <a:solidFill>
                  <a:srgbClr val="101010"/>
                </a:solidFill>
                <a:latin typeface="e-Ukraine Light"/>
              </a:rPr>
              <a:t>Ongoing (щомісячні) → у місячну ціну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68491" y="8421624"/>
            <a:ext cx="400507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1600" dirty="0">
                <a:solidFill>
                  <a:srgbClr val="C00000"/>
                </a:solidFill>
                <a:latin typeface="e-Ukraine Bold"/>
              </a:rPr>
              <a:t>У ціну компонента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68491" y="8769096"/>
            <a:ext cx="4005072" cy="8961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150"/>
              </a:lnSpc>
              <a:buNone/>
            </a:pPr>
            <a:r>
              <a:rPr lang="uk-UA" sz="1800" dirty="0">
                <a:solidFill>
                  <a:srgbClr val="101010"/>
                </a:solidFill>
                <a:latin typeface="e-Ukraine Light"/>
              </a:rPr>
              <a:t>Пул групи → компоненти за середньою вагою COGS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68491" y="9720072"/>
            <a:ext cx="400507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1600" dirty="0">
                <a:solidFill>
                  <a:srgbClr val="C00000"/>
                </a:solidFill>
                <a:latin typeface="e-Ukraine Bold"/>
              </a:rPr>
              <a:t>Перевірка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68491" y="10049255"/>
            <a:ext cx="4005072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000"/>
              </a:lnSpc>
              <a:buNone/>
            </a:pPr>
            <a:r>
              <a:rPr lang="uk-UA" sz="1700" dirty="0">
                <a:solidFill>
                  <a:srgbClr val="101010"/>
                </a:solidFill>
                <a:latin typeface="e-Ukraine Light"/>
              </a:rPr>
              <a:t>Σ по групі за місяць = бюджет відділу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722214" y="4288536"/>
            <a:ext cx="4480560" cy="6355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7959959" y="4471416"/>
            <a:ext cx="400507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3700"/>
              </a:lnSpc>
              <a:buNone/>
            </a:pPr>
            <a:r>
              <a:rPr lang="uk-UA" sz="3600" dirty="0">
                <a:solidFill>
                  <a:srgbClr val="C00000"/>
                </a:solidFill>
                <a:latin typeface="e-Ukraine Bold"/>
              </a:rP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59959" y="5074920"/>
            <a:ext cx="4005072" cy="8046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450"/>
              </a:lnSpc>
              <a:buNone/>
            </a:pPr>
            <a:r>
              <a:rPr lang="uk-UA" sz="2100" dirty="0">
                <a:solidFill>
                  <a:srgbClr val="101010"/>
                </a:solidFill>
                <a:latin typeface="e-Ukraine Bold"/>
              </a:rPr>
              <a:t>Загальні витрати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959959" y="5934455"/>
            <a:ext cx="4005072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050"/>
              </a:lnSpc>
              <a:buNone/>
            </a:pPr>
            <a:r>
              <a:rPr lang="uk-UA" sz="1700" dirty="0">
                <a:solidFill>
                  <a:srgbClr val="595959"/>
                </a:solidFill>
                <a:latin typeface="e-Ukraine Light"/>
              </a:rPr>
              <a:t>CFO, Operations, офіс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959959" y="6684264"/>
            <a:ext cx="400507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1600" dirty="0">
                <a:solidFill>
                  <a:srgbClr val="C00000"/>
                </a:solidFill>
                <a:latin typeface="e-Ukraine Bold"/>
              </a:rPr>
              <a:t>Типи витрат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959959" y="7031736"/>
            <a:ext cx="4005072" cy="13167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lnSpc>
                <a:spcPts val="2150"/>
              </a:lnSpc>
              <a:spcBef>
                <a:spcPts val="250"/>
              </a:spcBef>
              <a:buFont typeface="Arial"/>
              <a:buChar char="•"/>
            </a:pPr>
            <a:r>
              <a:rPr lang="uk-UA" sz="1800" dirty="0">
                <a:solidFill>
                  <a:srgbClr val="101010"/>
                </a:solidFill>
                <a:latin typeface="e-Ukraine Light"/>
              </a:rPr>
              <a:t>Ongoing (постійні) → розподіл на всі продукти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959959" y="8421624"/>
            <a:ext cx="400507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1600" dirty="0">
                <a:solidFill>
                  <a:srgbClr val="C00000"/>
                </a:solidFill>
                <a:latin typeface="e-Ukraine Bold"/>
              </a:rPr>
              <a:t>У ціну компонента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959959" y="8769096"/>
            <a:ext cx="4005072" cy="8961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150"/>
              </a:lnSpc>
              <a:buNone/>
            </a:pPr>
            <a:r>
              <a:rPr lang="uk-UA" sz="1800" dirty="0">
                <a:solidFill>
                  <a:srgbClr val="101010"/>
                </a:solidFill>
                <a:latin typeface="e-Ukraine Light"/>
              </a:rPr>
              <a:t>Погоджена база (тут — % маржі груп) → далі за вагою COGS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959959" y="9720072"/>
            <a:ext cx="400507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1600" dirty="0">
                <a:solidFill>
                  <a:srgbClr val="C00000"/>
                </a:solidFill>
                <a:latin typeface="e-Ukraine Bold"/>
              </a:rPr>
              <a:t>Перевірка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959959" y="10049255"/>
            <a:ext cx="4005072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000"/>
              </a:lnSpc>
              <a:buNone/>
            </a:pPr>
            <a:r>
              <a:rPr lang="uk-UA" sz="1700" dirty="0">
                <a:solidFill>
                  <a:srgbClr val="101010"/>
                </a:solidFill>
                <a:latin typeface="e-Ukraine Light"/>
              </a:rPr>
              <a:t>Σ розподіленого = загальний пул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55800" y="11109960"/>
            <a:ext cx="17282160" cy="11887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0" rIns="274320" bIns="0" rtlCol="0" anchor="ctr"/>
          <a:lstStyle/>
          <a:p>
            <a:pPr>
              <a:lnSpc>
                <a:spcPts val="2006"/>
              </a:lnSpc>
              <a:buNone/>
            </a:pPr>
            <a:r>
              <a:rPr lang="uk-UA" sz="1700" dirty="0">
                <a:solidFill>
                  <a:srgbClr val="C00000"/>
                </a:solidFill>
                <a:latin typeface="e-Ukraine Bold"/>
              </a:rPr>
              <a:t>До рівня компонента: </a:t>
            </a:r>
            <a:r>
              <a:rPr lang="uk-UA" sz="1700" dirty="0">
                <a:solidFill>
                  <a:srgbClr val="101010"/>
                </a:solidFill>
                <a:latin typeface="e-Ukraine Light"/>
              </a:rPr>
              <a:t>атрибуцію рівня продукту чи групи розкладаємо на компоненти за середньою вагою COGS компонента в середній конфігурації продукту. Окремо проаналізуємо, чи рахувати середні конфігурації за сегментами клієнтів окремо (Enterprise vs менший клієнт).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84318" y="4288536"/>
            <a:ext cx="4480560" cy="3035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22062" y="4453128"/>
            <a:ext cx="400507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900"/>
              </a:lnSpc>
              <a:buNone/>
            </a:pPr>
            <a:r>
              <a:rPr lang="uk-UA" sz="2800" dirty="0">
                <a:solidFill>
                  <a:srgbClr val="C00000"/>
                </a:solidFill>
                <a:latin typeface="e-Ukraine Bold"/>
              </a:rPr>
              <a:t>A1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22062" y="4946904"/>
            <a:ext cx="4005072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200"/>
              </a:lnSpc>
              <a:buNone/>
            </a:pPr>
            <a:r>
              <a:rPr lang="uk-UA" sz="1900" dirty="0">
                <a:solidFill>
                  <a:srgbClr val="101010"/>
                </a:solidFill>
                <a:latin typeface="e-Ukraine Bold"/>
              </a:rPr>
              <a:t>Пряма атрибуція FTE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2062" y="5532120"/>
            <a:ext cx="4005072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950"/>
              </a:lnSpc>
              <a:buNone/>
            </a:pPr>
            <a:r>
              <a:rPr lang="uk-UA" sz="1600" dirty="0">
                <a:solidFill>
                  <a:srgbClr val="595959"/>
                </a:solidFill>
                <a:latin typeface="e-Ukraine Light"/>
              </a:rPr>
              <a:t>ФОТ Delivery і Support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2062" y="6135624"/>
            <a:ext cx="400507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1600" dirty="0">
                <a:solidFill>
                  <a:srgbClr val="C00000"/>
                </a:solidFill>
                <a:latin typeface="e-Ukraine Bold"/>
              </a:rPr>
              <a:t>У ціну компонента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22062" y="6446520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050"/>
              </a:lnSpc>
              <a:buNone/>
            </a:pPr>
            <a:r>
              <a:rPr lang="uk-UA" sz="1700" dirty="0">
                <a:solidFill>
                  <a:srgbClr val="101010"/>
                </a:solidFill>
                <a:latin typeface="e-Ukraine Light"/>
              </a:rPr>
              <a:t>FTE-частки × ЗП команд = собівартість компонента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184318" y="7607808"/>
            <a:ext cx="4480560" cy="3035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422062" y="7772400"/>
            <a:ext cx="400507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900"/>
              </a:lnSpc>
              <a:buNone/>
            </a:pPr>
            <a:r>
              <a:rPr lang="uk-UA" sz="2800" dirty="0">
                <a:solidFill>
                  <a:srgbClr val="C00000"/>
                </a:solidFill>
                <a:latin typeface="e-Ukraine Bold"/>
              </a:rPr>
              <a:t>A2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22062" y="8266176"/>
            <a:ext cx="4005072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200"/>
              </a:lnSpc>
              <a:buNone/>
            </a:pPr>
            <a:r>
              <a:rPr lang="uk-UA" sz="1900" dirty="0">
                <a:solidFill>
                  <a:srgbClr val="101010"/>
                </a:solidFill>
                <a:latin typeface="e-Ukraine Bold"/>
              </a:rPr>
              <a:t>Закупівлі у постачальника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2062" y="8851392"/>
            <a:ext cx="4005072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1950"/>
              </a:lnSpc>
              <a:buNone/>
            </a:pPr>
            <a:r>
              <a:rPr lang="uk-UA" sz="1600" dirty="0">
                <a:solidFill>
                  <a:srgbClr val="595959"/>
                </a:solidFill>
                <a:latin typeface="e-Ukraine Light"/>
              </a:rPr>
              <a:t>Cubbit S3 — тарифікація за GB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22062" y="9454896"/>
            <a:ext cx="400507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1600" dirty="0">
                <a:solidFill>
                  <a:srgbClr val="C00000"/>
                </a:solidFill>
                <a:latin typeface="e-Ukraine Bold"/>
              </a:rPr>
              <a:t>У ціну компонента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22062" y="9765792"/>
            <a:ext cx="40050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050"/>
              </a:lnSpc>
              <a:buNone/>
            </a:pPr>
            <a:r>
              <a:rPr lang="uk-UA" sz="1700" dirty="0">
                <a:solidFill>
                  <a:srgbClr val="101010"/>
                </a:solidFill>
                <a:latin typeface="e-Ukraine Light"/>
              </a:rPr>
              <a:t>Units included × ціна юніта = собівартість компонента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5800" y="1133475"/>
            <a:ext cx="20475575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9600"/>
              </a:lnSpc>
              <a:buNone/>
            </a:pPr>
            <a:r>
              <a:rPr lang="uk-UA" sz="9600" dirty="0">
                <a:solidFill>
                  <a:srgbClr val="101010"/>
                </a:solidFill>
                <a:latin typeface="e-Ukraine Bold"/>
              </a:rPr>
              <a:t>Зміни у структурі P&amp;L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55800" y="2743200"/>
            <a:ext cx="20475575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500"/>
              </a:lnSpc>
              <a:buNone/>
            </a:pPr>
            <a:r>
              <a:rPr lang="uk-UA" sz="2000" dirty="0">
                <a:solidFill>
                  <a:srgbClr val="101010"/>
                </a:solidFill>
                <a:latin typeface="e-Ukraine Light"/>
              </a:rPr>
              <a:t>Один рядок P&amp;L може містити витрати різних типів атрибуції. Приклад — </a:t>
            </a:r>
            <a:r>
              <a:rPr lang="uk-UA" sz="2000" dirty="0">
                <a:solidFill>
                  <a:srgbClr val="101010"/>
                </a:solidFill>
                <a:latin typeface="e-Ukraine Bold"/>
              </a:rPr>
              <a:t>2.1.3 «ЗП Відділ Інформаційної Безпеки»</a:t>
            </a:r>
            <a:r>
              <a:rPr lang="uk-UA" sz="2000" dirty="0">
                <a:solidFill>
                  <a:srgbClr val="101010"/>
                </a:solidFill>
                <a:latin typeface="e-Ukraine Light"/>
              </a:rPr>
              <a:t>: проєктні години на продукти безпеки — модель B, загальна безпека компанії — модель 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5800" y="3840480"/>
            <a:ext cx="20475575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1800" dirty="0">
                <a:solidFill>
                  <a:srgbClr val="595959"/>
                </a:solidFill>
                <a:latin typeface="e-Ukraine Bold"/>
              </a:rPr>
              <a:t>Зараз у файлі — один рядок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55800" y="4370832"/>
          <a:ext cx="20473416" cy="2231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9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ts val="1850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101010"/>
                          </a:solidFill>
                          <a:latin typeface="Calibri"/>
                        </a:rPr>
                        <a:t>РАЗОМ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101010"/>
                          </a:solidFill>
                          <a:latin typeface="Calibri"/>
                        </a:rPr>
                        <a:t>АПРЕЛЬ 26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101010"/>
                          </a:solidFill>
                          <a:latin typeface="Calibri"/>
                        </a:rPr>
                        <a:t>МАЙ 26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101010"/>
                          </a:solidFill>
                          <a:latin typeface="Calibri"/>
                        </a:rPr>
                        <a:t>ИЮНЬ 26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101010"/>
                          </a:solidFill>
                          <a:latin typeface="Calibri"/>
                        </a:rPr>
                        <a:t>Attribution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101010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2.1.2   ЗП Департамент розвитку продуктів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2 439 518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797 000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815 000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827 518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101010"/>
                          </a:solidFill>
                          <a:latin typeface="Calibri"/>
                        </a:rPr>
                        <a:t>2.1.3   ЗП Відділ Інформаційної Безпеки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Calibri"/>
                        </a:rPr>
                        <a:t>1 912 936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Calibri"/>
                        </a:rPr>
                        <a:t>610 682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Calibri"/>
                        </a:rPr>
                        <a:t>580 000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Calibri"/>
                        </a:rPr>
                        <a:t>722 254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COGS + GENERAL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B + D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2.1.4   ЗП Відділ білінгу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1 211 460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405 760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402 420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403 280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Down Arrow 5"/>
          <p:cNvSpPr/>
          <p:nvPr/>
        </p:nvSpPr>
        <p:spPr>
          <a:xfrm>
            <a:off x="11557000" y="6711696"/>
            <a:ext cx="685800" cy="594360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55800" y="7406640"/>
            <a:ext cx="20475575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1800" dirty="0">
                <a:solidFill>
                  <a:srgbClr val="595959"/>
                </a:solidFill>
                <a:latin typeface="e-Ukraine Bold"/>
              </a:rPr>
              <a:t>Після — рядок розщеплено за моделями атрибуції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55800" y="7936992"/>
          <a:ext cx="20473416" cy="2798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9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ts val="1850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101010"/>
                          </a:solidFill>
                          <a:latin typeface="Calibri"/>
                        </a:rPr>
                        <a:t>РАЗОМ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101010"/>
                          </a:solidFill>
                          <a:latin typeface="Calibri"/>
                        </a:rPr>
                        <a:t>АПРЕЛЬ 26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101010"/>
                          </a:solidFill>
                          <a:latin typeface="Calibri"/>
                        </a:rPr>
                        <a:t>МАЙ 26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101010"/>
                          </a:solidFill>
                          <a:latin typeface="Calibri"/>
                        </a:rPr>
                        <a:t>ИЮНЬ 26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101010"/>
                          </a:solidFill>
                          <a:latin typeface="Calibri"/>
                        </a:rPr>
                        <a:t>Attribution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101010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2.1.2   ЗП Департамент розвитку продуктів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2 439 518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797 000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815 000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827 518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101010"/>
                          </a:solidFill>
                          <a:latin typeface="Calibri"/>
                        </a:rPr>
                        <a:t>2.1.3.1   ЗП ВІБ — проєкти (продукти безпеки)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COGS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101010"/>
                          </a:solidFill>
                          <a:latin typeface="Calibri"/>
                        </a:rPr>
                        <a:t>2.1.3.2   ЗП ВІБ — загальна безпека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Calibri"/>
                        </a:rPr>
                        <a:t>1 912 936 − X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GENERAL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2.1.4   ЗП Відділ білінгу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1 211 460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405 760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402 420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Calibri"/>
                        </a:rPr>
                        <a:t>403 280</a:t>
                      </a:r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6350" cap="flat">
                      <a:solidFill>
                        <a:srgbClr val="BFBFBF"/>
                      </a:solidFill>
                    </a:lnL>
                    <a:lnR w="6350" cap="flat">
                      <a:solidFill>
                        <a:srgbClr val="BFBFBF"/>
                      </a:solidFill>
                    </a:lnR>
                    <a:lnT w="6350" cap="flat">
                      <a:solidFill>
                        <a:srgbClr val="BFBFBF"/>
                      </a:solidFill>
                    </a:lnT>
                    <a:lnB w="6350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955800" y="10927080"/>
            <a:ext cx="20475575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050"/>
              </a:lnSpc>
              <a:buNone/>
            </a:pPr>
            <a:r>
              <a:rPr lang="uk-UA" sz="1700" dirty="0">
                <a:solidFill>
                  <a:srgbClr val="101010"/>
                </a:solidFill>
                <a:latin typeface="e-Ukraine Bold"/>
              </a:rPr>
              <a:t>X </a:t>
            </a:r>
            <a:r>
              <a:rPr lang="uk-UA" sz="1700" dirty="0">
                <a:solidFill>
                  <a:srgbClr val="595959"/>
                </a:solidFill>
                <a:latin typeface="e-Ukraine Light"/>
              </a:rPr>
              <a:t>— пропорція з обліку годин відділу; сьогодні цих даних немає → запроваджуємо облік годин (крок 4 наступних кроків).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55800" y="11567160"/>
            <a:ext cx="17282160" cy="11430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0" rIns="274320" bIns="0" rtlCol="0" anchor="ctr"/>
          <a:lstStyle/>
          <a:p>
            <a:pPr>
              <a:lnSpc>
                <a:spcPts val="2200"/>
              </a:lnSpc>
              <a:buNone/>
            </a:pPr>
            <a:r>
              <a:rPr lang="uk-UA" sz="1800" dirty="0">
                <a:solidFill>
                  <a:srgbClr val="C00000"/>
                </a:solidFill>
                <a:latin typeface="e-Ukraine Bold"/>
              </a:rPr>
              <a:t>Висновок: </a:t>
            </a:r>
            <a:r>
              <a:rPr lang="uk-UA" sz="1800" dirty="0">
                <a:solidFill>
                  <a:srgbClr val="101010"/>
                </a:solidFill>
                <a:latin typeface="e-Ukraine Light"/>
              </a:rPr>
              <a:t>структуру P&amp;L треба розщепити за типами атрибуції — інакше модель не звести з фінансовою звітністю.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5800" y="1133475"/>
            <a:ext cx="20475575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9600"/>
              </a:lnSpc>
              <a:buNone/>
            </a:pPr>
            <a:r>
              <a:rPr lang="uk-UA" sz="9600" dirty="0">
                <a:solidFill>
                  <a:srgbClr val="101010"/>
                </a:solidFill>
                <a:latin typeface="e-Ukraine Bold"/>
              </a:rPr>
              <a:t>Модель A1 — приклад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55800" y="2788920"/>
            <a:ext cx="20475575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500"/>
              </a:lnSpc>
              <a:buNone/>
            </a:pPr>
            <a:r>
              <a:rPr lang="uk-UA" sz="2100" dirty="0">
                <a:solidFill>
                  <a:srgbClr val="595959"/>
                </a:solidFill>
                <a:latin typeface="e-Ukraine Light"/>
              </a:rPr>
              <a:t>Витрати</a:t>
            </a:r>
            <a:r>
              <a:rPr lang="uk-UA" sz="2100" b="1" dirty="0">
                <a:solidFill>
                  <a:schemeClr val="bg2">
                    <a:lumMod val="90000"/>
                  </a:schemeClr>
                </a:solidFill>
                <a:latin typeface="e-Ukraine Bold"/>
              </a:rPr>
              <a:t> </a:t>
            </a:r>
            <a:r>
              <a:rPr lang="uk-UA" sz="2100" dirty="0">
                <a:solidFill>
                  <a:srgbClr val="595959"/>
                </a:solidFill>
                <a:latin typeface="e-Ukraine Light"/>
              </a:rPr>
              <a:t>атрибутується на компоненти через частки FTE.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55800" y="3794760"/>
          <a:ext cx="20656295" cy="6309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901337">
                <a:tc>
                  <a:txBody>
                    <a:bodyPr/>
                    <a:lstStyle/>
                    <a:p>
                      <a:pPr algn="ctr">
                        <a:lnSpc>
                          <a:spcPts val="1456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56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56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ts val="1792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FFFFFF"/>
                          </a:solidFill>
                          <a:latin typeface="e-Ukraine Bold"/>
                        </a:rPr>
                        <a:t>Delivery — FTE на компонент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792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FFFFFF"/>
                          </a:solidFill>
                          <a:latin typeface="e-Ukraine Bold"/>
                        </a:rPr>
                        <a:t>Support — FTE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792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FFFFFF"/>
                          </a:solidFill>
                          <a:latin typeface="e-Ukraine Bold"/>
                        </a:rPr>
                        <a:t>Собівартість ФОТ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337"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Компонент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Категорія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LT, міс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VMware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Openstack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Network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Capacity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Monitoring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Coord &amp; Ops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L1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L2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COGS без LT, у.о.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COGS з LT, у.о./міс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1337">
                <a:tc>
                  <a:txBody>
                    <a:bodyPr/>
                    <a:lstStyle/>
                    <a:p>
                      <a:pPr algn="l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ЗП, у.о./міс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12 000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10 000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8 000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4 000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4 000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4 000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3 000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4 000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1337">
                <a:tc>
                  <a:txBody>
                    <a:bodyPr/>
                    <a:lstStyle/>
                    <a:p>
                      <a:pPr algn="l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L2 Private Line Kyiv–Lviv, 1 Mbit/s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Internet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48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0,05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0,05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0,70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0,05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0,05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0,30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0,70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11 200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233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1337">
                <a:tc>
                  <a:txBody>
                    <a:bodyPr/>
                    <a:lstStyle/>
                    <a:p>
                      <a:pPr algn="l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Node for Private Cloud on VMware (2×16 cores, 256 GB)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VMware nodes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60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0,60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0,30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0,70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12 900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215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1337">
                <a:tc>
                  <a:txBody>
                    <a:bodyPr/>
                    <a:lstStyle/>
                    <a:p>
                      <a:pPr algn="l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101010"/>
                          </a:solidFill>
                          <a:latin typeface="e-Ukraine Light"/>
                        </a:rPr>
                        <a:t>vCPU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E-Cloud resources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48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0,60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0,50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0,50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12 700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265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1338">
                <a:tc>
                  <a:txBody>
                    <a:bodyPr/>
                    <a:lstStyle/>
                    <a:p>
                      <a:pPr algn="l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955800" y="11841480"/>
            <a:ext cx="17282160" cy="12344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0" rIns="274320" bIns="0" rtlCol="0" anchor="ctr"/>
          <a:lstStyle/>
          <a:p>
            <a:pPr>
              <a:lnSpc>
                <a:spcPts val="1950"/>
              </a:lnSpc>
              <a:buNone/>
            </a:pPr>
            <a:r>
              <a:rPr lang="uk-UA" sz="1700" dirty="0">
                <a:solidFill>
                  <a:srgbClr val="C00000"/>
                </a:solidFill>
                <a:latin typeface="e-Ukraine Bold"/>
              </a:rPr>
              <a:t>Механіка: </a:t>
            </a:r>
            <a:r>
              <a:rPr lang="uk-UA" sz="1700" dirty="0">
                <a:solidFill>
                  <a:srgbClr val="101010"/>
                </a:solidFill>
                <a:latin typeface="e-Ukraine Light"/>
              </a:rPr>
              <a:t>COGS без LT = Σ (FTE × ЗП команди). One-time частина (інсталяція) розкладається на customer lifetime → колонка «з LT». Цифри ілюстративні (аркуш Models, блок Model 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5800" y="1133475"/>
            <a:ext cx="20475575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9600"/>
              </a:lnSpc>
              <a:buNone/>
            </a:pPr>
            <a:r>
              <a:rPr lang="uk-UA" sz="9600" dirty="0">
                <a:solidFill>
                  <a:srgbClr val="101010"/>
                </a:solidFill>
                <a:latin typeface="e-Ukraine Bold"/>
              </a:rPr>
              <a:t>Модель A2 — приклад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55800" y="2788920"/>
            <a:ext cx="20475575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500"/>
              </a:lnSpc>
              <a:buNone/>
            </a:pPr>
            <a:r>
              <a:rPr lang="uk-UA" sz="2100" dirty="0">
                <a:solidFill>
                  <a:srgbClr val="595959"/>
                </a:solidFill>
                <a:latin typeface="e-Ukraine Light"/>
              </a:rPr>
              <a:t>Прямі закупівлі в собівартість: скільки юнітів постачальника входить в один проданий компонент.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462681"/>
              </p:ext>
            </p:extLst>
          </p:nvPr>
        </p:nvGraphicFramePr>
        <p:xfrm>
          <a:off x="1955800" y="3931920"/>
          <a:ext cx="20755344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8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9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9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9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79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l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FFFFFF"/>
                          </a:solidFill>
                          <a:latin typeface="e-Ukraine Bold"/>
                        </a:rPr>
                        <a:t>Компонент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FFFFFF"/>
                          </a:solidFill>
                          <a:latin typeface="e-Ukraine Bold"/>
                        </a:rPr>
                        <a:t>Юніт постачальника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FFFFFF"/>
                          </a:solidFill>
                          <a:latin typeface="e-Ukraine Bold"/>
                        </a:rPr>
                        <a:t>Units included, на 1 компонент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FFFFFF"/>
                          </a:solidFill>
                          <a:latin typeface="e-Ukraine Bold"/>
                        </a:rPr>
                        <a:t>Ціна юніта, ₴/міс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FFFFFF"/>
                          </a:solidFill>
                          <a:latin typeface="e-Ukraine Bold"/>
                        </a:rPr>
                        <a:t>COGS = units × ціна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Light"/>
                        </a:rPr>
                        <a:t>Cubbit S3 Storage, 10 TB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Light"/>
                        </a:rPr>
                        <a:t>1 GB — погігабайтна тарифікація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Light"/>
                        </a:rPr>
                        <a:t>10 000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Light"/>
                        </a:rPr>
                        <a:t>0,35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3 500 ₴ ≈ €72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5800" y="7589520"/>
            <a:ext cx="17275175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550"/>
              </a:lnSpc>
              <a:buNone/>
            </a:pPr>
            <a:r>
              <a:rPr lang="uk-UA" sz="2000" dirty="0">
                <a:solidFill>
                  <a:srgbClr val="101010"/>
                </a:solidFill>
                <a:latin typeface="e-Ukraine Bold"/>
              </a:rPr>
              <a:t>Механіка: </a:t>
            </a:r>
            <a:r>
              <a:rPr lang="uk-UA" sz="2000" dirty="0">
                <a:solidFill>
                  <a:srgbClr val="101010"/>
                </a:solidFill>
                <a:latin typeface="e-Ukraine Light"/>
              </a:rPr>
              <a:t>компонент = 10 TB = 10 000 GB, постачальник тарифікує кожен GB → units included = 10 000. COGS = 10 000 × 0,35 = 3 500 ₴/міс.</a:t>
            </a:r>
          </a:p>
          <a:p>
            <a:pPr>
              <a:lnSpc>
                <a:spcPts val="2550"/>
              </a:lnSpc>
              <a:spcBef>
                <a:spcPts val="550"/>
              </a:spcBef>
              <a:buNone/>
            </a:pPr>
            <a:r>
              <a:rPr lang="uk-UA" sz="2000" dirty="0">
                <a:solidFill>
                  <a:srgbClr val="101010"/>
                </a:solidFill>
                <a:latin typeface="e-Ukraine Bold"/>
              </a:rPr>
              <a:t>Перевірка: </a:t>
            </a:r>
            <a:r>
              <a:rPr lang="uk-UA" sz="2000" dirty="0">
                <a:solidFill>
                  <a:srgbClr val="101010"/>
                </a:solidFill>
                <a:latin typeface="e-Ukraine Light"/>
              </a:rPr>
              <a:t>Σ (units × ціна юніта) по проданих компонентах ≈ рахунки постачальника за період.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5800" y="1133475"/>
            <a:ext cx="20475575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9600"/>
              </a:lnSpc>
              <a:buNone/>
            </a:pPr>
            <a:r>
              <a:rPr lang="uk-UA" sz="9600" dirty="0">
                <a:solidFill>
                  <a:srgbClr val="101010"/>
                </a:solidFill>
                <a:latin typeface="e-Ukraine Bold"/>
              </a:rPr>
              <a:t>Модель B — приклад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55800" y="2788920"/>
            <a:ext cx="20475575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500"/>
              </a:lnSpc>
              <a:buNone/>
            </a:pPr>
            <a:r>
              <a:rPr lang="uk-UA" sz="2100" dirty="0">
                <a:solidFill>
                  <a:srgbClr val="595959"/>
                </a:solidFill>
                <a:latin typeface="e-Ukraine Light"/>
              </a:rPr>
              <a:t>Витрати атрибутуються на продукти і розкладається на кількість продажів (Jul’25–Jul’26).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55800" y="3794760"/>
          <a:ext cx="20473416" cy="6675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6829">
                <a:tc>
                  <a:txBody>
                    <a:bodyPr/>
                    <a:lstStyle/>
                    <a:p>
                      <a:pPr algn="ctr">
                        <a:lnSpc>
                          <a:spcPts val="1456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56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792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FFFFFF"/>
                          </a:solidFill>
                          <a:latin typeface="e-Ukraine Bold"/>
                        </a:rPr>
                        <a:t>Inbound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792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FFFFFF"/>
                          </a:solidFill>
                          <a:latin typeface="e-Ukraine Bold"/>
                        </a:rPr>
                        <a:t>Outbound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792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FFFFFF"/>
                          </a:solidFill>
                          <a:latin typeface="e-Ukraine Bold"/>
                        </a:rPr>
                        <a:t>Enterprise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792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FFFFFF"/>
                          </a:solidFill>
                          <a:latin typeface="e-Ukraine Bold"/>
                        </a:rPr>
                        <a:t>Вартість залучення (CAC)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Продукт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LT, міс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FTE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Продажі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FTE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Продажі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FTE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Продажі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CAC без LT, у.о.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CAC з LT, у.о./міс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pPr algn="l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ЗП каналу, у.о./міс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12 000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24 000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r>
                        <a:rPr lang="uk-UA" sz="1600" dirty="0">
                          <a:solidFill>
                            <a:srgbClr val="595959"/>
                          </a:solidFill>
                          <a:latin typeface="e-Ukraine Light"/>
                        </a:rPr>
                        <a:t>18 000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Private Cloud on VMware / vSAN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60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1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0,40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320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5,3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Private Cloud on Azure Local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60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1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0,20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2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350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5,8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Private Cloud on Openstack HCI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60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0,05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0,20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2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150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2,5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Public Cloud on VMware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48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0,35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24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0,40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30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56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1,2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Public Cloud on Openstack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36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0,50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50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0,20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15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0,05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44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1,2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MS365 license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24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12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0,10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12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0,02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3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35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1,5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Architect services, 1 год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1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0,05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3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0,05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3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0,03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3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65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65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06830"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595959"/>
                          </a:solidFill>
                          <a:latin typeface="e-Ukraine Light"/>
                        </a:rPr>
                        <a:t>…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955800" y="10982325"/>
            <a:ext cx="17282160" cy="1600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0" rIns="274320" bIns="0" rtlCol="0" anchor="ctr"/>
          <a:lstStyle/>
          <a:p>
            <a:pPr>
              <a:lnSpc>
                <a:spcPts val="2006"/>
              </a:lnSpc>
              <a:spcBef>
                <a:spcPts val="350"/>
              </a:spcBef>
              <a:buNone/>
            </a:pPr>
            <a:r>
              <a:rPr lang="uk-UA" sz="2000" dirty="0">
                <a:solidFill>
                  <a:srgbClr val="C00000"/>
                </a:solidFill>
                <a:latin typeface="e-Ukraine Bold"/>
              </a:rPr>
              <a:t>До рівня компонента: </a:t>
            </a:r>
            <a:r>
              <a:rPr lang="uk-UA" sz="2000" dirty="0">
                <a:solidFill>
                  <a:srgbClr val="101010"/>
                </a:solidFill>
                <a:latin typeface="e-Ukraine Light"/>
              </a:rPr>
              <a:t>атрибуцію рівня продукту чи групи розкладаємо на компоненти за середньою вагою COGS компонента в середній конфігурації продукту. Окремо проаналізуємо, чи рахувати середні конфігурації за сегментами клієнтів окремо (Enterprise vs менший клієнт).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5800" y="1133475"/>
            <a:ext cx="20475575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9600"/>
              </a:lnSpc>
              <a:buNone/>
            </a:pPr>
            <a:r>
              <a:rPr lang="uk-UA" sz="9600" dirty="0">
                <a:solidFill>
                  <a:srgbClr val="101010"/>
                </a:solidFill>
                <a:latin typeface="e-Ukraine Bold"/>
              </a:rPr>
              <a:t>Модель C — приклад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55800" y="2788920"/>
            <a:ext cx="20475575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500"/>
              </a:lnSpc>
              <a:buNone/>
            </a:pPr>
            <a:r>
              <a:rPr lang="uk-UA" sz="2100" dirty="0">
                <a:solidFill>
                  <a:srgbClr val="595959"/>
                </a:solidFill>
                <a:latin typeface="e-Ukraine Light"/>
              </a:rPr>
              <a:t>Витрати відділу атрибутуються на групу продуктів і розкладаються всередині групи пропорційно доходу.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5800" y="3657600"/>
            <a:ext cx="20475575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uk-UA" sz="2200" dirty="0">
                <a:solidFill>
                  <a:srgbClr val="101010"/>
                </a:solidFill>
                <a:latin typeface="e-Ukraine Bold"/>
              </a:rPr>
              <a:t>ВОК → група Resell (ongoing, щомісяця)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55800" y="4389120"/>
          <a:ext cx="20473417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54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9356">
                  <a:extLst>
                    <a:ext uri="{9D8B030D-6E8A-4147-A177-3AD203B41FA5}">
                      <a16:colId xmlns:a16="http://schemas.microsoft.com/office/drawing/2014/main" val="1803019888"/>
                    </a:ext>
                  </a:extLst>
                </a:gridCol>
                <a:gridCol w="3489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3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6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9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ts val="190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FFFFFF"/>
                          </a:solidFill>
                          <a:latin typeface="e-Ukraine Bold"/>
                        </a:rPr>
                        <a:t>Продукт групи Resell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FFFFFF"/>
                          </a:solidFill>
                          <a:latin typeface="e-Ukraine Bold"/>
                        </a:rPr>
                        <a:t>Кількість контрактів на обслуговуванні, міс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E3E3E3"/>
                      </a:solidFill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FFFFFF"/>
                          </a:solidFill>
                          <a:latin typeface="e-Ukraine Bold"/>
                        </a:rPr>
                        <a:t>Середній </a:t>
                      </a:r>
                      <a:r>
                        <a:rPr lang="en-US" sz="1700" dirty="0">
                          <a:solidFill>
                            <a:srgbClr val="FFFFFF"/>
                          </a:solidFill>
                          <a:latin typeface="e-Ukraine Bold"/>
                        </a:rPr>
                        <a:t>COGS</a:t>
                      </a:r>
                      <a:r>
                        <a:rPr lang="uk-UA" sz="1700" dirty="0">
                          <a:solidFill>
                            <a:srgbClr val="FFFFFF"/>
                          </a:solidFill>
                          <a:latin typeface="e-Ukraine Bold"/>
                        </a:rPr>
                        <a:t> на клієнта, ₴/міс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FFFFFF"/>
                          </a:solidFill>
                          <a:latin typeface="e-Ukraine Bold"/>
                        </a:rPr>
                        <a:t>Частка групи (за кількістю клієнтів)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FFFFFF"/>
                          </a:solidFill>
                          <a:latin typeface="e-Ukraine Bold"/>
                        </a:rPr>
                        <a:t>Атрибутовано ВОК, ₴/міс</a:t>
                      </a:r>
                      <a:r>
                        <a:rPr lang="en-US" sz="1700" dirty="0">
                          <a:solidFill>
                            <a:srgbClr val="FFFFFF"/>
                          </a:solidFill>
                          <a:latin typeface="e-Ukraine Bold"/>
                        </a:rPr>
                        <a:t> (</a:t>
                      </a:r>
                      <a:r>
                        <a:rPr lang="uk-UA" sz="1700" dirty="0">
                          <a:solidFill>
                            <a:srgbClr val="FFFFFF"/>
                          </a:solidFill>
                          <a:latin typeface="e-Ukraine Bold"/>
                        </a:rPr>
                        <a:t>підписання і обслуговування)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FFFFFF"/>
                          </a:solidFill>
                          <a:latin typeface="e-Ukraine Bold"/>
                        </a:rPr>
                        <a:t>₴</a:t>
                      </a:r>
                      <a:r>
                        <a:rPr lang="en-US" sz="1700" dirty="0">
                          <a:solidFill>
                            <a:srgbClr val="FFFFFF"/>
                          </a:solidFill>
                          <a:latin typeface="e-Ukraine Bold"/>
                        </a:rPr>
                        <a:t> </a:t>
                      </a:r>
                      <a:r>
                        <a:rPr lang="uk-UA" sz="1700" dirty="0">
                          <a:solidFill>
                            <a:srgbClr val="FFFFFF"/>
                          </a:solidFill>
                          <a:latin typeface="e-Ukraine Bold"/>
                        </a:rPr>
                        <a:t>додати до ціни на кожну ₴ </a:t>
                      </a:r>
                      <a:r>
                        <a:rPr lang="en-US" sz="1700" dirty="0">
                          <a:solidFill>
                            <a:srgbClr val="FFFFFF"/>
                          </a:solidFill>
                          <a:latin typeface="e-Ukraine Bold"/>
                        </a:rPr>
                        <a:t>COGS</a:t>
                      </a:r>
                      <a:endParaRPr lang="uk-UA" sz="1700" dirty="0">
                        <a:solidFill>
                          <a:srgbClr val="FFFFFF"/>
                        </a:solidFill>
                        <a:latin typeface="e-Ukraine Bold"/>
                      </a:endParaRPr>
                    </a:p>
                  </a:txBody>
                  <a:tcPr marT="41148" marB="4114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ts val="2185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Resell</a:t>
                      </a:r>
                      <a:endParaRPr lang="uk-UA" sz="1900" dirty="0">
                        <a:solidFill>
                          <a:srgbClr val="101010"/>
                        </a:solidFill>
                        <a:latin typeface="e-Ukraine Light"/>
                      </a:endParaRP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12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125 000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8.8%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1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1 </a:t>
                      </a:r>
                      <a:r>
                        <a:rPr lang="en-US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FTE (20 000₴)</a:t>
                      </a:r>
                      <a:endParaRPr lang="uk-UA" sz="1900" dirty="0">
                        <a:solidFill>
                          <a:srgbClr val="101010"/>
                        </a:solidFill>
                        <a:latin typeface="e-Ukraine Light"/>
                      </a:endParaRP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0,</a:t>
                      </a: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013 грн.</a:t>
                      </a:r>
                    </a:p>
                  </a:txBody>
                  <a:tcPr marT="41148" marB="4114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ts val="2185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IaaS</a:t>
                      </a:r>
                      <a:endParaRPr lang="uk-UA" sz="1900" dirty="0">
                        <a:solidFill>
                          <a:srgbClr val="101010"/>
                        </a:solidFill>
                        <a:latin typeface="e-Ukraine Light"/>
                      </a:endParaRP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125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90 000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91.2%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1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6 </a:t>
                      </a:r>
                      <a:r>
                        <a:rPr lang="en-US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FTE (</a:t>
                      </a: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250 </a:t>
                      </a:r>
                      <a:r>
                        <a:rPr lang="en-US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000₴)</a:t>
                      </a:r>
                      <a:endParaRPr lang="uk-UA" sz="1900" dirty="0">
                        <a:solidFill>
                          <a:srgbClr val="101010"/>
                        </a:solidFill>
                        <a:latin typeface="e-Ukraine Light"/>
                      </a:endParaRP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Light"/>
                        </a:rPr>
                        <a:t>0,022 грн.</a:t>
                      </a:r>
                    </a:p>
                  </a:txBody>
                  <a:tcPr marT="41148" marB="4114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Разом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137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endParaRPr lang="uk-UA" sz="1900" dirty="0">
                        <a:solidFill>
                          <a:srgbClr val="101010"/>
                        </a:solidFill>
                        <a:latin typeface="e-Ukraine Bold"/>
                      </a:endParaRP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100 %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7 </a:t>
                      </a:r>
                      <a:r>
                        <a:rPr lang="en-US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FTE (</a:t>
                      </a: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270 000</a:t>
                      </a:r>
                      <a:r>
                        <a:rPr lang="en-US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)</a:t>
                      </a:r>
                      <a:endParaRPr lang="uk-UA" sz="1900" dirty="0">
                        <a:solidFill>
                          <a:srgbClr val="101010"/>
                        </a:solidFill>
                        <a:latin typeface="e-Ukraine Bold"/>
                      </a:endParaRP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endParaRPr dirty="0"/>
                    </a:p>
                  </a:txBody>
                  <a:tcPr marT="41148" marB="4114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55800" y="8412480"/>
            <a:ext cx="17275175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550"/>
              </a:lnSpc>
              <a:buNone/>
            </a:pPr>
            <a:r>
              <a:rPr lang="uk-UA" sz="2000" dirty="0">
                <a:solidFill>
                  <a:srgbClr val="101010"/>
                </a:solidFill>
                <a:latin typeface="e-Ukraine Light"/>
              </a:rPr>
              <a:t>.</a:t>
            </a:r>
            <a:r>
              <a:rPr lang="uk-UA" sz="2000" dirty="0">
                <a:solidFill>
                  <a:srgbClr val="101010"/>
                </a:solidFill>
                <a:latin typeface="e-Ukraine Bold"/>
              </a:rPr>
              <a:t>Перевірка: </a:t>
            </a:r>
            <a:r>
              <a:rPr lang="uk-UA" sz="2000" dirty="0">
                <a:solidFill>
                  <a:srgbClr val="101010"/>
                </a:solidFill>
                <a:latin typeface="e-Ukraine Light"/>
              </a:rPr>
              <a:t>сума атрибутованого по групі за місяць = бюджет відділу (343 571 ₴). Якщо у відділі</a:t>
            </a:r>
            <a:r>
              <a:rPr lang="en-US" sz="2000" dirty="0">
                <a:solidFill>
                  <a:srgbClr val="101010"/>
                </a:solidFill>
                <a:latin typeface="e-Ukraine Light"/>
              </a:rPr>
              <a:t> 8 FTE,</a:t>
            </a:r>
            <a:r>
              <a:rPr lang="uk-UA" sz="2000" dirty="0">
                <a:solidFill>
                  <a:srgbClr val="101010"/>
                </a:solidFill>
                <a:latin typeface="e-Ukraine Light"/>
              </a:rPr>
              <a:t> а атрибутовано за моделлю С лише 7 – значить, 1 </a:t>
            </a:r>
            <a:r>
              <a:rPr lang="en-US" sz="2000" dirty="0">
                <a:solidFill>
                  <a:srgbClr val="101010"/>
                </a:solidFill>
                <a:latin typeface="e-Ukraine Light"/>
              </a:rPr>
              <a:t>FTE </a:t>
            </a:r>
            <a:r>
              <a:rPr lang="uk-UA" sz="2000" dirty="0">
                <a:solidFill>
                  <a:srgbClr val="101010"/>
                </a:solidFill>
                <a:latin typeface="e-Ukraine Light"/>
              </a:rPr>
              <a:t>попадає в іншу модель (Модель </a:t>
            </a:r>
            <a:r>
              <a:rPr lang="en-US" sz="2000" dirty="0">
                <a:solidFill>
                  <a:srgbClr val="101010"/>
                </a:solidFill>
                <a:latin typeface="e-Ukraine Light"/>
              </a:rPr>
              <a:t>D – General).</a:t>
            </a:r>
            <a:r>
              <a:rPr lang="uk-UA" sz="2000" dirty="0">
                <a:solidFill>
                  <a:srgbClr val="101010"/>
                </a:solidFill>
                <a:latin typeface="e-Ukraine Light"/>
              </a:rPr>
              <a:t>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4A199B-B463-3234-37EA-2C3A388DE9EA}"/>
              </a:ext>
            </a:extLst>
          </p:cNvPr>
          <p:cNvSpPr/>
          <p:nvPr/>
        </p:nvSpPr>
        <p:spPr>
          <a:xfrm>
            <a:off x="1955800" y="9989820"/>
            <a:ext cx="17282160" cy="1600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0" rIns="274320" bIns="0" rtlCol="0" anchor="ctr"/>
          <a:lstStyle/>
          <a:p>
            <a:pPr>
              <a:lnSpc>
                <a:spcPts val="2006"/>
              </a:lnSpc>
              <a:spcBef>
                <a:spcPts val="350"/>
              </a:spcBef>
              <a:buNone/>
            </a:pPr>
            <a:r>
              <a:rPr lang="uk-UA" sz="2000" dirty="0">
                <a:solidFill>
                  <a:srgbClr val="C00000"/>
                </a:solidFill>
                <a:latin typeface="e-Ukraine Bold"/>
              </a:rPr>
              <a:t>До рівня компонента: </a:t>
            </a:r>
            <a:r>
              <a:rPr lang="uk-UA" sz="2000" dirty="0">
                <a:solidFill>
                  <a:srgbClr val="101010"/>
                </a:solidFill>
                <a:latin typeface="e-Ukraine Light"/>
              </a:rPr>
              <a:t>атрибуцію рівня продукту чи групи розкладаємо на компоненти за середньою вагою COGS компонента в середній конфігурації продукту. Окремо проаналізуємо, чи рахувати середні конфігурації за сегментами клієнтів окремо (Enterprise vs менший клієнт).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5800" y="1133475"/>
            <a:ext cx="20475575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9600"/>
              </a:lnSpc>
              <a:buNone/>
            </a:pPr>
            <a:r>
              <a:rPr lang="uk-UA" sz="9600" dirty="0">
                <a:solidFill>
                  <a:srgbClr val="101010"/>
                </a:solidFill>
                <a:latin typeface="e-Ukraine Bold"/>
              </a:rPr>
              <a:t>Модель D — приклад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55800" y="2788920"/>
            <a:ext cx="20475575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500"/>
              </a:lnSpc>
              <a:buNone/>
            </a:pPr>
            <a:r>
              <a:rPr lang="uk-UA" sz="2100" dirty="0">
                <a:solidFill>
                  <a:srgbClr val="595959"/>
                </a:solidFill>
                <a:latin typeface="e-Ukraine Light"/>
              </a:rPr>
              <a:t>Пул загальних витрат розподіляється на групи продуктів за погодженою базою — тут % прогнозної маржі FY2026.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55800" y="3931920"/>
            <a:ext cx="603504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buNone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75840" y="4224528"/>
            <a:ext cx="5394960" cy="5212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500"/>
              </a:lnSpc>
              <a:buNone/>
            </a:pPr>
            <a:r>
              <a:rPr lang="uk-UA" sz="2100" dirty="0">
                <a:solidFill>
                  <a:srgbClr val="101010"/>
                </a:solidFill>
                <a:latin typeface="e-Ukraine Bold"/>
              </a:rPr>
              <a:t>Пул загальних витрат</a:t>
            </a:r>
          </a:p>
          <a:p>
            <a:pPr marL="342900" indent="-342900">
              <a:lnSpc>
                <a:spcPts val="2100"/>
              </a:lnSpc>
              <a:spcBef>
                <a:spcPts val="250"/>
              </a:spcBef>
              <a:buFont typeface="Arial"/>
              <a:buChar char="•"/>
            </a:pPr>
            <a:r>
              <a:rPr lang="uk-UA" sz="1750" dirty="0">
                <a:solidFill>
                  <a:srgbClr val="101010"/>
                </a:solidFill>
                <a:latin typeface="e-Ukraine Light"/>
              </a:rPr>
              <a:t>Internal IT</a:t>
            </a:r>
          </a:p>
          <a:p>
            <a:pPr marL="342900" indent="-342900">
              <a:lnSpc>
                <a:spcPts val="2100"/>
              </a:lnSpc>
              <a:spcBef>
                <a:spcPts val="250"/>
              </a:spcBef>
              <a:buFont typeface="Arial"/>
              <a:buChar char="•"/>
            </a:pPr>
            <a:r>
              <a:rPr lang="uk-UA" sz="1750" dirty="0">
                <a:solidFill>
                  <a:srgbClr val="101010"/>
                </a:solidFill>
                <a:latin typeface="e-Ukraine Light"/>
              </a:rPr>
              <a:t>Operations</a:t>
            </a:r>
          </a:p>
          <a:p>
            <a:pPr marL="342900" indent="-342900">
              <a:lnSpc>
                <a:spcPts val="2100"/>
              </a:lnSpc>
              <a:spcBef>
                <a:spcPts val="250"/>
              </a:spcBef>
              <a:buFont typeface="Arial"/>
              <a:buChar char="•"/>
            </a:pPr>
            <a:r>
              <a:rPr lang="uk-UA" sz="1750" dirty="0">
                <a:solidFill>
                  <a:srgbClr val="101010"/>
                </a:solidFill>
                <a:latin typeface="e-Ukraine Light"/>
              </a:rPr>
              <a:t>HR</a:t>
            </a:r>
          </a:p>
          <a:p>
            <a:pPr marL="342900" indent="-342900">
              <a:lnSpc>
                <a:spcPts val="2100"/>
              </a:lnSpc>
              <a:spcBef>
                <a:spcPts val="250"/>
              </a:spcBef>
              <a:buFont typeface="Arial"/>
              <a:buChar char="•"/>
            </a:pPr>
            <a:r>
              <a:rPr lang="uk-UA" sz="1750" dirty="0">
                <a:solidFill>
                  <a:srgbClr val="101010"/>
                </a:solidFill>
                <a:latin typeface="e-Ukraine Light"/>
              </a:rPr>
              <a:t>Legal</a:t>
            </a:r>
          </a:p>
          <a:p>
            <a:pPr marL="342900" indent="-342900">
              <a:lnSpc>
                <a:spcPts val="2100"/>
              </a:lnSpc>
              <a:spcBef>
                <a:spcPts val="250"/>
              </a:spcBef>
              <a:buFont typeface="Arial"/>
              <a:buChar char="•"/>
            </a:pPr>
            <a:r>
              <a:rPr lang="uk-UA" sz="1750" dirty="0">
                <a:solidFill>
                  <a:srgbClr val="101010"/>
                </a:solidFill>
                <a:latin typeface="e-Ukraine Light"/>
              </a:rPr>
              <a:t>Finance</a:t>
            </a:r>
          </a:p>
          <a:p>
            <a:pPr marL="342900" indent="-342900">
              <a:lnSpc>
                <a:spcPts val="2100"/>
              </a:lnSpc>
              <a:spcBef>
                <a:spcPts val="250"/>
              </a:spcBef>
              <a:buFont typeface="Arial"/>
              <a:buChar char="•"/>
            </a:pPr>
            <a:r>
              <a:rPr lang="uk-UA" sz="1750" dirty="0">
                <a:solidFill>
                  <a:srgbClr val="101010"/>
                </a:solidFill>
                <a:latin typeface="e-Ukraine Light"/>
              </a:rPr>
              <a:t>Адмін-госп. відділ</a:t>
            </a:r>
          </a:p>
          <a:p>
            <a:pPr marL="342900" indent="-342900">
              <a:lnSpc>
                <a:spcPts val="2100"/>
              </a:lnSpc>
              <a:spcBef>
                <a:spcPts val="250"/>
              </a:spcBef>
              <a:buFont typeface="Arial"/>
              <a:buChar char="•"/>
            </a:pPr>
            <a:r>
              <a:rPr lang="uk-UA" sz="1750" dirty="0">
                <a:solidFill>
                  <a:srgbClr val="101010"/>
                </a:solidFill>
                <a:latin typeface="e-Ukraine Light"/>
              </a:rPr>
              <a:t>Оренда офісу</a:t>
            </a:r>
          </a:p>
          <a:p>
            <a:pPr marL="342900" indent="-342900">
              <a:lnSpc>
                <a:spcPts val="2100"/>
              </a:lnSpc>
              <a:spcBef>
                <a:spcPts val="250"/>
              </a:spcBef>
              <a:buFont typeface="Arial"/>
              <a:buChar char="•"/>
            </a:pPr>
            <a:r>
              <a:rPr lang="uk-UA" sz="1750" dirty="0">
                <a:solidFill>
                  <a:srgbClr val="101010"/>
                </a:solidFill>
                <a:latin typeface="e-Ukraine Light"/>
              </a:rPr>
              <a:t>Банківські послуги</a:t>
            </a:r>
          </a:p>
          <a:p>
            <a:pPr marL="342900" indent="-342900">
              <a:lnSpc>
                <a:spcPts val="2100"/>
              </a:lnSpc>
              <a:spcBef>
                <a:spcPts val="250"/>
              </a:spcBef>
              <a:buFont typeface="Arial"/>
              <a:buChar char="•"/>
            </a:pPr>
            <a:r>
              <a:rPr lang="uk-UA" sz="1750" dirty="0">
                <a:solidFill>
                  <a:srgbClr val="101010"/>
                </a:solidFill>
                <a:latin typeface="e-Ukraine Light"/>
              </a:rPr>
              <a:t>Страховка</a:t>
            </a:r>
          </a:p>
          <a:p>
            <a:pPr marL="342900" indent="-342900">
              <a:lnSpc>
                <a:spcPts val="2100"/>
              </a:lnSpc>
              <a:spcBef>
                <a:spcPts val="250"/>
              </a:spcBef>
              <a:buFont typeface="Arial"/>
              <a:buChar char="•"/>
            </a:pPr>
            <a:r>
              <a:rPr lang="uk-UA" sz="1750" dirty="0">
                <a:solidFill>
                  <a:srgbClr val="101010"/>
                </a:solidFill>
                <a:latin typeface="e-Ukraine Light"/>
              </a:rPr>
              <a:t>ПО для персоналу</a:t>
            </a:r>
          </a:p>
          <a:p>
            <a:pPr>
              <a:lnSpc>
                <a:spcPts val="2100"/>
              </a:lnSpc>
              <a:spcBef>
                <a:spcPts val="250"/>
              </a:spcBef>
              <a:buNone/>
            </a:pPr>
            <a:r>
              <a:rPr lang="uk-UA" sz="1750" dirty="0">
                <a:solidFill>
                  <a:srgbClr val="595959"/>
                </a:solidFill>
                <a:latin typeface="e-Ukraine Light"/>
              </a:rPr>
              <a:t>… разом 18 статей × 10 000</a:t>
            </a:r>
          </a:p>
          <a:p>
            <a:pPr>
              <a:lnSpc>
                <a:spcPts val="2350"/>
              </a:lnSpc>
              <a:spcBef>
                <a:spcPts val="550"/>
              </a:spcBef>
              <a:buNone/>
            </a:pPr>
            <a:r>
              <a:rPr lang="uk-UA" sz="1900" dirty="0">
                <a:solidFill>
                  <a:srgbClr val="101010"/>
                </a:solidFill>
                <a:latin typeface="e-Ukraine Light"/>
              </a:rPr>
              <a:t>180 000 у.о./міс = </a:t>
            </a:r>
            <a:r>
              <a:rPr lang="uk-UA" sz="1900" dirty="0">
                <a:solidFill>
                  <a:srgbClr val="C00000"/>
                </a:solidFill>
                <a:latin typeface="e-Ukraine Bold"/>
              </a:rPr>
              <a:t>2 160 000 у.о./рік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48040" y="3931920"/>
          <a:ext cx="13981176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53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Група продуктів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Маржа FY26, у.о.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% маржі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Алоковано, у.о./рік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Продажів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На продаж, у.о./рік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buNone/>
                      </a:pPr>
                      <a:r>
                        <a:rPr lang="uk-UA" sz="1500" dirty="0">
                          <a:solidFill>
                            <a:srgbClr val="FFFFFF"/>
                          </a:solidFill>
                          <a:latin typeface="e-Ukraine Bold"/>
                        </a:rPr>
                        <a:t>у.о./міс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IaaS — Public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15 000 000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30 %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648 000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139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4 662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388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IaaS — Private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25 000 000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50 %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1 080 000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11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98 182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8 182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Resell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6 000 000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12 %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259 200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27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9 600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800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Prof. services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4 000 000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8 %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172 800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9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19 200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1 600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Разом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50 000 000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100 %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2 160 000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Bold"/>
                        </a:rPr>
                        <a:t>186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4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48040" y="8869680"/>
            <a:ext cx="13983335" cy="2103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2400"/>
              </a:lnSpc>
              <a:buNone/>
            </a:pPr>
            <a:r>
              <a:rPr lang="uk-UA" sz="1900" dirty="0">
                <a:solidFill>
                  <a:srgbClr val="101010"/>
                </a:solidFill>
                <a:latin typeface="e-Ukraine Bold"/>
              </a:rPr>
              <a:t>Механіка: </a:t>
            </a:r>
            <a:r>
              <a:rPr lang="uk-UA" sz="1900" dirty="0">
                <a:solidFill>
                  <a:srgbClr val="101010"/>
                </a:solidFill>
                <a:latin typeface="e-Ukraine Light"/>
              </a:rPr>
              <a:t>пул × % маржі групи → алокація на групу; далі ÷ кількість продажів групи → навантаження на один продаж, у.о./рік і у.о./міс.</a:t>
            </a:r>
          </a:p>
          <a:p>
            <a:pPr>
              <a:lnSpc>
                <a:spcPts val="2400"/>
              </a:lnSpc>
              <a:spcBef>
                <a:spcPts val="500"/>
              </a:spcBef>
              <a:buNone/>
            </a:pPr>
            <a:r>
              <a:rPr lang="uk-UA" sz="1900" dirty="0">
                <a:solidFill>
                  <a:srgbClr val="101010"/>
                </a:solidFill>
                <a:latin typeface="e-Ukraine Bold"/>
              </a:rPr>
              <a:t>База розподілу — рішення: </a:t>
            </a:r>
            <a:r>
              <a:rPr lang="uk-UA" sz="1900" dirty="0">
                <a:solidFill>
                  <a:srgbClr val="101010"/>
                </a:solidFill>
                <a:latin typeface="e-Ukraine Light"/>
              </a:rPr>
              <a:t>% маржі, % доходу або інша база — узгоджується з фінансами.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55800" y="10904220"/>
            <a:ext cx="17282160" cy="1600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0" rIns="274320" bIns="0" rtlCol="0" anchor="ctr"/>
          <a:lstStyle/>
          <a:p>
            <a:pPr>
              <a:lnSpc>
                <a:spcPts val="2006"/>
              </a:lnSpc>
              <a:spcBef>
                <a:spcPts val="350"/>
              </a:spcBef>
              <a:buNone/>
            </a:pPr>
            <a:r>
              <a:rPr lang="uk-UA" sz="2000" dirty="0">
                <a:solidFill>
                  <a:srgbClr val="C00000"/>
                </a:solidFill>
                <a:latin typeface="e-Ukraine Bold"/>
              </a:rPr>
              <a:t>До рівня компонента: </a:t>
            </a:r>
            <a:r>
              <a:rPr lang="uk-UA" sz="2000" dirty="0">
                <a:solidFill>
                  <a:srgbClr val="101010"/>
                </a:solidFill>
                <a:latin typeface="e-Ukraine Light"/>
              </a:rPr>
              <a:t>атрибуцію рівня продукту чи групи розкладаємо на компоненти за середньою вагою COGS компонента в середній конфігурації продукту. Окремо проаналізуємо, чи рахувати середні конфігурації за сегментами клієнтів окремо (Enterprise vs менший клієнт).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5800" y="1133475"/>
            <a:ext cx="20475575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ts val="9600"/>
              </a:lnSpc>
              <a:buNone/>
            </a:pPr>
            <a:r>
              <a:rPr lang="uk-UA" sz="9600" dirty="0">
                <a:solidFill>
                  <a:srgbClr val="101010"/>
                </a:solidFill>
                <a:latin typeface="e-Ukraine Bold"/>
              </a:rPr>
              <a:t>Наступні кроки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130476"/>
              </p:ext>
            </p:extLst>
          </p:nvPr>
        </p:nvGraphicFramePr>
        <p:xfrm>
          <a:off x="1955800" y="2733675"/>
          <a:ext cx="20473417" cy="10244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2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1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94529">
                  <a:extLst>
                    <a:ext uri="{9D8B030D-6E8A-4147-A177-3AD203B41FA5}">
                      <a16:colId xmlns:a16="http://schemas.microsoft.com/office/drawing/2014/main" val="1745715439"/>
                    </a:ext>
                  </a:extLst>
                </a:gridCol>
              </a:tblGrid>
              <a:tr h="512064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800" dirty="0">
                          <a:solidFill>
                            <a:srgbClr val="C00000"/>
                          </a:solidFill>
                          <a:latin typeface="e-Ukraine Bold"/>
                        </a:rPr>
                        <a:t>Узгодження</a:t>
                      </a:r>
                    </a:p>
                  </a:txBody>
                  <a:tcPr marL="228600"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800" dirty="0">
                          <a:solidFill>
                            <a:srgbClr val="C00000"/>
                          </a:solidFill>
                          <a:latin typeface="e-Ukraine Bold"/>
                        </a:rPr>
                        <a:t>З ким узгоджуємо</a:t>
                      </a:r>
                    </a:p>
                  </a:txBody>
                  <a:tcPr marL="228600"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1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Алокація бюджетів з керівниками відділів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Оцінка, якою моделлю йде відділ, + стартова механіка атрибуції: Delivery · InfoSec · Support · R&amp;D · Internal IT · Finance · ВОК · Operations · Product · Sales (Corp, Ent) · Sales (BizDev) · Sales (Growth) · Marketing · HR · Legal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Керівники відповідних відділів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2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Розбиття витрат за типами атрибуції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Узгодження з фінансами: кожен рядок P&amp;L → модель A / B / C / D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CFO</a:t>
                      </a:r>
                      <a:endParaRPr lang="uk-UA" sz="1700" dirty="0">
                        <a:solidFill>
                          <a:srgbClr val="101010"/>
                        </a:solidFill>
                        <a:latin typeface="e-Ukraine Light"/>
                      </a:endParaRP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3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Узгодження принципів та логіки моделей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Підходи зі слайда «Ключові підходи» + способи розрахунку за різними моделями + способи контрольних звірок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CFO</a:t>
                      </a: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 + Головний бухгалтер (опціонально)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4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Модель обліку годин надалі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Action plan по відділах: як рахуємо й атрибутуємо години, де </a:t>
                      </a:r>
                      <a:r>
                        <a:rPr lang="uk-UA" sz="1700" dirty="0" err="1">
                          <a:solidFill>
                            <a:srgbClr val="101010"/>
                          </a:solidFill>
                          <a:latin typeface="e-Ukraine Light"/>
                        </a:rPr>
                        <a:t>дашборди</a:t>
                      </a: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 (в майбутньому + терміни)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Керівники відповідних відділів</a:t>
                      </a:r>
                    </a:p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CFO</a:t>
                      </a:r>
                    </a:p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COO</a:t>
                      </a:r>
                      <a:endParaRPr lang="uk-UA" sz="1700" dirty="0">
                        <a:solidFill>
                          <a:srgbClr val="101010"/>
                        </a:solidFill>
                        <a:latin typeface="e-Ukraine Light"/>
                      </a:endParaRP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800" dirty="0">
                          <a:solidFill>
                            <a:srgbClr val="C00000"/>
                          </a:solidFill>
                          <a:latin typeface="e-Ukraine Bold"/>
                        </a:rPr>
                        <a:t>Розрахунок і дані</a:t>
                      </a:r>
                    </a:p>
                  </a:txBody>
                  <a:tcPr marL="228600"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uk-UA" sz="1800" dirty="0">
                        <a:solidFill>
                          <a:srgbClr val="C00000"/>
                        </a:solidFill>
                        <a:latin typeface="e-Ukraine Bold"/>
                      </a:endParaRPr>
                    </a:p>
                  </a:txBody>
                  <a:tcPr marL="228600"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5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Розрахунки</a:t>
                      </a:r>
                      <a:r>
                        <a:rPr lang="en-US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 </a:t>
                      </a: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собівартості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Перевірка розрахованих в березні показників (моделі А1 та А2)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CPO (</a:t>
                      </a: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дані – від</a:t>
                      </a:r>
                      <a:r>
                        <a:rPr lang="en-US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 CDO + Capacity manager)</a:t>
                      </a:r>
                      <a:endParaRPr lang="uk-UA" sz="1700" dirty="0">
                        <a:solidFill>
                          <a:srgbClr val="101010"/>
                        </a:solidFill>
                        <a:latin typeface="e-Ukraine Light"/>
                      </a:endParaRP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6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Розрахунки</a:t>
                      </a:r>
                      <a:r>
                        <a:rPr lang="en-US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 </a:t>
                      </a: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витрат на збут і загальних витрат</a:t>
                      </a:r>
                    </a:p>
                  </a:txBody>
                  <a:tcPr marT="41148" marB="4114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Розрахунок за моделями </a:t>
                      </a:r>
                      <a:r>
                        <a:rPr lang="en-US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B, C, D</a:t>
                      </a:r>
                      <a:endParaRPr lang="uk-UA" sz="1700" dirty="0">
                        <a:solidFill>
                          <a:srgbClr val="101010"/>
                        </a:solidFill>
                        <a:latin typeface="e-Ukraine Light"/>
                      </a:endParaRPr>
                    </a:p>
                    <a:p>
                      <a:pPr algn="l">
                        <a:lnSpc>
                          <a:spcPts val="1954"/>
                        </a:lnSpc>
                        <a:buNone/>
                      </a:pPr>
                      <a:endParaRPr lang="uk-UA" sz="1700" dirty="0">
                        <a:solidFill>
                          <a:srgbClr val="101010"/>
                        </a:solidFill>
                        <a:latin typeface="e-Ukraine Light"/>
                      </a:endParaRPr>
                    </a:p>
                  </a:txBody>
                  <a:tcPr marT="41148" marB="4114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CPO</a:t>
                      </a:r>
                      <a:endParaRPr lang="uk-UA" sz="1700" dirty="0">
                        <a:solidFill>
                          <a:srgbClr val="101010"/>
                        </a:solidFill>
                        <a:latin typeface="e-Ukraine Light"/>
                      </a:endParaRPr>
                    </a:p>
                  </a:txBody>
                  <a:tcPr marT="41148" marB="4114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94088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7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Контрольні звірки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Атрибутовані суми ↔ фактичні бюджети відділів</a:t>
                      </a:r>
                      <a:r>
                        <a:rPr lang="en-US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 / </a:t>
                      </a:r>
                      <a:r>
                        <a:rPr lang="uk-UA" sz="1700" dirty="0" err="1">
                          <a:solidFill>
                            <a:srgbClr val="101010"/>
                          </a:solidFill>
                          <a:latin typeface="e-Ukraine Light"/>
                        </a:rPr>
                        <a:t>форкасти</a:t>
                      </a: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 і P&amp;L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CPO + CFO</a:t>
                      </a:r>
                      <a:endParaRPr lang="uk-UA" sz="1700" dirty="0">
                        <a:solidFill>
                          <a:srgbClr val="101010"/>
                        </a:solidFill>
                        <a:latin typeface="e-Ukraine Light"/>
                      </a:endParaRP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8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Розподіл розрахованих значень по компонентах</a:t>
                      </a:r>
                    </a:p>
                  </a:txBody>
                  <a:tcPr marT="41148" marB="4114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Показники, розраховані на рівні продуктів чи їхніх груп конвертуються у значення на рівні компонента через »середню вагу» компонента в продукті</a:t>
                      </a:r>
                    </a:p>
                  </a:txBody>
                  <a:tcPr marT="41148" marB="4114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CPO + CFO + Head of Sales (UA)</a:t>
                      </a:r>
                      <a:endParaRPr lang="uk-UA" sz="1700" dirty="0">
                        <a:solidFill>
                          <a:srgbClr val="101010"/>
                        </a:solidFill>
                        <a:latin typeface="e-Ukraine Light"/>
                      </a:endParaRPr>
                    </a:p>
                  </a:txBody>
                  <a:tcPr marT="41148" marB="4114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775198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8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Актуалізація даних у CRM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Компоненти, ціни, привʼязки продуктів — синхронно з розрахунком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CPO</a:t>
                      </a:r>
                      <a:endParaRPr lang="uk-UA" sz="1700" dirty="0">
                        <a:solidFill>
                          <a:srgbClr val="101010"/>
                        </a:solidFill>
                        <a:latin typeface="e-Ukraine Light"/>
                      </a:endParaRP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064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800" dirty="0">
                          <a:solidFill>
                            <a:srgbClr val="C00000"/>
                          </a:solidFill>
                          <a:latin typeface="e-Ukraine Bold"/>
                        </a:rPr>
                        <a:t>Результат</a:t>
                      </a:r>
                    </a:p>
                  </a:txBody>
                  <a:tcPr marL="228600"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E3E3E3"/>
                      </a:solidFill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uk-UA" sz="1800" dirty="0">
                        <a:solidFill>
                          <a:srgbClr val="C00000"/>
                        </a:solidFill>
                        <a:latin typeface="e-Ukraine Bold"/>
                      </a:endParaRPr>
                    </a:p>
                  </a:txBody>
                  <a:tcPr marL="228600"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9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Поточна профітабельність продуктів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>
                      <a:solidFill>
                        <a:srgbClr val="E3E3E3"/>
                      </a:solidFill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Реальна прибутковість кожного продукту на розрахованому </a:t>
                      </a:r>
                      <a:r>
                        <a:rPr lang="uk-UA" sz="1700" dirty="0" err="1">
                          <a:solidFill>
                            <a:srgbClr val="101010"/>
                          </a:solidFill>
                          <a:latin typeface="e-Ukraine Light"/>
                        </a:rPr>
                        <a:t>бейзлайні</a:t>
                      </a: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 (Ціна – всі </a:t>
                      </a:r>
                      <a:r>
                        <a:rPr lang="uk-UA" sz="1700" dirty="0" err="1">
                          <a:solidFill>
                            <a:srgbClr val="101010"/>
                          </a:solidFill>
                          <a:latin typeface="e-Ukraine Light"/>
                        </a:rPr>
                        <a:t>алоковані</a:t>
                      </a: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 витрати)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>
                      <a:solidFill>
                        <a:srgbClr val="E3E3E3"/>
                      </a:solidFill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CPO</a:t>
                      </a:r>
                      <a:endParaRPr lang="uk-UA" sz="1700" dirty="0">
                        <a:solidFill>
                          <a:srgbClr val="101010"/>
                        </a:solidFill>
                        <a:latin typeface="e-Ukraine Light"/>
                      </a:endParaRP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10</a:t>
                      </a:r>
                    </a:p>
                  </a:txBody>
                  <a:tcPr marT="36576" marB="36576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Мінімальна прибутковість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Закладаємо мінімально допустиму прибутковість — «в нуль» не продаємо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CFO, CEO, CBDO</a:t>
                      </a:r>
                    </a:p>
                  </a:txBody>
                  <a:tcPr marT="41148" marB="41148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178927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  <a:buNone/>
                      </a:pPr>
                      <a:r>
                        <a:rPr lang="uk-UA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1</a:t>
                      </a:r>
                      <a:r>
                        <a:rPr lang="en-US" sz="1900" dirty="0">
                          <a:solidFill>
                            <a:srgbClr val="101010"/>
                          </a:solidFill>
                          <a:latin typeface="e-Ukraine Bold"/>
                        </a:rPr>
                        <a:t>1</a:t>
                      </a:r>
                      <a:endParaRPr lang="uk-UA" sz="1900" dirty="0">
                        <a:solidFill>
                          <a:srgbClr val="101010"/>
                        </a:solidFill>
                        <a:latin typeface="e-Ukraine Bold"/>
                      </a:endParaRP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70"/>
                        </a:lnSpc>
                        <a:buNone/>
                      </a:pPr>
                      <a:r>
                        <a:rPr lang="uk-UA" sz="1800" dirty="0">
                          <a:solidFill>
                            <a:srgbClr val="101010"/>
                          </a:solidFill>
                          <a:latin typeface="e-Ukraine Bold"/>
                        </a:rPr>
                        <a:t>Пропозиції щодо перегляду цін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Там, де маржа нижча за цільову — нові ціни та умови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buNone/>
                      </a:pPr>
                      <a:r>
                        <a:rPr lang="uk-UA" sz="1700" dirty="0">
                          <a:solidFill>
                            <a:srgbClr val="101010"/>
                          </a:solidFill>
                          <a:latin typeface="e-Ukraine Light"/>
                        </a:rPr>
                        <a:t>Економічний комітет</a:t>
                      </a:r>
                    </a:p>
                  </a:txBody>
                  <a:tcPr marT="41148" marB="41148" anchor="ctr">
                    <a:lnL w="9525" cap="flat">
                      <a:solidFill>
                        <a:srgbClr val="E3E3E3"/>
                      </a:solidFill>
                    </a:lnL>
                    <a:lnR w="9525" cap="flat">
                      <a:solidFill>
                        <a:srgbClr val="E3E3E3"/>
                      </a:solidFill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E3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igaTemplatePPT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a9d790e-00f0-4796-811f-0a156bd27186">
      <Terms xmlns="http://schemas.microsoft.com/office/infopath/2007/PartnerControls"/>
    </lcf76f155ced4ddcb4097134ff3c332f>
    <TaxCatchAll xmlns="ecdb743d-adfa-488b-9f7e-3838d66fa7c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DC4A6EF5FF3438B6D1215248A4603" ma:contentTypeVersion="19" ma:contentTypeDescription="Create a new document." ma:contentTypeScope="" ma:versionID="239044ce1c5d0d97de26c589c30cbca4">
  <xsd:schema xmlns:xsd="http://www.w3.org/2001/XMLSchema" xmlns:xs="http://www.w3.org/2001/XMLSchema" xmlns:p="http://schemas.microsoft.com/office/2006/metadata/properties" xmlns:ns2="da9d790e-00f0-4796-811f-0a156bd27186" xmlns:ns3="ecdb743d-adfa-488b-9f7e-3838d66fa7cb" targetNamespace="http://schemas.microsoft.com/office/2006/metadata/properties" ma:root="true" ma:fieldsID="7e54b133672959f0419558c420fde3a4" ns2:_="" ns3:_="">
    <xsd:import namespace="da9d790e-00f0-4796-811f-0a156bd27186"/>
    <xsd:import namespace="ecdb743d-adfa-488b-9f7e-3838d66fa7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d790e-00f0-4796-811f-0a156bd271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e3d557b-eccc-4e69-a8a3-a594fba0fd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db743d-adfa-488b-9f7e-3838d66fa7c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34327f6-d3c3-4be4-ad59-4e973072bf93}" ma:internalName="TaxCatchAll" ma:showField="CatchAllData" ma:web="ecdb743d-adfa-488b-9f7e-3838d66fa7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789334-90D4-4EBF-A1C6-EF78E9549D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91810B-34F8-475C-B627-7B241BBDC4AB}">
  <ds:schemaRefs>
    <ds:schemaRef ds:uri="1daf032c-a57b-4372-9a1d-f54b349859c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da9d790e-00f0-4796-811f-0a156bd27186"/>
    <ds:schemaRef ds:uri="ecdb743d-adfa-488b-9f7e-3838d66fa7cb"/>
  </ds:schemaRefs>
</ds:datastoreItem>
</file>

<file path=customXml/itemProps3.xml><?xml version="1.0" encoding="utf-8"?>
<ds:datastoreItem xmlns:ds="http://schemas.openxmlformats.org/officeDocument/2006/customXml" ds:itemID="{AF2E2AA2-8FAB-4379-A5EF-59F815E180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9d790e-00f0-4796-811f-0a156bd27186"/>
    <ds:schemaRef ds:uri="ecdb743d-adfa-488b-9f7e-3838d66fa7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2316</Words>
  <Application>Microsoft Office PowerPoint</Application>
  <PresentationFormat>Custom</PresentationFormat>
  <Paragraphs>563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GigaTemplatePPTX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Oleksii Orlov</cp:lastModifiedBy>
  <cp:revision>5</cp:revision>
  <dcterms:created xsi:type="dcterms:W3CDTF">2025-02-28T09:48:10Z</dcterms:created>
  <dcterms:modified xsi:type="dcterms:W3CDTF">2026-09-26T15:16:00Z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0x0101000CADC4A6EF5FF3438B6D1215248A4603</vt:lpwstr>
  </property>
</Properties>
</file>