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147483639" r:id="rId14"/>
    <p:sldId id="2147483640" r:id="rId15"/>
    <p:sldId id="2147483641" r:id="rId16"/>
    <p:sldId id="2147483642" r:id="rId17"/>
    <p:sldId id="2147483643" r:id="rId18"/>
    <p:sldId id="2147483644" r:id="rId19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The test for every pack we build or keep: does it fit how Oracle already sells, give an Oracle seller a reason to open a meeting, and shorten the way from interest to a signed engagement?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Oracle AI &amp; Data, EMEA. Warm: Oracle's laser campaigns (13 EMEA campaigns; AIDP sells to the line of business, AI Lakehouse to technical buyers) and the NVIDIA-funded pipeline (AI-Q, cuOpt and VSS PoVs; Oracle routes the top opportunities to SoftServe through the joint pipeline call). Cold: one-off introductions by Oracle account teams (NATO via Oracle's defence lead, Toyota). Sources: laser-campaign deck (17 Sep), Neil + Gero sync (16 Sep), Oscar's AIDP sessions (29 Sep, 2 and 12 Oct).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Oracle's view comes from the 16 Sep sync with Neil and Gero (adopt, don't build; no AIDP customer packages yet; keep NVIDIA work apart from AIDP) and later calls. Oscar (AIDP product strategy, 29 Sep) asked SoftServe to repeat its NVIDIA-pack role on AIDP, so option 2 may reopen once the first AIDP opportunity is worked jointly.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The mini-site is the single catalogue Oracle and SoftServe sellers link to: each product has its problem, outcome, use cases by industry, technology and delivery packages, and most have an interactive walkthrough.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Built from the 13 Oct one-pager (Oracle pack set, executive version). ★ = one of Oracle's four priority laser campaigns. Not released yet: Oracle's Deep Insights agent (whitelisted tenancies) and the EBS agent templates (partner release ~16 Oct, per Oscar), so P&amp;L variance analysis and EBS exception agents are built per deal until then. Customer service agent: chat runs on Oracle Digital Assistant + OCI Generative AI; the voice tier on NVIDIA speech models is still a prototype. Also kept, without their own row: Account insights and Case evidence collection (same engine as Plan vs actual), Fleet route optimization (same engine as Workforce optimization).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Cases from the 'SoftServe OCI/AIDP expertise use cases' session.</a:t>
            </a:r>
          </a:p>
        </p:txBody>
      </p:sp>
    </p:spTree>
  </p:cSld>
  <p:clrMapOvr>
    <a:masterClrMapping/>
  </p:clrMapOvr>
</p:note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claude.ai/artifact/HTEJADBQF3ZevFPuSoTHri#/product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Goal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Goal: packs that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feed Oracle's go-to-market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58732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8732" y="1950000"/>
            <a:ext cx="3631166" cy="6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88732" y="2330000"/>
            <a:ext cx="760000" cy="76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40732" y="2482000"/>
            <a:ext cx="456000" cy="456000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Diamond 9"/>
          <p:cNvSpPr/>
          <p:nvPr/>
        </p:nvSpPr>
        <p:spPr>
          <a:xfrm rot="2400000">
            <a:off x="1000332" y="2535200"/>
            <a:ext cx="136800" cy="349600"/>
          </a:xfrm>
          <a:prstGeom prst="diamond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8732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Fit Oracle's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go-to-market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732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Each pack lands in a campaign Oracle already runs, for customers Oracle already has.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9898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89898" y="1950000"/>
            <a:ext cx="3631166" cy="6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619898" y="2330000"/>
            <a:ext cx="760000" cy="76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Funnel 15"/>
          <p:cNvSpPr/>
          <p:nvPr/>
        </p:nvSpPr>
        <p:spPr>
          <a:xfrm>
            <a:off x="4809898" y="2527600"/>
            <a:ext cx="380000" cy="38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9898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Generate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9898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A clear story and a live demo that get an Oracle seller into a first meeting.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1064" y="1950000"/>
            <a:ext cx="3631166" cy="32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221064" y="1950000"/>
            <a:ext cx="3631166" cy="6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551064" y="2330000"/>
            <a:ext cx="760000" cy="76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Lightning Bolt 21"/>
          <p:cNvSpPr/>
          <p:nvPr/>
        </p:nvSpPr>
        <p:spPr>
          <a:xfrm>
            <a:off x="8779064" y="2482000"/>
            <a:ext cx="304000" cy="456000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51064" y="3250000"/>
            <a:ext cx="2971166" cy="7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Accelerate</a:t>
            </a:r>
          </a:p>
          <a:p>
            <a:pPr algn="l">
              <a:lnSpc>
                <a:spcPct val="95000"/>
              </a:lnSpc>
            </a:pPr>
            <a:r>
              <a:rPr sz="2200" b="1">
                <a:solidFill>
                  <a:srgbClr val="26282B"/>
                </a:solidFill>
              </a:rPr>
              <a:t>conversions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1064" y="4100000"/>
            <a:ext cx="2971166" cy="10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A fixed-scope proof of value on the customer's own data, then production with SoftServe.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732" y="5450000"/>
            <a:ext cx="11493500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F36949"/>
                </a:solidFill>
              </a:rPr>
              <a:t>Fit</a:t>
            </a:r>
            <a:r>
              <a:rPr sz="1600" b="0">
                <a:solidFill>
                  <a:srgbClr val="26282B"/>
                </a:solidFill>
              </a:rPr>
              <a:t> is the entry ticket; </a:t>
            </a:r>
            <a:r>
              <a:rPr sz="1600" b="1">
                <a:solidFill>
                  <a:srgbClr val="1485C3"/>
                </a:solidFill>
              </a:rPr>
              <a:t>more leads</a:t>
            </a:r>
            <a:r>
              <a:rPr sz="1600" b="0">
                <a:solidFill>
                  <a:srgbClr val="26282B"/>
                </a:solidFill>
              </a:rPr>
              <a:t> and </a:t>
            </a:r>
            <a:r>
              <a:rPr sz="1600" b="1">
                <a:solidFill>
                  <a:srgbClr val="1485C3"/>
                </a:solidFill>
              </a:rPr>
              <a:t>faster conversions</a:t>
            </a:r>
            <a:r>
              <a:rPr sz="1600" b="0">
                <a:solidFill>
                  <a:srgbClr val="26282B"/>
                </a:solidFill>
              </a:rPr>
              <a:t> are what Oracle gets from 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Oracle's go-to-market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Oracle brings us into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two warm campaigns</a:t>
            </a:r>
            <a:r>
              <a:rPr sz="2800" cap="none">
                <a:latin typeface="+mj-lt"/>
              </a:rPr>
              <a:t>; cold intros we develop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58732" y="1720000"/>
            <a:ext cx="300000" cy="300000"/>
          </a:xfrm>
          <a:prstGeom prst="ellipse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un 6"/>
          <p:cNvSpPr/>
          <p:nvPr/>
        </p:nvSpPr>
        <p:spPr>
          <a:xfrm>
            <a:off x="424732" y="1786000"/>
            <a:ext cx="168000" cy="168000"/>
          </a:xfrm>
          <a:prstGeom prst="su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8732" y="1735000"/>
            <a:ext cx="7528242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26282B"/>
                </a:solidFill>
                <a:latin typeface="Roboto Mono"/>
              </a:rPr>
              <a:t>WARM CAMPAIGNS</a:t>
            </a:r>
            <a:r>
              <a:rPr sz="1100" b="0">
                <a:solidFill>
                  <a:srgbClr val="595959"/>
                </a:solidFill>
                <a:latin typeface="Roboto Mono"/>
              </a:rPr>
              <a:t>  ·  where Oracle AI &amp; Data (EMEA) sees us explicitly</a:t>
            </a:r>
          </a:p>
        </p:txBody>
      </p:sp>
      <p:sp>
        <p:nvSpPr>
          <p:cNvPr id="9" name="Oval 8"/>
          <p:cNvSpPr/>
          <p:nvPr/>
        </p:nvSpPr>
        <p:spPr>
          <a:xfrm>
            <a:off x="8146974" y="1720000"/>
            <a:ext cx="300000" cy="30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6-Point Star 9"/>
          <p:cNvSpPr/>
          <p:nvPr/>
        </p:nvSpPr>
        <p:spPr>
          <a:xfrm>
            <a:off x="8218974" y="1792000"/>
            <a:ext cx="156000" cy="156000"/>
          </a:xfrm>
          <a:prstGeom prst="st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26974" y="1735000"/>
            <a:ext cx="3325258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26282B"/>
                </a:solidFill>
                <a:latin typeface="Roboto Mono"/>
              </a:rPr>
              <a:t>COLD</a:t>
            </a:r>
            <a:r>
              <a:rPr sz="1100" b="0">
                <a:solidFill>
                  <a:srgbClr val="595959"/>
                </a:solidFill>
                <a:latin typeface="Roboto Mono"/>
              </a:rPr>
              <a:t>  ·  we explore proactively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732" y="2150000"/>
            <a:ext cx="3654121" cy="41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58732" y="2150000"/>
            <a:ext cx="3654121" cy="64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8732" y="2245000"/>
            <a:ext cx="2154121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FFFFFF"/>
                </a:solidFill>
              </a:rPr>
              <a:t>AIDP + AI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732" y="2520000"/>
            <a:ext cx="3254121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Roboto Mono"/>
              </a:rPr>
              <a:t>ORACLE AI DATA PLATFORM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22933" y="2270000"/>
            <a:ext cx="809920" cy="23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36949"/>
                </a:solidFill>
                <a:latin typeface="Roboto Mono"/>
              </a:rPr>
              <a:t>PRIORITY 1</a:t>
            </a:r>
          </a:p>
        </p:txBody>
      </p:sp>
      <p:sp>
        <p:nvSpPr>
          <p:cNvPr id="17" name="Oval 16"/>
          <p:cNvSpPr/>
          <p:nvPr/>
        </p:nvSpPr>
        <p:spPr>
          <a:xfrm>
            <a:off x="558732" y="2980000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Funnel 17"/>
          <p:cNvSpPr/>
          <p:nvPr/>
        </p:nvSpPr>
        <p:spPr>
          <a:xfrm>
            <a:off x="653732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8732" y="2960000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732" y="3180000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Oracle's laser campaigns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58732" y="3973333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58732" y="4063333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Gear 6 22"/>
          <p:cNvSpPr/>
          <p:nvPr/>
        </p:nvSpPr>
        <p:spPr>
          <a:xfrm>
            <a:off x="649932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14532" y="4219133"/>
            <a:ext cx="68400" cy="684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8732" y="4043333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732" y="4263333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Lightweight “ask your data” AI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58732" y="5056666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58732" y="5146666"/>
            <a:ext cx="380000" cy="3800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42332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76532" y="5264466"/>
            <a:ext cx="144400" cy="144400"/>
          </a:xfrm>
          <a:prstGeom prst="ellipse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10732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58732" y="5126666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732" y="5346666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Oracle EBS (older ERP) estates; firms with several in-house sources on Oracle databases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2853" y="2150000"/>
            <a:ext cx="3654121" cy="415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232853" y="2150000"/>
            <a:ext cx="3654121" cy="6400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432853" y="2245000"/>
            <a:ext cx="2154121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FFFFFF"/>
                </a:solidFill>
              </a:rPr>
              <a:t>OCI + NVIDIA NeMo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2853" y="2520000"/>
            <a:ext cx="3254121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FFFFFF"/>
                </a:solidFill>
                <a:latin typeface="Roboto Mono"/>
              </a:rPr>
              <a:t>OCI DEDICATED AI CLUSTERS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97054" y="2270000"/>
            <a:ext cx="809920" cy="23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  <a:latin typeface="Roboto Mono"/>
              </a:rPr>
              <a:t>PRIORITY 2</a:t>
            </a:r>
          </a:p>
        </p:txBody>
      </p:sp>
      <p:sp>
        <p:nvSpPr>
          <p:cNvPr id="39" name="Oval 38"/>
          <p:cNvSpPr/>
          <p:nvPr/>
        </p:nvSpPr>
        <p:spPr>
          <a:xfrm>
            <a:off x="4432853" y="2980000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Funnel 39"/>
          <p:cNvSpPr/>
          <p:nvPr/>
        </p:nvSpPr>
        <p:spPr>
          <a:xfrm>
            <a:off x="4527853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932853" y="2960000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2853" y="3180000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NVIDIA-funded pipeline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32853" y="3973333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432853" y="4063333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Gear 6 44"/>
          <p:cNvSpPr/>
          <p:nvPr/>
        </p:nvSpPr>
        <p:spPr>
          <a:xfrm>
            <a:off x="4524053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88653" y="4219133"/>
            <a:ext cx="68400" cy="684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932853" y="4043333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2853" y="4263333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Optimisation (cuOpt), video (VSS), research agents (AI-Q)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932853" y="5056666"/>
            <a:ext cx="2754121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4432853" y="5146666"/>
            <a:ext cx="380000" cy="3800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516453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550653" y="5264466"/>
            <a:ext cx="144400" cy="144400"/>
          </a:xfrm>
          <a:prstGeom prst="ellipse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584853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932853" y="5126666"/>
            <a:ext cx="2754121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32853" y="5346666"/>
            <a:ext cx="2754121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Large existing OCI tenants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46974" y="2150000"/>
            <a:ext cx="3705258" cy="4150000"/>
          </a:xfrm>
          <a:prstGeom prst="rect">
            <a:avLst/>
          </a:prstGeom>
          <a:noFill/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8146974" y="2150000"/>
            <a:ext cx="3705258" cy="640000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346974" y="2245000"/>
            <a:ext cx="2205258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26282B"/>
                </a:solidFill>
              </a:rPr>
              <a:t>AIDP or OCI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46974" y="2520000"/>
            <a:ext cx="3305258" cy="24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>
                <a:solidFill>
                  <a:srgbClr val="595959"/>
                </a:solidFill>
                <a:latin typeface="Roboto Mono"/>
              </a:rPr>
              <a:t>AI DATA PLATFORM OR DEDICATED AI CLUSTERS</a:t>
            </a:r>
          </a:p>
        </p:txBody>
      </p:sp>
      <p:sp>
        <p:nvSpPr>
          <p:cNvPr id="60" name="Oval 59"/>
          <p:cNvSpPr/>
          <p:nvPr/>
        </p:nvSpPr>
        <p:spPr>
          <a:xfrm>
            <a:off x="8346974" y="2980000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Funnel 60"/>
          <p:cNvSpPr/>
          <p:nvPr/>
        </p:nvSpPr>
        <p:spPr>
          <a:xfrm>
            <a:off x="8441974" y="3078800"/>
            <a:ext cx="190000" cy="190000"/>
          </a:xfrm>
          <a:prstGeom prst="funnel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846974" y="2960000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46974" y="3180000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One-off Oracle intros to named accounts (NATO, Toyota)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846974" y="3973333"/>
            <a:ext cx="2805258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8346974" y="4063333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Gear 6 65"/>
          <p:cNvSpPr/>
          <p:nvPr/>
        </p:nvSpPr>
        <p:spPr>
          <a:xfrm>
            <a:off x="8438174" y="4154533"/>
            <a:ext cx="197600" cy="197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502774" y="4219133"/>
            <a:ext cx="68400" cy="684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846974" y="4043333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USE CASES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46974" y="4263333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To be found per account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846974" y="5056666"/>
            <a:ext cx="2805258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8346974" y="5146666"/>
            <a:ext cx="380000" cy="3800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430574" y="5230266"/>
            <a:ext cx="212800" cy="212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464774" y="5264466"/>
            <a:ext cx="144400" cy="144400"/>
          </a:xfrm>
          <a:prstGeom prst="ellipse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498974" y="5298666"/>
            <a:ext cx="76000" cy="7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846974" y="5126666"/>
            <a:ext cx="2805258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CUSTOMERS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46974" y="5346666"/>
            <a:ext cx="2805258" cy="8433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26282B"/>
                </a:solidFill>
              </a:rPr>
              <a:t>Existing Oracle customers: EBS, Fusion, OCI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Packaging strategies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Three ways to package;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Oracle backs the first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58732" y="1800000"/>
            <a:ext cx="3631166" cy="4500000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58732" y="1800000"/>
            <a:ext cx="3631166" cy="60000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38732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732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8954" y="2230000"/>
            <a:ext cx="620944" cy="240000"/>
          </a:xfrm>
          <a:prstGeom prst="roundRect">
            <a:avLst>
              <a:gd name="adj" fmla="val 50000"/>
            </a:avLst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732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what we sell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732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One illustrative pack per platform, plus a pack for every case we take through presales and PoVs.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732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8732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732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1485C3"/>
                </a:solidFill>
              </a:rPr>
              <a:t>●  </a:t>
            </a:r>
            <a:r>
              <a:rPr sz="1400" b="1">
                <a:solidFill>
                  <a:srgbClr val="26282B"/>
                </a:solidFill>
              </a:rPr>
              <a:t>Preferred</a:t>
            </a:r>
            <a:r>
              <a:rPr sz="1400" b="0">
                <a:solidFill>
                  <a:srgbClr val="26282B"/>
                </a:solidFill>
              </a:rPr>
              <a:t> by Neil and Gero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32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898" y="1800000"/>
            <a:ext cx="3631166" cy="450000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289898" y="1800000"/>
            <a:ext cx="3631166" cy="600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569898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69898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136" y="2230000"/>
            <a:ext cx="746928" cy="24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POTENTIAL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9898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likely bestsellers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9898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Proactively package popular cases that showcase what Oracle pushes.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69898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69898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9898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595959"/>
                </a:solidFill>
              </a:rPr>
              <a:t>○  </a:t>
            </a:r>
            <a:r>
              <a:rPr sz="1400" b="1">
                <a:solidFill>
                  <a:srgbClr val="26282B"/>
                </a:solidFill>
              </a:rPr>
              <a:t>Not now</a:t>
            </a:r>
            <a:r>
              <a:rPr sz="1400" b="0">
                <a:solidFill>
                  <a:srgbClr val="26282B"/>
                </a:solidFill>
              </a:rPr>
              <a:t> for AIDP; little resonance with Neil and Gero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98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1064" y="1800000"/>
            <a:ext cx="3631166" cy="450000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221064" y="1800000"/>
            <a:ext cx="3631166" cy="600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501064" y="2100000"/>
            <a:ext cx="520000" cy="520000"/>
          </a:xfrm>
          <a:prstGeom prst="ellipse">
            <a:avLst/>
          </a:prstGeom>
          <a:noFill/>
          <a:ln w="1587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501064" y="2100000"/>
            <a:ext cx="520000" cy="5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000" b="1">
                <a:solidFill>
                  <a:srgbClr val="26282B"/>
                </a:solidFill>
              </a:rPr>
              <a:t>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25302" y="2230000"/>
            <a:ext cx="746928" cy="24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  <a:latin typeface="Roboto Mono"/>
              </a:rPr>
              <a:t>POTENTIAL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1064" y="2820000"/>
            <a:ext cx="3071166" cy="4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26282B"/>
                </a:solidFill>
              </a:rPr>
              <a:t>Package our own expertise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1064" y="3300000"/>
            <a:ext cx="3071166" cy="125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26282B"/>
                </a:solidFill>
              </a:rPr>
              <a:t>Proactively package cases beyond databases and ERP, such as physical AI, built on our expertise.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501064" y="4650000"/>
            <a:ext cx="3071166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01064" y="4780000"/>
            <a:ext cx="3071166" cy="23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50" b="0">
                <a:solidFill>
                  <a:srgbClr val="808080"/>
                </a:solidFill>
                <a:latin typeface="Roboto Mono"/>
              </a:rPr>
              <a:t>ORACLE'S 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1064" y="5030000"/>
            <a:ext cx="3071166" cy="9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595959"/>
                </a:solidFill>
              </a:rPr>
              <a:t>◐  </a:t>
            </a:r>
            <a:r>
              <a:rPr sz="1400" b="1">
                <a:solidFill>
                  <a:srgbClr val="26282B"/>
                </a:solidFill>
              </a:rPr>
              <a:t>Off focus:</a:t>
            </a:r>
            <a:r>
              <a:rPr sz="1400" b="0">
                <a:solidFill>
                  <a:srgbClr val="26282B"/>
                </a:solidFill>
              </a:rPr>
              <a:t> mostly OCI, while Neil and Gero push AIDP and the coming Oracle Intelligence platform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1064" y="5920000"/>
            <a:ext cx="3071166" cy="26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>
                <a:solidFill>
                  <a:srgbClr val="595959"/>
                </a:solidFill>
                <a:latin typeface="Roboto Mono"/>
              </a:rPr>
              <a:t>→ Slide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1 today: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our presales and PoV cases, packaged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46032" y="1687300"/>
            <a:ext cx="11518900" cy="4273960"/>
          </a:xfrm>
          <a:prstGeom prst="rect">
            <a:avLst/>
          </a:prstGeom>
          <a:noFill/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ini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32" y="1700000"/>
            <a:ext cx="11493500" cy="4248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8732" y="6060000"/>
            <a:ext cx="11493500" cy="3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>
                <a:solidFill>
                  <a:srgbClr val="1485C3"/>
                </a:solidFill>
                <a:hlinkClick r:id="rId4"/>
              </a:rPr>
              <a:t>Open the live mini-site products page →</a:t>
            </a:r>
            <a:r>
              <a:rPr sz="900" b="0">
                <a:solidFill>
                  <a:srgbClr val="808080"/>
                </a:solidFill>
                <a:hlinkClick r:id="rId4"/>
              </a:rPr>
              <a:t>   https://claude.ai/artifact/HTEJADBQF3ZevFPuSoTHri#/products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2: new packs that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show what Oracle's platforms do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08732" y="1660000"/>
            <a:ext cx="52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32" y="166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8732" y="1660000"/>
            <a:ext cx="295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WHO HAS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8732" y="1660000"/>
            <a:ext cx="28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8732" y="1660000"/>
            <a:ext cx="162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RUNS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98732" y="1660000"/>
            <a:ext cx="8035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CAMPAIGN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8732" y="1920000"/>
            <a:ext cx="11493500" cy="0"/>
          </a:xfrm>
          <a:prstGeom prst="line">
            <a:avLst/>
          </a:prstGeom>
          <a:ln w="12700">
            <a:solidFill>
              <a:srgbClr val="F369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08732" y="199500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32" y="197500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Document Q&amp;A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732" y="197500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Legal </a:t>
            </a:r>
            <a:r>
              <a:rPr sz="950" b="0">
                <a:solidFill>
                  <a:srgbClr val="26282B"/>
                </a:solidFill>
              </a:rPr>
              <a:t>reads every contract to answer one question.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8732" y="197500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Ask stored documents in plain words; the answer quotes the clause.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8732" y="1985000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98732" y="197500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Laser A5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8732" y="230454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08732" y="237954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32" y="235954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P&amp;L variance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28732" y="235954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The CFO </a:t>
            </a:r>
            <a:r>
              <a:rPr sz="950" b="0">
                <a:solidFill>
                  <a:srgbClr val="26282B"/>
                </a:solidFill>
              </a:rPr>
              <a:t>needs two weeks to explain a budget miss.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8732" y="235954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Oracle's agent ranks the causes and proposes an action, same day.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78732" y="2369545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98732" y="235954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Laser A2, A4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8732" y="268909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08732" y="276409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32" y="274409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EBS exception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732" y="274409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EBS finance and supply </a:t>
            </a:r>
            <a:r>
              <a:rPr sz="950" b="0">
                <a:solidFill>
                  <a:srgbClr val="26282B"/>
                </a:solidFill>
              </a:rPr>
              <a:t>find held invoices, late orders, slow stock too late.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8732" y="274409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Agents flag each case and prepare the fix for approval: faster close.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78732" y="2754090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8732" y="274409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A1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58732" y="307363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08732" y="314863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32" y="312863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Customer churn and retention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28732" y="312863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Telcos and utilities </a:t>
            </a:r>
            <a:r>
              <a:rPr sz="950" b="0">
                <a:solidFill>
                  <a:srgbClr val="26282B"/>
                </a:solidFill>
              </a:rPr>
              <a:t>spot leavers at cancellation; discounts go to stayers.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8732" y="312863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Weekly risk score per customer, with the reason and the cheapest offer.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8732" y="3138635"/>
            <a:ext cx="373200" cy="200000"/>
          </a:xfrm>
          <a:prstGeom prst="roundRect">
            <a:avLst>
              <a:gd name="adj" fmla="val 50000"/>
            </a:avLst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98732" y="312863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Upsell in L1, A3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58732" y="345818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08732" y="353318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26282B"/>
                </a:solidFill>
                <a:latin typeface="Roboto Mono"/>
              </a:rPr>
              <a:t>EXTEND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32" y="351318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Large docs processing and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28732" y="351318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Operations </a:t>
            </a:r>
            <a:r>
              <a:rPr sz="950" b="0">
                <a:solidFill>
                  <a:srgbClr val="26282B"/>
                </a:solidFill>
              </a:rPr>
              <a:t>retype contract rates by hand; wrong rates get paid.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732" y="351318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Terms pulled with page links; a person confirms.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78732" y="352318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8732" y="3743180"/>
            <a:ext cx="1620000" cy="9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+ an AIDP edition to 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8732" y="351318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NVIDIA-funded; Laser A5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58732" y="384272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8732" y="3917725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NEW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8732" y="389772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Customer service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28732" y="389772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Contact centres: </a:t>
            </a:r>
            <a:r>
              <a:rPr sz="950" b="0">
                <a:solidFill>
                  <a:srgbClr val="26282B"/>
                </a:solidFill>
              </a:rPr>
              <a:t>scripted bots fail; routine requests queue for staff.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732" y="389772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An agent answers, completes simple requests, hands off the rest.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78732" y="3907725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78732" y="4127725"/>
            <a:ext cx="1620000" cy="9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b="0">
                <a:solidFill>
                  <a:srgbClr val="595959"/>
                </a:solidFill>
              </a:rPr>
              <a:t>with Oracle Digital Assistant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98732" y="389772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O1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58732" y="422727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08732" y="4302270"/>
            <a:ext cx="520000" cy="180000"/>
          </a:xfrm>
          <a:prstGeom prst="roundRect">
            <a:avLst>
              <a:gd name="adj" fmla="val 50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Roboto Mono"/>
              </a:rPr>
              <a:t>SERVICE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32" y="428227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26282B"/>
                </a:solidFill>
              </a:rPr>
              <a:t>AI running-cost reduction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28732" y="428227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26282B"/>
                </a:solidFill>
              </a:rPr>
              <a:t>CTOs </a:t>
            </a:r>
            <a:r>
              <a:rPr sz="950" b="0">
                <a:solidFill>
                  <a:srgbClr val="26282B"/>
                </a:solidFill>
              </a:rPr>
              <a:t>pay an outside AI service per request; data leaves the company.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8732" y="428227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26282B"/>
                </a:solidFill>
              </a:rPr>
              <a:t>Apps move to a tuned open model on OCI: same answers, lower cost.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278732" y="429227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98732" y="428227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O3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58732" y="461181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08732" y="4686815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32" y="466681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Business metrics Q&amp;A +</a:t>
            </a:r>
          </a:p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Cross-system ERP Q&amp;A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28732" y="466681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Managers </a:t>
            </a:r>
            <a:r>
              <a:rPr sz="950" b="0">
                <a:solidFill>
                  <a:srgbClr val="595959"/>
                </a:solidFill>
              </a:rPr>
              <a:t>wait a week for answers across finance and sales; numbers disagree.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78732" y="466681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Metrics defined once: ask in plain words, one number in minutes.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78732" y="4676815"/>
            <a:ext cx="1135200" cy="200000"/>
          </a:xfrm>
          <a:prstGeom prst="roundRect">
            <a:avLst>
              <a:gd name="adj" fmla="val 50000"/>
            </a:avLst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26282B"/>
                </a:solidFill>
              </a:rPr>
              <a:t>AIDP + AI Lakehouse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98732" y="466681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★ Laser L1; L3, A3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58732" y="499636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408732" y="507136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8732" y="505136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Plan vs actual investigation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28732" y="505136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Project controls </a:t>
            </a:r>
            <a:r>
              <a:rPr sz="950" b="0">
                <a:solidFill>
                  <a:srgbClr val="595959"/>
                </a:solidFill>
              </a:rPr>
              <a:t>can't trace overruns, so the next bid repeats them.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78732" y="505136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Each overrun traced to its cause and record before the next bid.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278732" y="506136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98732" y="505136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58732" y="538090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408732" y="5455905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8732" y="5435905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Workforce optimization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28732" y="5435905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Dispatchers </a:t>
            </a:r>
            <a:r>
              <a:rPr sz="950" b="0">
                <a:solidFill>
                  <a:srgbClr val="595959"/>
                </a:solidFill>
              </a:rPr>
              <a:t>plan by hand: uneven loads, fewer paid jobs a day.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8732" y="5435905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Four-week plan in minutes; more paid jobs a day.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278732" y="5445905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8732" y="5435905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NVIDIA-funded; Laser A3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58732" y="5765450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408732" y="5840450"/>
            <a:ext cx="520000" cy="18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650" b="1">
                <a:solidFill>
                  <a:srgbClr val="595959"/>
                </a:solidFill>
                <a:latin typeface="Roboto Mono"/>
              </a:rPr>
              <a:t>HAVE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28732" y="5820450"/>
            <a:ext cx="22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595959"/>
                </a:solidFill>
              </a:rPr>
              <a:t>Repair-or-replace decisions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28732" y="5820450"/>
            <a:ext cx="295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1">
                <a:solidFill>
                  <a:srgbClr val="595959"/>
                </a:solidFill>
              </a:rPr>
              <a:t>Claims and repair teams </a:t>
            </a:r>
            <a:r>
              <a:rPr sz="950" b="0">
                <a:solidFill>
                  <a:srgbClr val="595959"/>
                </a:solidFill>
              </a:rPr>
              <a:t>judge damage by eye: needless replacements.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8732" y="5820450"/>
            <a:ext cx="28000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950" b="0">
                <a:solidFill>
                  <a:srgbClr val="595959"/>
                </a:solidFill>
              </a:rPr>
              <a:t>Damage measured from photos against the rules; a person confirms.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278732" y="5830450"/>
            <a:ext cx="1440000" cy="200000"/>
          </a:xfrm>
          <a:prstGeom prst="roundRect">
            <a:avLst>
              <a:gd name="adj" fmla="val 50000"/>
            </a:avLst>
          </a:prstGeom>
          <a:solidFill>
            <a:srgbClr val="D2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485C3"/>
                </a:solidFill>
              </a:rPr>
              <a:t>OCI dedicated AI clusters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998732" y="5820450"/>
            <a:ext cx="803500" cy="30454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8000"/>
              </a:lnSpc>
            </a:pPr>
            <a:r>
              <a:rPr sz="850" b="0">
                <a:solidFill>
                  <a:srgbClr val="595959"/>
                </a:solidFill>
              </a:rPr>
              <a:t>NVIDIA-funded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58732" y="6149995"/>
            <a:ext cx="11493500" cy="0"/>
          </a:xfrm>
          <a:prstGeom prst="line">
            <a:avLst/>
          </a:prstGeom>
          <a:ln w="9525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358732" y="6210000"/>
            <a:ext cx="114935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b="1">
                <a:solidFill>
                  <a:srgbClr val="595959"/>
                </a:solidFill>
              </a:rPr>
              <a:t>★ </a:t>
            </a:r>
            <a:r>
              <a:rPr sz="800" b="0">
                <a:solidFill>
                  <a:srgbClr val="595959"/>
                </a:solidFill>
              </a:rPr>
              <a:t>Oracle priority campaign   ·   </a:t>
            </a:r>
            <a:r>
              <a:rPr sz="800" b="1">
                <a:solidFill>
                  <a:srgbClr val="595959"/>
                </a:solidFill>
              </a:rPr>
              <a:t>Laser L / A / O: </a:t>
            </a:r>
            <a:r>
              <a:rPr sz="800" b="0">
                <a:solidFill>
                  <a:srgbClr val="595959"/>
                </a:solidFill>
              </a:rPr>
              <a:t>Oracle's campaigns for AI Lakehouse, AIDP and OCI AI customers   ·   </a:t>
            </a:r>
            <a:r>
              <a:rPr sz="800" b="1">
                <a:solidFill>
                  <a:srgbClr val="595959"/>
                </a:solidFill>
              </a:rPr>
              <a:t>NVIDIA-funded: </a:t>
            </a:r>
            <a:r>
              <a:rPr sz="800" b="0">
                <a:solidFill>
                  <a:srgbClr val="595959"/>
                </a:solidFill>
              </a:rPr>
              <a:t>OCI deals Oracle brings with NVIDIA funding   ·   </a:t>
            </a:r>
            <a:r>
              <a:rPr sz="800" b="1">
                <a:solidFill>
                  <a:srgbClr val="595959"/>
                </a:solidFill>
              </a:rPr>
              <a:t>Grey rows: </a:t>
            </a:r>
            <a:r>
              <a:rPr sz="800" b="0">
                <a:solidFill>
                  <a:srgbClr val="595959"/>
                </a:solidFill>
              </a:rPr>
              <a:t>packs we already have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/>
          <a:lstStyle/>
          <a:p>
            <a:r>
              <a:t>Oracle packs · packaging strategy · Option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58732" y="1081987"/>
            <a:ext cx="11493500" cy="470000"/>
          </a:xfrm>
        </p:spPr>
        <p:txBody>
          <a:bodyPr/>
          <a:lstStyle/>
          <a:p>
            <a:r>
              <a:rPr sz="2800" cap="none">
                <a:latin typeface="+mj-lt"/>
              </a:rPr>
              <a:t>Option 3: </a:t>
            </a:r>
            <a:r>
              <a:rPr sz="2800" cap="none">
                <a:solidFill>
                  <a:srgbClr val="F36949"/>
                </a:solidFill>
                <a:latin typeface="+mj-lt"/>
              </a:rPr>
              <a:t>our expertise, beyond databases and ERP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AAF2A96F-0713-AFAF-1B23-3B040EC9F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08732" y="1660000"/>
            <a:ext cx="25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8732" y="1660000"/>
            <a:ext cx="350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8732" y="1660000"/>
            <a:ext cx="34400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8732" y="1660000"/>
            <a:ext cx="1653500" cy="2200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800" b="0">
                <a:solidFill>
                  <a:srgbClr val="808080"/>
                </a:solidFill>
                <a:latin typeface="Roboto Mono"/>
              </a:rPr>
              <a:t>RUNS 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8732" y="1920000"/>
            <a:ext cx="11493500" cy="0"/>
          </a:xfrm>
          <a:prstGeom prst="line">
            <a:avLst/>
          </a:prstGeom>
          <a:ln w="12700">
            <a:solidFill>
              <a:srgbClr val="F369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58732" y="2040000"/>
            <a:ext cx="11493500" cy="1500000"/>
          </a:xfrm>
          <a:prstGeom prst="rect">
            <a:avLst/>
          </a:prstGeom>
          <a:solidFill>
            <a:srgbClr val="F7F9FA"/>
          </a:solidFill>
          <a:ln w="9525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8732" y="2040000"/>
            <a:ext cx="11493500" cy="150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400" b="1">
                <a:solidFill>
                  <a:srgbClr val="26282B"/>
                </a:solidFill>
              </a:rPr>
              <a:t>To be filled: </a:t>
            </a:r>
            <a:r>
              <a:rPr sz="1400" b="0">
                <a:solidFill>
                  <a:srgbClr val="26282B"/>
                </a:solidFill>
              </a:rPr>
              <a:t>the cases from the “SoftServe OCI/AIDP expertise use cases” session</a:t>
            </a:r>
          </a:p>
          <a:p>
            <a:pPr algn="ctr">
              <a:spcBef>
                <a:spcPts val="600"/>
              </a:spcBef>
            </a:pPr>
            <a:r>
              <a:rPr sz="1100" b="0">
                <a:solidFill>
                  <a:srgbClr val="595959"/>
                </a:solidFill>
              </a:rPr>
              <a:t>Each row: case name · problem (role, situation, cost) · solution (what changes, the measure) · runs on OCI dedicated AI clusters, AIDP or AIDP + AI Lakehouse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