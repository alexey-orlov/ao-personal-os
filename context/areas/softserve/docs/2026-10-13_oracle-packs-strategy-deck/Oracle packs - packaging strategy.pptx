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media/image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2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Relationship Id="rId7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3" r:id="rId4"/>
  </p:sldMasterIdLst>
  <p:notesMasterIdLst>
    <p:notesMasterId r:id="rId28"/>
  </p:notesMasterIdLst>
  <p:handoutMasterIdLst>
    <p:handoutMasterId r:id="rId29"/>
  </p:handoutMasterIdLst>
  <p:sldIdLst>
    <p:sldId id="2147483639" r:id="rId14"/>
    <p:sldId id="2147483640" r:id="rId15"/>
    <p:sldId id="2147483641" r:id="rId16"/>
    <p:sldId id="2147483642" r:id="rId17"/>
    <p:sldId id="2147483643" r:id="rId18"/>
    <p:sldId id="2147483644" r:id="rId19"/>
  </p:sldIdLst>
  <p:sldSz cx="12192000" cy="6858000"/>
  <p:notesSz cx="13716000" cy="243871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D7E6404-F187-8246-A766-E0E29954D569}" name="Iryna Markiv" initials="" userId="S::imarki@softserveinc.com::51b74fcb-94de-4ae6-a833-f560b14dbba8" providerId="AD"/>
  <p188:author id="{5A1AA315-E1D3-F2C9-1337-4740BB9B7B6C}" name="Nataliia Kolobkova" initials="" userId="S::nkolob@softserveinc.com::792c482e-2a45-494f-bd9a-f084b16b9457" providerId="AD"/>
  <p188:author id="{A587C119-866E-FC84-10C9-07DBC241A71F}" name="Pawel Domal" initials="PD" userId="S::padomal@softserveinc.com::0dcc0bba-ce81-4726-adfc-5167fa8cd2c5" providerId="AD"/>
  <p188:author id="{74989E37-B850-1D40-C287-E7457D095939}" name="Taras Lopushanskyi" initials="" userId="S::tlopu@softserveinc.com::7b479547-1ac6-4c3e-bfc7-6a03fe16e469" providerId="AD"/>
  <p188:author id="{21482640-A5A7-D737-7BF2-D35DE245910F}" name="Bohdan Khomych" initials="BK" userId="S::bkhomy@softserveinc.com::a74afff9-9061-49b9-9ccd-c94257aae52d" providerId="AD"/>
  <p188:author id="{DC511251-FA26-9433-1173-3030CF824937}" name="Neill Furmston" initials="" userId="S::nfurm@softserveinc.com::1f7bb88b-ebba-4afe-b2d3-53cd9fd2713d" providerId="AD"/>
  <p188:author id="{F3764051-4701-B8D2-F2FF-086436182B31}" name="Helga Kuklieva" initials="HK" userId="S::okukl@softserveinc.com::8058d566-3e94-4190-bb8d-b787b7329c88" providerId="AD"/>
  <p188:author id="{C2E33E54-C8C2-0C5D-040E-12AE751738F1}" name="Volodymyr Horbovyi" initials="VH" userId="S::vhorbo@softserveinc.com::c81b15e6-e052-4beb-9940-6f5a346dc6fb" providerId="AD"/>
  <p188:author id="{FC195F60-30CD-1CEB-73C0-F626030225A3}" name="Vika Shemet" initials="" userId="S::vsheme@softserveinc.com::db0cc8c0-0552-412f-b1bb-b7d23224c7a0" providerId="AD"/>
  <p188:author id="{2894DD6E-0494-9116-161E-584914936762}" name="Viktoriya Klymenko" initials="VK" userId="S::vklym@softserveinc.com::5ae53fcc-30d6-497b-a87f-600e3b37d87f" providerId="AD"/>
  <p188:author id="{4394AC8E-DC3E-F677-9D4D-E54A7EE923E3}" name="Karsten Tramborg" initials="" userId="S::ktram@softserveinc.com::1262f8f5-da82-4171-8a2c-b12ccabce2e4" providerId="AD"/>
  <p188:author id="{A1D112A3-AFCA-883A-F2AF-90D764BC06CD}" name="Volodymyr S. Chornyy" initials="VSC" userId="S::vchornyy@softserveinc.com::bce045a6-b280-45d7-8bfb-708a3f37d1d9" providerId="AD"/>
  <p188:author id="{7ED644DC-D3AC-75B6-36A0-CC58848AD126}" name="Iryna Sukhotska" initials="" userId="S::isukh@softserveinc.com::57b3c95b-473f-45db-abc5-73044ff921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FF"/>
    <a:srgbClr val="66FFCC"/>
    <a:srgbClr val="66B1DA"/>
    <a:srgbClr val="6197DF"/>
    <a:srgbClr val="C34230"/>
    <a:srgbClr val="F2F4F7"/>
    <a:srgbClr val="90F0BB"/>
    <a:srgbClr val="FCA8A8"/>
    <a:srgbClr val="00FF99"/>
    <a:srgbClr val="4285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2E4527-6086-4226-CC7C-98496AD5F3F6}" v="8" dt="2026-07-21T15:24:56.738"/>
    <p1510:client id="{7C8135A0-CDA8-4096-ACFF-4CF245CF60B9}" v="75" dt="2026-07-22T13:24:59.659"/>
    <p1510:client id="{CE09A14E-E1CD-BEB9-E7FE-63B1E3B99F3C}" v="1" dt="2026-07-22T13:58:24.311"/>
    <p1510:client id="{D50E7535-712B-BC2E-D404-6C68C20F7725}" v="254" dt="2026-07-21T15:52:24.3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microsoft.com/office/2015/10/relationships/revisionInfo" Target="revisionInfo.xml"/><Relationship Id="rId35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0B680F3-DD1E-2F10-DC7E-0F75713A06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Replica LL TT" panose="020B0504010101010104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3F4D9F-E224-EC65-6891-0836CE2DB58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AD74B5-A0C2-784A-8B79-F49806F2F400}" type="datetimeFigureOut">
              <a:rPr lang="en-US" smtClean="0">
                <a:latin typeface="Replica LL TT" panose="020B0504010101010104" pitchFamily="34" charset="77"/>
              </a:rPr>
              <a:t>7/27/2026</a:t>
            </a:fld>
            <a:endParaRPr lang="en-US">
              <a:latin typeface="Replica LL TT" panose="020B0504010101010104" pitchFamily="34" charset="77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E25027-960B-0D77-E2EA-8CA65A6DC5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480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Replica LL TT" panose="020B0504010101010104" pitchFamily="34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4681D8-F754-61ED-C9B7-7CCEB164E1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480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856655-A3FC-734D-870A-74EA14882906}" type="slidenum">
              <a:rPr lang="en-US" smtClean="0">
                <a:latin typeface="Replica LL TT" panose="020B0504010101010104" pitchFamily="34" charset="77"/>
              </a:rPr>
              <a:t>‹#›</a:t>
            </a:fld>
            <a:endParaRPr lang="en-US">
              <a:latin typeface="Replica LL TT" panose="020B05040101010101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998313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2280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017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509" algn="l" defTabSz="457017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017" algn="l" defTabSz="457017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526" algn="l" defTabSz="457017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034" algn="l" defTabSz="457017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2543" algn="l" defTabSz="457017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051" algn="l" defTabSz="457017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599560" algn="l" defTabSz="457017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068" algn="l" defTabSz="457017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The test for every pack we build or keep: does it fit how Oracle already sells, give an Oracle seller a reason to open a meeting, and shorten the way from interest to a signed engagement?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Oracle AI &amp; Data, EMEA. Warm: Oracle's laser campaigns (13 EMEA campaigns; AIDP sells to the line of business, AI Lakehouse to technical buyers) and the NVIDIA-funded pipeline (AI-Q, cuOpt and VSS PoVs; Oracle routes the top opportunities to SoftServe through the joint pipeline call). Cold: one-off introductions by Oracle account teams (NATO via Oracle's defence lead, Toyota). Sources: laser-campaign deck (17 Sep), Neil + Gero sync (16 Sep), Oscar's AIDP sessions (29 Sep, 2 and 12 Oct).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Oracle's view comes from the 16 Sep sync with Neil and Gero (adopt, don't build; no AIDP customer packages yet; keep NVIDIA work apart from AIDP) and later calls. Oscar (AIDP product strategy, 29 Sep) asked SoftServe to repeat its NVIDIA-pack role on AIDP, so option 2 may reopen once the first AIDP opportunity is worked jointly.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The mini-site is the single catalogue Oracle and SoftServe sellers link to: each product has its problem, outcome, use cases by industry, technology and delivery packages, and most have an interactive walkthrough.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Built from the 13 Oct one-pager (Oracle pack set, executive version). ★ = one of Oracle's four priority laser campaigns. Not released yet: Oracle's Deep Insights agent (whitelisted tenancies) and the EBS agent templates (partner release ~16 Oct, per Oscar), so P&amp;L variance analysis and EBS exception agents are built per deal until then. Customer service agent: chat runs on Oracle Digital Assistant + OCI Generative AI; the voice tier on NVIDIA speech models is still a prototype. Also kept, without their own row: Account insights and Case evidence collection (same engine as Plan vs actual), Fleet route optimization (same engine as Workforce optimization).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Source: the 'SoftServe OCI/AIDP expertise use cases' session (13 Oct), 15 cases; this slide keeps the nine that are not database- or ERP-centric.</a:t>
            </a:r>
          </a:p>
          <a:p>
            <a:r>
              <a:t>PURSUE. Digital twins: TerraPower nuclear siting from 18 months to as little as 8 weeks (client release); Global Switch data-centre twin (client release); Continental factory twin with a maintenance co-pilot, -10% maintenance expected. Live Oracle leads: BMW smart factory on Oracle Edge + Omniverse ($0.5M+), Orange Omniverse ($100K). Physics simulation: Krones from 4 h to 5 min, downtime -15%, Microsoft manufacturing award 2026 (runs on Azure); Shell reactor models up to 10^6x faster (joint papers). Lead: OMV (NVIDIA PhysicsNeMo), which Oracle rates low priority. GPU workload tuning: R&amp;D hardware-acceleration practice, run time halved, cloud cost about -50% (typical results claimed, no named client); fits Oracle's AI-cost laser campaign O3 (189+ accounts, priority); needs one named client; overlaps Option 2's AI running-cost reduction service.</a:t>
            </a:r>
          </a:p>
          <a:p>
            <a:r>
              <a:t>PROOF ONLY. Robotics: Toyota Material Handling, model post-trained on 15 min of warehouse video, 99.5% precision and 92.8% recall vs 49.4% recall from simulation alone; AES solar robot on L40S, timeline -2-3 months. Industrial IoT: semiconductor-equipment maker, test data from ~10 systems, testing productivity +10-15%; Printing Planet compressor energy -10%, waste -50%+. Energy: Vital Energy ML for well pumps and gas lift, +45,000 barrels a month (~$4M in six months); a toy maker's carbon data model; Budderfly energy baselines. SoftServe's strongest vertical, not an Oracle priority (banking, aviation, government are).</a:t>
            </a:r>
          </a:p>
          <a:p>
            <a:r>
              <a:t>PARK. Seismic: 3D seismic segmentation PoC for a US oil major; oil and gas ML platform; corrosion-detection PoCs for ABS and Pinnacle. Generative content: Avery label generation live on NVIDIA models; a retailer's image and video model trained from scratch (Google Cloud); no Oracle demand signal. Aerial vision: an insurer's 6-week PoC deriving 12 property attributes for 25,000+ locations; Cisco award for video-footage search (no client).</a:t>
            </a:r>
          </a:p>
          <a:p>
            <a:r>
              <a:t>DATA- AND ERP-CENTRIC (AIDP, Option 2 territory): supply-chain and inventory agents on ERP data (pursue per deal; SoftServe's Inventory Management Teammate; closest public asset to Oracle's first AIDP target, EBS, 123 accounts), CFO finance and profitability analytics (pursue per deal with Oracle's Deep Insights; proof is reporting-level), migrations onto a lakehouse (pursue: Oracle campaigns on old warehouses, 150, and data movement, 222; Blis 5 PB moved in under 4 months, bill -20%), governed data foundation and semantic layer (pursue: Oracle's priority Lakehouse campaign, 225; BDUK, Shawbrook), banking risk and compliance data (pursue: banking is an Oracle priority industry; BNY's OCI landing zone is an internal credential), research and Q&amp;A over documents (pursue: Oracle's largest AIDP campaign, unstructured data, 238; McGill and Partners 6 h to 10 min).</a:t>
            </a:r>
          </a:p>
        </p:txBody>
      </p:sp>
    </p:spTree>
  </p:cSld>
  <p:clrMapOvr>
    <a:masterClrMapping/>
  </p:clrMapOvr>
</p:note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1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2E51680A-FFEB-87D3-5EF8-50A2898A208D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358775" y="2819400"/>
            <a:ext cx="11490325" cy="3429000"/>
          </a:xfrm>
        </p:spPr>
        <p:txBody>
          <a:bodyPr/>
          <a:lstStyle>
            <a:lvl1pPr marL="0" indent="0">
              <a:lnSpc>
                <a:spcPct val="110000"/>
              </a:lnSpc>
              <a:spcAft>
                <a:spcPts val="1000"/>
              </a:spcAft>
              <a:buNone/>
              <a:tabLst/>
              <a:defRPr b="0" i="0">
                <a:latin typeface="+mn-lt"/>
              </a:defRPr>
            </a:lvl1pPr>
            <a:lvl2pPr>
              <a:lnSpc>
                <a:spcPct val="110000"/>
              </a:lnSpc>
              <a:spcAft>
                <a:spcPts val="1000"/>
              </a:spcAft>
              <a:buNone/>
              <a:defRPr b="0" i="0">
                <a:latin typeface="+mn-lt"/>
              </a:defRPr>
            </a:lvl2pPr>
            <a:lvl3pPr>
              <a:lnSpc>
                <a:spcPct val="110000"/>
              </a:lnSpc>
              <a:spcAft>
                <a:spcPts val="1000"/>
              </a:spcAft>
              <a:buNone/>
              <a:defRPr b="0" i="0">
                <a:latin typeface="+mn-lt"/>
              </a:defRPr>
            </a:lvl3pPr>
            <a:lvl4pPr>
              <a:lnSpc>
                <a:spcPct val="110000"/>
              </a:lnSpc>
              <a:spcAft>
                <a:spcPts val="1000"/>
              </a:spcAft>
              <a:buNone/>
              <a:defRPr b="0" i="0">
                <a:latin typeface="+mn-lt"/>
              </a:defRPr>
            </a:lvl4pPr>
            <a:lvl5pPr>
              <a:lnSpc>
                <a:spcPct val="110000"/>
              </a:lnSpc>
              <a:spcAft>
                <a:spcPts val="1000"/>
              </a:spcAft>
              <a:buNone/>
              <a:defRPr b="0" i="0">
                <a:latin typeface="+mn-lt"/>
              </a:defRPr>
            </a:lvl5pPr>
            <a:lvl6pPr>
              <a:lnSpc>
                <a:spcPct val="110000"/>
              </a:lnSpc>
              <a:spcAft>
                <a:spcPts val="1000"/>
              </a:spcAft>
              <a:buNone/>
              <a:defRPr b="0" i="0">
                <a:latin typeface="+mn-lt"/>
              </a:defRPr>
            </a:lvl6pPr>
            <a:lvl7pPr>
              <a:lnSpc>
                <a:spcPct val="110000"/>
              </a:lnSpc>
              <a:spcAft>
                <a:spcPts val="1000"/>
              </a:spcAft>
              <a:buNone/>
              <a:defRPr b="0" i="0">
                <a:latin typeface="+mn-lt"/>
              </a:defRPr>
            </a:lvl7pPr>
            <a:lvl8pPr>
              <a:lnSpc>
                <a:spcPct val="110000"/>
              </a:lnSpc>
              <a:spcAft>
                <a:spcPts val="1000"/>
              </a:spcAft>
              <a:buNone/>
              <a:defRPr b="0" i="0">
                <a:latin typeface="+mn-lt"/>
              </a:defRPr>
            </a:lvl8pPr>
            <a:lvl9pPr>
              <a:lnSpc>
                <a:spcPct val="110000"/>
              </a:lnSpc>
              <a:spcAft>
                <a:spcPts val="1000"/>
              </a:spcAft>
              <a:buNone/>
              <a:defRPr b="0" i="0">
                <a:latin typeface="+mn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FD571CDE-B9F4-7B75-49A8-D1C30DB9346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8861" y="279562"/>
            <a:ext cx="5007413" cy="2066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800" b="0" i="0" cap="none" baseline="0">
                <a:solidFill>
                  <a:schemeClr val="tx2">
                    <a:lumMod val="90000"/>
                    <a:lumOff val="10000"/>
                  </a:schemeClr>
                </a:solidFill>
                <a:latin typeface="Roboto Mono" pitchFamily="49" charset="0"/>
                <a:ea typeface="Roboto Mono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Presentation or Section name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64CAFCC1-38CA-3166-0FCA-B21C3B410E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" pitchFamily="49" charset="0"/>
                <a:ea typeface="Roboto Mono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8734" y="1081986"/>
            <a:ext cx="4111150" cy="85056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3001" b="0" i="0" cap="all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44327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20" Type="http://schemas.openxmlformats.org/officeDocument/2006/relationships/slideLayout" Target="../slideLayouts/slideLayout20.xml"/><Relationship Id="rId70" Type="http://schemas.openxmlformats.org/officeDocument/2006/relationships/theme" Target="../theme/theme1.xml"/><Relationship Id="rId71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9">
            <a:extLst>
              <a:ext uri="{FF2B5EF4-FFF2-40B4-BE49-F238E27FC236}">
                <a16:creationId xmlns:a16="http://schemas.microsoft.com/office/drawing/2014/main" id="{CC28ACB6-8CB3-E190-AAA3-6747DFFE15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3337" y="197826"/>
            <a:ext cx="57582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0" i="0">
                <a:solidFill>
                  <a:schemeClr val="tx2">
                    <a:lumMod val="50000"/>
                    <a:lumOff val="50000"/>
                  </a:schemeClr>
                </a:solidFill>
                <a:latin typeface="Roboto Mono" pitchFamily="49" charset="0"/>
                <a:ea typeface="Roboto Mono" pitchFamily="49" charset="0"/>
                <a:cs typeface="Replica LL TT" panose="020B0504010101010104" pitchFamily="34" charset="7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0F829B-1468-26F9-C19B-985741973859}"/>
              </a:ext>
            </a:extLst>
          </p:cNvPr>
          <p:cNvCxnSpPr>
            <a:cxnSpLocks/>
          </p:cNvCxnSpPr>
          <p:nvPr userDrawn="1"/>
        </p:nvCxnSpPr>
        <p:spPr>
          <a:xfrm>
            <a:off x="342900" y="6515100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45FEAE-7A79-66BA-FD94-F1B2ECDB8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2448909"/>
            <a:ext cx="11468102" cy="3728053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US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24F31599-6B9F-8BB9-66CC-7517887D0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920338"/>
            <a:ext cx="5220104" cy="1325563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8">
            <a:extLst>
              <a:ext uri="{FF2B5EF4-FFF2-40B4-BE49-F238E27FC236}">
                <a16:creationId xmlns:a16="http://schemas.microsoft.com/office/drawing/2014/main" id="{85B0EE91-61D1-8D52-0B58-F63F4033609B}"/>
              </a:ext>
            </a:extLst>
          </p:cNvPr>
          <p:cNvSpPr txBox="1">
            <a:spLocks/>
          </p:cNvSpPr>
          <p:nvPr userDrawn="1"/>
        </p:nvSpPr>
        <p:spPr>
          <a:xfrm>
            <a:off x="3270250" y="302793"/>
            <a:ext cx="2742327" cy="257175"/>
          </a:xfrm>
          <a:prstGeom prst="rect">
            <a:avLst/>
          </a:prstGeom>
        </p:spPr>
        <p:txBody>
          <a:bodyPr lIns="0" rIns="0"/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rgbClr val="26292B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337">
              <a:lnSpc>
                <a:spcPts val="800"/>
              </a:lnSpc>
              <a:spcBef>
                <a:spcPts val="0"/>
              </a:spcBef>
              <a:buFontTx/>
              <a:buNone/>
              <a:defRPr/>
            </a:pPr>
            <a:r>
              <a:rPr lang="en-US" sz="800">
                <a:solidFill>
                  <a:schemeClr val="tx2">
                    <a:lumMod val="90000"/>
                    <a:lumOff val="10000"/>
                  </a:schemeClr>
                </a:solidFill>
                <a:latin typeface="Roboto Mono Regular" pitchFamily="34" charset="0"/>
                <a:ea typeface="Roboto Mono Regular" pitchFamily="34" charset="-122"/>
                <a:cs typeface="Roboto Mono Regular" pitchFamily="34" charset="-120"/>
              </a:rPr>
              <a:t>SoftServe</a:t>
            </a:r>
            <a:endParaRPr lang="en-US" sz="800" b="0" i="0">
              <a:solidFill>
                <a:schemeClr val="tx2">
                  <a:lumMod val="90000"/>
                  <a:lumOff val="10000"/>
                </a:schemeClr>
              </a:solidFill>
              <a:latin typeface="Replica LL TT" panose="020B0504010101010104" pitchFamily="34" charset="77"/>
            </a:endParaRPr>
          </a:p>
        </p:txBody>
      </p:sp>
      <p:pic>
        <p:nvPicPr>
          <p:cNvPr id="13" name="Image 1" descr=" ">
            <a:extLst>
              <a:ext uri="{FF2B5EF4-FFF2-40B4-BE49-F238E27FC236}">
                <a16:creationId xmlns:a16="http://schemas.microsoft.com/office/drawing/2014/main" id="{A85A963D-3698-3156-78F6-92AE46B288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342900" y="204509"/>
            <a:ext cx="317498" cy="361809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781D3F8-2806-623C-E4A5-125725F3FCAF}"/>
              </a:ext>
            </a:extLst>
          </p:cNvPr>
          <p:cNvCxnSpPr>
            <a:cxnSpLocks/>
          </p:cNvCxnSpPr>
          <p:nvPr userDrawn="1"/>
        </p:nvCxnSpPr>
        <p:spPr>
          <a:xfrm>
            <a:off x="342900" y="876300"/>
            <a:ext cx="11506200" cy="0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6666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1" b="0" i="0" kern="1200">
          <a:solidFill>
            <a:schemeClr val="tx1"/>
          </a:solidFill>
          <a:latin typeface="+mn-lt"/>
          <a:ea typeface="+mj-ea"/>
          <a:cs typeface="Replica LL TT" panose="020B0504010101010104" pitchFamily="34" charset="77"/>
        </a:defRPr>
      </a:lvl1pPr>
    </p:titleStyle>
    <p:bodyStyle>
      <a:lvl1pPr marL="145098" indent="-145098" algn="l" defTabSz="365760" rtl="0" eaLnBrk="1" latinLnBrk="0" hangingPunct="1">
        <a:lnSpc>
          <a:spcPct val="11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/>
        <a:defRPr sz="1400" b="0" i="0" kern="1200" baseline="0">
          <a:solidFill>
            <a:schemeClr val="tx1"/>
          </a:solidFill>
          <a:latin typeface="+mn-lt"/>
          <a:ea typeface="+mn-ea"/>
          <a:cs typeface="Replica LL TT" panose="020B0504010101010104" pitchFamily="34" charset="77"/>
        </a:defRPr>
      </a:lvl1pPr>
      <a:lvl2pPr marL="292608" indent="-146304" algn="l" defTabSz="146304" rtl="0" eaLnBrk="1" latinLnBrk="0" hangingPunct="1">
        <a:lnSpc>
          <a:spcPct val="11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38912" indent="-146304" algn="l" defTabSz="146304" rtl="0" eaLnBrk="1" latinLnBrk="0" hangingPunct="1">
        <a:lnSpc>
          <a:spcPct val="11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1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585216" indent="-146304" algn="l" defTabSz="365760" rtl="0" eaLnBrk="1" latinLnBrk="0" hangingPunct="1">
        <a:lnSpc>
          <a:spcPct val="11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05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731520" indent="-146304" algn="l" defTabSz="365760" rtl="0" eaLnBrk="1" latinLnBrk="0" hangingPunct="1">
        <a:lnSpc>
          <a:spcPct val="11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0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877824" indent="-146304" algn="l" defTabSz="365760" rtl="0" eaLnBrk="1" latinLnBrk="0" hangingPunct="1">
        <a:lnSpc>
          <a:spcPct val="11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900" b="0" i="0" kern="1200">
          <a:solidFill>
            <a:schemeClr val="tx1"/>
          </a:solidFill>
          <a:latin typeface="+mn-lt"/>
          <a:ea typeface="+mn-ea"/>
          <a:cs typeface="+mn-cs"/>
        </a:defRPr>
      </a:lvl6pPr>
      <a:lvl7pPr marL="1024128" indent="-146304" algn="l" defTabSz="365760" rtl="0" eaLnBrk="1" latinLnBrk="0" hangingPunct="1">
        <a:lnSpc>
          <a:spcPct val="11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800" b="0" i="0" kern="1200">
          <a:solidFill>
            <a:schemeClr val="tx1"/>
          </a:solidFill>
          <a:latin typeface="+mn-lt"/>
          <a:ea typeface="+mn-ea"/>
          <a:cs typeface="+mn-cs"/>
        </a:defRPr>
      </a:lvl7pPr>
      <a:lvl8pPr marL="1170432" indent="-146304" algn="l" defTabSz="365760" rtl="0" eaLnBrk="1" latinLnBrk="0" hangingPunct="1">
        <a:lnSpc>
          <a:spcPct val="11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700" b="0" i="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" indent="-146304" algn="l" defTabSz="365760" rtl="0" eaLnBrk="1" latinLnBrk="0" hangingPunct="1">
        <a:lnSpc>
          <a:spcPct val="11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600" b="0" i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99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4" userDrawn="1">
          <p15:clr>
            <a:srgbClr val="F26B43"/>
          </p15:clr>
        </p15:guide>
        <p15:guide id="2" pos="3778" userDrawn="1">
          <p15:clr>
            <a:srgbClr val="F26B43"/>
          </p15:clr>
        </p15:guide>
        <p15:guide id="3" pos="216" userDrawn="1">
          <p15:clr>
            <a:srgbClr val="F26B43"/>
          </p15:clr>
        </p15:guide>
        <p15:guide id="4" pos="1011" userDrawn="1">
          <p15:clr>
            <a:srgbClr val="F26B43"/>
          </p15:clr>
        </p15:guide>
        <p15:guide id="5" pos="1135" userDrawn="1">
          <p15:clr>
            <a:srgbClr val="F26B43"/>
          </p15:clr>
        </p15:guide>
        <p15:guide id="6" pos="2060" userDrawn="1">
          <p15:clr>
            <a:srgbClr val="F26B43"/>
          </p15:clr>
        </p15:guide>
        <p15:guide id="7" pos="1936" userDrawn="1">
          <p15:clr>
            <a:srgbClr val="F26B43"/>
          </p15:clr>
        </p15:guide>
        <p15:guide id="8" pos="2858" userDrawn="1">
          <p15:clr>
            <a:srgbClr val="F26B43"/>
          </p15:clr>
        </p15:guide>
        <p15:guide id="9" pos="2982" userDrawn="1">
          <p15:clr>
            <a:srgbClr val="F26B43"/>
          </p15:clr>
        </p15:guide>
        <p15:guide id="10" pos="3904" userDrawn="1">
          <p15:clr>
            <a:srgbClr val="F26B43"/>
          </p15:clr>
        </p15:guide>
        <p15:guide id="11" pos="4700" userDrawn="1">
          <p15:clr>
            <a:srgbClr val="F26B43"/>
          </p15:clr>
        </p15:guide>
        <p15:guide id="12" pos="4826" userDrawn="1">
          <p15:clr>
            <a:srgbClr val="F26B43"/>
          </p15:clr>
        </p15:guide>
        <p15:guide id="13" pos="5620" userDrawn="1">
          <p15:clr>
            <a:srgbClr val="F26B43"/>
          </p15:clr>
        </p15:guide>
        <p15:guide id="14" pos="5748" userDrawn="1">
          <p15:clr>
            <a:srgbClr val="F26B43"/>
          </p15:clr>
        </p15:guide>
        <p15:guide id="15" pos="6544" userDrawn="1">
          <p15:clr>
            <a:srgbClr val="F26B43"/>
          </p15:clr>
        </p15:guide>
        <p15:guide id="16" pos="6670" userDrawn="1">
          <p15:clr>
            <a:srgbClr val="F26B43"/>
          </p15:clr>
        </p15:guide>
        <p15:guide id="17" pos="7464" userDrawn="1">
          <p15:clr>
            <a:srgbClr val="F26B43"/>
          </p15:clr>
        </p15:guide>
        <p15:guide id="18" orient="horz" pos="4104" userDrawn="1">
          <p15:clr>
            <a:srgbClr val="F26B43"/>
          </p15:clr>
        </p15:guide>
        <p15:guide id="19" orient="horz" pos="552" userDrawn="1">
          <p15:clr>
            <a:srgbClr val="F26B43"/>
          </p15:clr>
        </p15:guide>
      </p15:sldGuideLst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hyperlink" Target="https://claude.ai/artifact/HTEJADBQF3ZevFPuSoTHri#/products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34" sz="quarter"/>
          </p:nvPr>
        </p:nvSpPr>
        <p:spPr/>
        <p:txBody>
          <a:bodyPr/>
          <a:lstStyle/>
          <a:p>
            <a:r>
              <a:t>Oracle packs · packaging strategy · Goal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58732" y="1081987"/>
            <a:ext cx="11493500" cy="470000"/>
          </a:xfrm>
        </p:spPr>
        <p:txBody>
          <a:bodyPr/>
          <a:lstStyle/>
          <a:p>
            <a:r>
              <a:rPr sz="2800" cap="none">
                <a:latin typeface="+mj-lt"/>
              </a:rPr>
              <a:t>Goal: packs that </a:t>
            </a:r>
            <a:r>
              <a:rPr sz="2800" cap="none">
                <a:solidFill>
                  <a:srgbClr val="F36949"/>
                </a:solidFill>
                <a:latin typeface="+mj-lt"/>
              </a:rPr>
              <a:t>feed Oracle's go-to-market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AF2A96F-0713-AFAF-1B23-3B040EC9FA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58732" y="1950000"/>
            <a:ext cx="3631166" cy="3250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58732" y="1950000"/>
            <a:ext cx="3631166" cy="60000"/>
          </a:xfrm>
          <a:prstGeom prst="rect">
            <a:avLst/>
          </a:prstGeom>
          <a:solidFill>
            <a:srgbClr val="F36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688732" y="2330000"/>
            <a:ext cx="760000" cy="760000"/>
          </a:xfrm>
          <a:prstGeom prst="ellipse">
            <a:avLst/>
          </a:prstGeom>
          <a:solidFill>
            <a:srgbClr val="F36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40732" y="2482000"/>
            <a:ext cx="456000" cy="456000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Diamond 9"/>
          <p:cNvSpPr/>
          <p:nvPr/>
        </p:nvSpPr>
        <p:spPr>
          <a:xfrm rot="2400000">
            <a:off x="1000332" y="2535200"/>
            <a:ext cx="136800" cy="349600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8732" y="3250000"/>
            <a:ext cx="2971166" cy="76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2200" b="1">
                <a:solidFill>
                  <a:srgbClr val="26282B"/>
                </a:solidFill>
              </a:rPr>
              <a:t>Fit Oracle's</a:t>
            </a:r>
          </a:p>
          <a:p>
            <a:pPr algn="l">
              <a:lnSpc>
                <a:spcPct val="95000"/>
              </a:lnSpc>
            </a:pPr>
            <a:r>
              <a:rPr sz="2200" b="1">
                <a:solidFill>
                  <a:srgbClr val="26282B"/>
                </a:solidFill>
              </a:rPr>
              <a:t>go-to-market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732" y="4100000"/>
            <a:ext cx="2971166" cy="105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26282B"/>
                </a:solidFill>
              </a:rPr>
              <a:t>Each pack lands in a campaign Oracle already runs, for customers Oracle already has.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89898" y="1950000"/>
            <a:ext cx="3631166" cy="3250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289898" y="1950000"/>
            <a:ext cx="3631166" cy="60000"/>
          </a:xfrm>
          <a:prstGeom prst="rect">
            <a:avLst/>
          </a:prstGeom>
          <a:solidFill>
            <a:srgbClr val="148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4619898" y="2330000"/>
            <a:ext cx="760000" cy="760000"/>
          </a:xfrm>
          <a:prstGeom prst="ellipse">
            <a:avLst/>
          </a:prstGeom>
          <a:solidFill>
            <a:srgbClr val="148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Funnel 15"/>
          <p:cNvSpPr/>
          <p:nvPr/>
        </p:nvSpPr>
        <p:spPr>
          <a:xfrm>
            <a:off x="4809898" y="2527600"/>
            <a:ext cx="380000" cy="380000"/>
          </a:xfrm>
          <a:prstGeom prst="funnel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619898" y="3250000"/>
            <a:ext cx="2971166" cy="76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2200" b="1">
                <a:solidFill>
                  <a:srgbClr val="26282B"/>
                </a:solidFill>
              </a:rPr>
              <a:t>Generate</a:t>
            </a:r>
          </a:p>
          <a:p>
            <a:pPr algn="l">
              <a:lnSpc>
                <a:spcPct val="95000"/>
              </a:lnSpc>
            </a:pPr>
            <a:r>
              <a:rPr sz="2200" b="1">
                <a:solidFill>
                  <a:srgbClr val="26282B"/>
                </a:solidFill>
              </a:rPr>
              <a:t>leads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9898" y="4100000"/>
            <a:ext cx="2971166" cy="105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26282B"/>
                </a:solidFill>
              </a:rPr>
              <a:t>A clear story and a live demo that get an Oracle seller into a first meeting.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1064" y="1950000"/>
            <a:ext cx="3631166" cy="3250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221064" y="1950000"/>
            <a:ext cx="3631166" cy="60000"/>
          </a:xfrm>
          <a:prstGeom prst="rect">
            <a:avLst/>
          </a:prstGeom>
          <a:solidFill>
            <a:srgbClr val="148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8551064" y="2330000"/>
            <a:ext cx="760000" cy="760000"/>
          </a:xfrm>
          <a:prstGeom prst="ellipse">
            <a:avLst/>
          </a:prstGeom>
          <a:solidFill>
            <a:srgbClr val="148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ightning Bolt 21"/>
          <p:cNvSpPr/>
          <p:nvPr/>
        </p:nvSpPr>
        <p:spPr>
          <a:xfrm>
            <a:off x="8779064" y="2482000"/>
            <a:ext cx="304000" cy="456000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551064" y="3250000"/>
            <a:ext cx="2971166" cy="76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2200" b="1">
                <a:solidFill>
                  <a:srgbClr val="26282B"/>
                </a:solidFill>
              </a:rPr>
              <a:t>Accelerate</a:t>
            </a:r>
          </a:p>
          <a:p>
            <a:pPr algn="l">
              <a:lnSpc>
                <a:spcPct val="95000"/>
              </a:lnSpc>
            </a:pPr>
            <a:r>
              <a:rPr sz="2200" b="1">
                <a:solidFill>
                  <a:srgbClr val="26282B"/>
                </a:solidFill>
              </a:rPr>
              <a:t>conversions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51064" y="4100000"/>
            <a:ext cx="2971166" cy="105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26282B"/>
                </a:solidFill>
              </a:rPr>
              <a:t>A fixed-scope proof of value on the customer's own data, then production with SoftServe.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8732" y="5450000"/>
            <a:ext cx="11493500" cy="4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F36949"/>
                </a:solidFill>
              </a:rPr>
              <a:t>Fit</a:t>
            </a:r>
            <a:r>
              <a:rPr sz="1600" b="0">
                <a:solidFill>
                  <a:srgbClr val="26282B"/>
                </a:solidFill>
              </a:rPr>
              <a:t> is the entry ticket; </a:t>
            </a:r>
            <a:r>
              <a:rPr sz="1600" b="1">
                <a:solidFill>
                  <a:srgbClr val="1485C3"/>
                </a:solidFill>
              </a:rPr>
              <a:t>more leads</a:t>
            </a:r>
            <a:r>
              <a:rPr sz="1600" b="0">
                <a:solidFill>
                  <a:srgbClr val="26282B"/>
                </a:solidFill>
              </a:rPr>
              <a:t> and </a:t>
            </a:r>
            <a:r>
              <a:rPr sz="1600" b="1">
                <a:solidFill>
                  <a:srgbClr val="1485C3"/>
                </a:solidFill>
              </a:rPr>
              <a:t>faster conversions</a:t>
            </a:r>
            <a:r>
              <a:rPr sz="1600" b="0">
                <a:solidFill>
                  <a:srgbClr val="26282B"/>
                </a:solidFill>
              </a:rPr>
              <a:t> are what Oracle gets from 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34" sz="quarter"/>
          </p:nvPr>
        </p:nvSpPr>
        <p:spPr/>
        <p:txBody>
          <a:bodyPr/>
          <a:lstStyle/>
          <a:p>
            <a:r>
              <a:t>Oracle packs · packaging strategy · Oracle's go-to-market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58732" y="1081987"/>
            <a:ext cx="11493500" cy="470000"/>
          </a:xfrm>
        </p:spPr>
        <p:txBody>
          <a:bodyPr/>
          <a:lstStyle/>
          <a:p>
            <a:r>
              <a:rPr sz="2800" cap="none">
                <a:latin typeface="+mj-lt"/>
              </a:rPr>
              <a:t>Oracle brings us into </a:t>
            </a:r>
            <a:r>
              <a:rPr sz="2800" cap="none">
                <a:solidFill>
                  <a:srgbClr val="F36949"/>
                </a:solidFill>
                <a:latin typeface="+mj-lt"/>
              </a:rPr>
              <a:t>two warm campaigns</a:t>
            </a:r>
            <a:r>
              <a:rPr sz="2800" cap="none">
                <a:latin typeface="+mj-lt"/>
              </a:rPr>
              <a:t>; cold intros we develop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AF2A96F-0713-AFAF-1B23-3B040EC9FA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58732" y="1720000"/>
            <a:ext cx="300000" cy="300000"/>
          </a:xfrm>
          <a:prstGeom prst="ellipse">
            <a:avLst/>
          </a:prstGeom>
          <a:solidFill>
            <a:srgbClr val="262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un 6"/>
          <p:cNvSpPr/>
          <p:nvPr/>
        </p:nvSpPr>
        <p:spPr>
          <a:xfrm>
            <a:off x="424732" y="1786000"/>
            <a:ext cx="168000" cy="168000"/>
          </a:xfrm>
          <a:prstGeom prst="su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8732" y="1735000"/>
            <a:ext cx="7528242" cy="3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>
                <a:solidFill>
                  <a:srgbClr val="26282B"/>
                </a:solidFill>
                <a:latin typeface="Roboto Mono"/>
              </a:rPr>
              <a:t>WARM CAMPAIGNS</a:t>
            </a:r>
            <a:r>
              <a:rPr sz="1100" b="0">
                <a:solidFill>
                  <a:srgbClr val="595959"/>
                </a:solidFill>
                <a:latin typeface="Roboto Mono"/>
              </a:rPr>
              <a:t>  ·  where Oracle AI &amp; Data (EMEA) sees us explicitly</a:t>
            </a:r>
          </a:p>
        </p:txBody>
      </p:sp>
      <p:sp>
        <p:nvSpPr>
          <p:cNvPr id="9" name="Oval 8"/>
          <p:cNvSpPr/>
          <p:nvPr/>
        </p:nvSpPr>
        <p:spPr>
          <a:xfrm>
            <a:off x="8146974" y="1720000"/>
            <a:ext cx="300000" cy="300000"/>
          </a:xfrm>
          <a:prstGeom prst="ellipse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6-Point Star 9"/>
          <p:cNvSpPr/>
          <p:nvPr/>
        </p:nvSpPr>
        <p:spPr>
          <a:xfrm>
            <a:off x="8218974" y="1792000"/>
            <a:ext cx="156000" cy="156000"/>
          </a:xfrm>
          <a:prstGeom prst="star6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26974" y="1735000"/>
            <a:ext cx="3325258" cy="3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>
                <a:solidFill>
                  <a:srgbClr val="26282B"/>
                </a:solidFill>
                <a:latin typeface="Roboto Mono"/>
              </a:rPr>
              <a:t>COLD</a:t>
            </a:r>
            <a:r>
              <a:rPr sz="1100" b="0">
                <a:solidFill>
                  <a:srgbClr val="595959"/>
                </a:solidFill>
                <a:latin typeface="Roboto Mono"/>
              </a:rPr>
              <a:t>  ·  we explore proactively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8732" y="2150000"/>
            <a:ext cx="3654121" cy="4150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58732" y="2150000"/>
            <a:ext cx="3654121" cy="640000"/>
          </a:xfrm>
          <a:prstGeom prst="rect">
            <a:avLst/>
          </a:prstGeom>
          <a:solidFill>
            <a:srgbClr val="F36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58732" y="2245000"/>
            <a:ext cx="2154121" cy="3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>
                <a:solidFill>
                  <a:srgbClr val="FFFFFF"/>
                </a:solidFill>
              </a:rPr>
              <a:t>AIDP + AI Lakehouse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732" y="2520000"/>
            <a:ext cx="3254121" cy="24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Roboto Mono"/>
              </a:rPr>
              <a:t>ORACLE AI DATA PLATFORM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22933" y="2270000"/>
            <a:ext cx="809920" cy="23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36949"/>
                </a:solidFill>
                <a:latin typeface="Roboto Mono"/>
              </a:rPr>
              <a:t>PRIORITY 1</a:t>
            </a:r>
          </a:p>
        </p:txBody>
      </p:sp>
      <p:sp>
        <p:nvSpPr>
          <p:cNvPr id="17" name="Oval 16"/>
          <p:cNvSpPr/>
          <p:nvPr/>
        </p:nvSpPr>
        <p:spPr>
          <a:xfrm>
            <a:off x="558732" y="2980000"/>
            <a:ext cx="380000" cy="380000"/>
          </a:xfrm>
          <a:prstGeom prst="ellipse">
            <a:avLst/>
          </a:prstGeom>
          <a:solidFill>
            <a:srgbClr val="F36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unnel 17"/>
          <p:cNvSpPr/>
          <p:nvPr/>
        </p:nvSpPr>
        <p:spPr>
          <a:xfrm>
            <a:off x="653732" y="3078800"/>
            <a:ext cx="190000" cy="190000"/>
          </a:xfrm>
          <a:prstGeom prst="funnel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58732" y="2960000"/>
            <a:ext cx="2754121" cy="23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50" b="0">
                <a:solidFill>
                  <a:srgbClr val="808080"/>
                </a:solidFill>
                <a:latin typeface="Roboto Mono"/>
              </a:rPr>
              <a:t>CAMPAIGN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8732" y="3180000"/>
            <a:ext cx="2754121" cy="8433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6282B"/>
                </a:solidFill>
              </a:rPr>
              <a:t>Oracle's laser campaigns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58732" y="3973333"/>
            <a:ext cx="2754121" cy="0"/>
          </a:xfrm>
          <a:prstGeom prst="line">
            <a:avLst/>
          </a:prstGeom>
          <a:ln w="9525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558732" y="4063333"/>
            <a:ext cx="380000" cy="380000"/>
          </a:xfrm>
          <a:prstGeom prst="ellipse">
            <a:avLst/>
          </a:prstGeom>
          <a:solidFill>
            <a:srgbClr val="F36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Gear 6 22"/>
          <p:cNvSpPr/>
          <p:nvPr/>
        </p:nvSpPr>
        <p:spPr>
          <a:xfrm>
            <a:off x="649932" y="4154533"/>
            <a:ext cx="197600" cy="197600"/>
          </a:xfrm>
          <a:prstGeom prst="gear6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714532" y="4219133"/>
            <a:ext cx="68400" cy="68400"/>
          </a:xfrm>
          <a:prstGeom prst="ellipse">
            <a:avLst/>
          </a:prstGeom>
          <a:solidFill>
            <a:srgbClr val="F36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58732" y="4043333"/>
            <a:ext cx="2754121" cy="23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50" b="0">
                <a:solidFill>
                  <a:srgbClr val="808080"/>
                </a:solidFill>
                <a:latin typeface="Roboto Mono"/>
              </a:rPr>
              <a:t>USE CASES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8732" y="4263333"/>
            <a:ext cx="2754121" cy="8433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6282B"/>
                </a:solidFill>
              </a:rPr>
              <a:t>Lightweight “ask your data” AI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58732" y="5056666"/>
            <a:ext cx="2754121" cy="0"/>
          </a:xfrm>
          <a:prstGeom prst="line">
            <a:avLst/>
          </a:prstGeom>
          <a:ln w="9525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558732" y="5146666"/>
            <a:ext cx="380000" cy="380000"/>
          </a:xfrm>
          <a:prstGeom prst="ellipse">
            <a:avLst/>
          </a:prstGeom>
          <a:solidFill>
            <a:srgbClr val="F36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642332" y="5230266"/>
            <a:ext cx="212800" cy="2128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676532" y="5264466"/>
            <a:ext cx="144400" cy="144400"/>
          </a:xfrm>
          <a:prstGeom prst="ellipse">
            <a:avLst/>
          </a:prstGeom>
          <a:solidFill>
            <a:srgbClr val="F36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710732" y="5298666"/>
            <a:ext cx="76000" cy="76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058732" y="5126666"/>
            <a:ext cx="2754121" cy="23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50" b="0">
                <a:solidFill>
                  <a:srgbClr val="808080"/>
                </a:solidFill>
                <a:latin typeface="Roboto Mono"/>
              </a:rPr>
              <a:t>CUSTOMERS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8732" y="5346666"/>
            <a:ext cx="2754121" cy="8433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6282B"/>
                </a:solidFill>
              </a:rPr>
              <a:t>Oracle EBS (older ERP) estates; firms with several in-house sources on Oracle databases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32853" y="2150000"/>
            <a:ext cx="3654121" cy="4150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4232853" y="2150000"/>
            <a:ext cx="3654121" cy="640000"/>
          </a:xfrm>
          <a:prstGeom prst="rect">
            <a:avLst/>
          </a:prstGeom>
          <a:solidFill>
            <a:srgbClr val="148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432853" y="2245000"/>
            <a:ext cx="2154121" cy="3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>
                <a:solidFill>
                  <a:srgbClr val="FFFFFF"/>
                </a:solidFill>
              </a:rPr>
              <a:t>OCI + NVIDIA NeMo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2853" y="2520000"/>
            <a:ext cx="3254121" cy="24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Roboto Mono"/>
              </a:rPr>
              <a:t>OCI DEDICATED AI CLUSTERS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97054" y="2270000"/>
            <a:ext cx="809920" cy="23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1485C3"/>
                </a:solidFill>
                <a:latin typeface="Roboto Mono"/>
              </a:rPr>
              <a:t>PRIORITY 2</a:t>
            </a:r>
          </a:p>
        </p:txBody>
      </p:sp>
      <p:sp>
        <p:nvSpPr>
          <p:cNvPr id="39" name="Oval 38"/>
          <p:cNvSpPr/>
          <p:nvPr/>
        </p:nvSpPr>
        <p:spPr>
          <a:xfrm>
            <a:off x="4432853" y="2980000"/>
            <a:ext cx="380000" cy="380000"/>
          </a:xfrm>
          <a:prstGeom prst="ellipse">
            <a:avLst/>
          </a:prstGeom>
          <a:solidFill>
            <a:srgbClr val="148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Funnel 39"/>
          <p:cNvSpPr/>
          <p:nvPr/>
        </p:nvSpPr>
        <p:spPr>
          <a:xfrm>
            <a:off x="4527853" y="3078800"/>
            <a:ext cx="190000" cy="190000"/>
          </a:xfrm>
          <a:prstGeom prst="funnel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932853" y="2960000"/>
            <a:ext cx="2754121" cy="23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50" b="0">
                <a:solidFill>
                  <a:srgbClr val="808080"/>
                </a:solidFill>
                <a:latin typeface="Roboto Mono"/>
              </a:rPr>
              <a:t>CAMPAIGN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32853" y="3180000"/>
            <a:ext cx="2754121" cy="8433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6282B"/>
                </a:solidFill>
              </a:rPr>
              <a:t>NVIDIA-funded pipeline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932853" y="3973333"/>
            <a:ext cx="2754121" cy="0"/>
          </a:xfrm>
          <a:prstGeom prst="line">
            <a:avLst/>
          </a:prstGeom>
          <a:ln w="9525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4432853" y="4063333"/>
            <a:ext cx="380000" cy="380000"/>
          </a:xfrm>
          <a:prstGeom prst="ellipse">
            <a:avLst/>
          </a:prstGeom>
          <a:solidFill>
            <a:srgbClr val="148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Gear 6 44"/>
          <p:cNvSpPr/>
          <p:nvPr/>
        </p:nvSpPr>
        <p:spPr>
          <a:xfrm>
            <a:off x="4524053" y="4154533"/>
            <a:ext cx="197600" cy="197600"/>
          </a:xfrm>
          <a:prstGeom prst="gear6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4588653" y="4219133"/>
            <a:ext cx="68400" cy="68400"/>
          </a:xfrm>
          <a:prstGeom prst="ellipse">
            <a:avLst/>
          </a:prstGeom>
          <a:solidFill>
            <a:srgbClr val="148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4932853" y="4043333"/>
            <a:ext cx="2754121" cy="23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50" b="0">
                <a:solidFill>
                  <a:srgbClr val="808080"/>
                </a:solidFill>
                <a:latin typeface="Roboto Mono"/>
              </a:rPr>
              <a:t>USE CASES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32853" y="4263333"/>
            <a:ext cx="2754121" cy="8433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6282B"/>
                </a:solidFill>
              </a:rPr>
              <a:t>Optimisation (cuOpt), video (VSS), research agents (AI-Q)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932853" y="5056666"/>
            <a:ext cx="2754121" cy="0"/>
          </a:xfrm>
          <a:prstGeom prst="line">
            <a:avLst/>
          </a:prstGeom>
          <a:ln w="9525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4432853" y="5146666"/>
            <a:ext cx="380000" cy="380000"/>
          </a:xfrm>
          <a:prstGeom prst="ellipse">
            <a:avLst/>
          </a:prstGeom>
          <a:solidFill>
            <a:srgbClr val="148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Oval 50"/>
          <p:cNvSpPr/>
          <p:nvPr/>
        </p:nvSpPr>
        <p:spPr>
          <a:xfrm>
            <a:off x="4516453" y="5230266"/>
            <a:ext cx="212800" cy="2128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Oval 51"/>
          <p:cNvSpPr/>
          <p:nvPr/>
        </p:nvSpPr>
        <p:spPr>
          <a:xfrm>
            <a:off x="4550653" y="5264466"/>
            <a:ext cx="144400" cy="144400"/>
          </a:xfrm>
          <a:prstGeom prst="ellipse">
            <a:avLst/>
          </a:prstGeom>
          <a:solidFill>
            <a:srgbClr val="148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Oval 52"/>
          <p:cNvSpPr/>
          <p:nvPr/>
        </p:nvSpPr>
        <p:spPr>
          <a:xfrm>
            <a:off x="4584853" y="5298666"/>
            <a:ext cx="76000" cy="76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4932853" y="5126666"/>
            <a:ext cx="2754121" cy="23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50" b="0">
                <a:solidFill>
                  <a:srgbClr val="808080"/>
                </a:solidFill>
                <a:latin typeface="Roboto Mono"/>
              </a:rPr>
              <a:t>CUSTOMERS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32853" y="5346666"/>
            <a:ext cx="2754121" cy="8433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6282B"/>
                </a:solidFill>
              </a:rPr>
              <a:t>Large existing OCI tenants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146974" y="2150000"/>
            <a:ext cx="3705258" cy="4150000"/>
          </a:xfrm>
          <a:prstGeom prst="rect">
            <a:avLst/>
          </a:prstGeom>
          <a:noFill/>
          <a:ln w="1270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8146974" y="2150000"/>
            <a:ext cx="3705258" cy="640000"/>
          </a:xfrm>
          <a:prstGeom prst="rect">
            <a:avLst/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8346974" y="2245000"/>
            <a:ext cx="2205258" cy="3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>
                <a:solidFill>
                  <a:srgbClr val="26282B"/>
                </a:solidFill>
              </a:rPr>
              <a:t>AIDP or OCI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46974" y="2520000"/>
            <a:ext cx="3305258" cy="24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>
                <a:solidFill>
                  <a:srgbClr val="595959"/>
                </a:solidFill>
                <a:latin typeface="Roboto Mono"/>
              </a:rPr>
              <a:t>AI DATA PLATFORM OR DEDICATED AI CLUSTERS</a:t>
            </a:r>
          </a:p>
        </p:txBody>
      </p:sp>
      <p:sp>
        <p:nvSpPr>
          <p:cNvPr id="60" name="Oval 59"/>
          <p:cNvSpPr/>
          <p:nvPr/>
        </p:nvSpPr>
        <p:spPr>
          <a:xfrm>
            <a:off x="8346974" y="2980000"/>
            <a:ext cx="380000" cy="380000"/>
          </a:xfrm>
          <a:prstGeom prst="ellipse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Funnel 60"/>
          <p:cNvSpPr/>
          <p:nvPr/>
        </p:nvSpPr>
        <p:spPr>
          <a:xfrm>
            <a:off x="8441974" y="3078800"/>
            <a:ext cx="190000" cy="190000"/>
          </a:xfrm>
          <a:prstGeom prst="funnel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8846974" y="2960000"/>
            <a:ext cx="2805258" cy="23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50" b="0">
                <a:solidFill>
                  <a:srgbClr val="808080"/>
                </a:solidFill>
                <a:latin typeface="Roboto Mono"/>
              </a:rPr>
              <a:t>CAMPAIGN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46974" y="3180000"/>
            <a:ext cx="2805258" cy="8433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6282B"/>
                </a:solidFill>
              </a:rPr>
              <a:t>One-off Oracle intros to named accounts (NATO, Toyota)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8846974" y="3973333"/>
            <a:ext cx="2805258" cy="0"/>
          </a:xfrm>
          <a:prstGeom prst="line">
            <a:avLst/>
          </a:prstGeom>
          <a:ln w="9525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8346974" y="4063333"/>
            <a:ext cx="380000" cy="380000"/>
          </a:xfrm>
          <a:prstGeom prst="ellipse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Gear 6 65"/>
          <p:cNvSpPr/>
          <p:nvPr/>
        </p:nvSpPr>
        <p:spPr>
          <a:xfrm>
            <a:off x="8438174" y="4154533"/>
            <a:ext cx="197600" cy="197600"/>
          </a:xfrm>
          <a:prstGeom prst="gear6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Oval 66"/>
          <p:cNvSpPr/>
          <p:nvPr/>
        </p:nvSpPr>
        <p:spPr>
          <a:xfrm>
            <a:off x="8502774" y="4219133"/>
            <a:ext cx="68400" cy="68400"/>
          </a:xfrm>
          <a:prstGeom prst="ellipse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8846974" y="4043333"/>
            <a:ext cx="2805258" cy="23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50" b="0">
                <a:solidFill>
                  <a:srgbClr val="808080"/>
                </a:solidFill>
                <a:latin typeface="Roboto Mono"/>
              </a:rPr>
              <a:t>USE CASES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46974" y="4263333"/>
            <a:ext cx="2805258" cy="8433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6282B"/>
                </a:solidFill>
              </a:rPr>
              <a:t>To be found per account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8846974" y="5056666"/>
            <a:ext cx="2805258" cy="0"/>
          </a:xfrm>
          <a:prstGeom prst="line">
            <a:avLst/>
          </a:prstGeom>
          <a:ln w="9525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8346974" y="5146666"/>
            <a:ext cx="380000" cy="380000"/>
          </a:xfrm>
          <a:prstGeom prst="ellipse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8430574" y="5230266"/>
            <a:ext cx="212800" cy="2128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Oval 72"/>
          <p:cNvSpPr/>
          <p:nvPr/>
        </p:nvSpPr>
        <p:spPr>
          <a:xfrm>
            <a:off x="8464774" y="5264466"/>
            <a:ext cx="144400" cy="144400"/>
          </a:xfrm>
          <a:prstGeom prst="ellipse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Oval 73"/>
          <p:cNvSpPr/>
          <p:nvPr/>
        </p:nvSpPr>
        <p:spPr>
          <a:xfrm>
            <a:off x="8498974" y="5298666"/>
            <a:ext cx="76000" cy="76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8846974" y="5126666"/>
            <a:ext cx="2805258" cy="23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50" b="0">
                <a:solidFill>
                  <a:srgbClr val="808080"/>
                </a:solidFill>
                <a:latin typeface="Roboto Mono"/>
              </a:rPr>
              <a:t>CUSTOMERS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846974" y="5346666"/>
            <a:ext cx="2805258" cy="8433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6282B"/>
                </a:solidFill>
              </a:rPr>
              <a:t>Existing Oracle customers: EBS, Fusion, OCI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34" sz="quarter"/>
          </p:nvPr>
        </p:nvSpPr>
        <p:spPr/>
        <p:txBody>
          <a:bodyPr/>
          <a:lstStyle/>
          <a:p>
            <a:r>
              <a:t>Oracle packs · packaging strategy · Packaging strategies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58732" y="1081987"/>
            <a:ext cx="11493500" cy="470000"/>
          </a:xfrm>
        </p:spPr>
        <p:txBody>
          <a:bodyPr/>
          <a:lstStyle/>
          <a:p>
            <a:r>
              <a:rPr sz="2800" cap="none">
                <a:latin typeface="+mj-lt"/>
              </a:rPr>
              <a:t>Three ways to package; </a:t>
            </a:r>
            <a:r>
              <a:rPr sz="2800" cap="none">
                <a:solidFill>
                  <a:srgbClr val="F36949"/>
                </a:solidFill>
                <a:latin typeface="+mj-lt"/>
              </a:rPr>
              <a:t>Oracle backs the first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AF2A96F-0713-AFAF-1B23-3B040EC9FA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58732" y="1800000"/>
            <a:ext cx="3631166" cy="4500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58732" y="1800000"/>
            <a:ext cx="3631166" cy="60000"/>
          </a:xfrm>
          <a:prstGeom prst="rect">
            <a:avLst/>
          </a:prstGeom>
          <a:solidFill>
            <a:srgbClr val="F36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638732" y="2100000"/>
            <a:ext cx="520000" cy="520000"/>
          </a:xfrm>
          <a:prstGeom prst="ellipse">
            <a:avLst/>
          </a:prstGeom>
          <a:noFill/>
          <a:ln w="15875">
            <a:solidFill>
              <a:srgbClr val="262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38732" y="2100000"/>
            <a:ext cx="520000" cy="52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000" b="1">
                <a:solidFill>
                  <a:srgbClr val="26282B"/>
                </a:solidFill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88954" y="2230000"/>
            <a:ext cx="620944" cy="240000"/>
          </a:xfrm>
          <a:prstGeom prst="roundRect">
            <a:avLst>
              <a:gd name="adj" fmla="val 50000"/>
            </a:avLst>
          </a:prstGeom>
          <a:solidFill>
            <a:srgbClr val="F36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26282B"/>
                </a:solidFill>
                <a:latin typeface="Roboto Mono"/>
              </a:rPr>
              <a:t>CURRENT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732" y="2820000"/>
            <a:ext cx="3071166" cy="4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700" b="1">
                <a:solidFill>
                  <a:srgbClr val="26282B"/>
                </a:solidFill>
              </a:rPr>
              <a:t>Package what we sell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732" y="3300000"/>
            <a:ext cx="3071166" cy="125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26282B"/>
                </a:solidFill>
              </a:rPr>
              <a:t>One illustrative pack per platform, plus a pack for every case we take through presales and PoVs.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38732" y="4650000"/>
            <a:ext cx="3071166" cy="0"/>
          </a:xfrm>
          <a:prstGeom prst="line">
            <a:avLst/>
          </a:prstGeom>
          <a:ln w="9525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8732" y="4780000"/>
            <a:ext cx="3071166" cy="23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50" b="0">
                <a:solidFill>
                  <a:srgbClr val="808080"/>
                </a:solidFill>
                <a:latin typeface="Roboto Mono"/>
              </a:rPr>
              <a:t>ORACLE'S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732" y="5030000"/>
            <a:ext cx="3071166" cy="9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485C3"/>
                </a:solidFill>
              </a:rPr>
              <a:t>●  </a:t>
            </a:r>
            <a:r>
              <a:rPr sz="1400" b="1">
                <a:solidFill>
                  <a:srgbClr val="26282B"/>
                </a:solidFill>
              </a:rPr>
              <a:t>Preferred</a:t>
            </a:r>
            <a:r>
              <a:rPr sz="1400" b="0">
                <a:solidFill>
                  <a:srgbClr val="26282B"/>
                </a:solidFill>
              </a:rPr>
              <a:t> by Neil and Gero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732" y="5920000"/>
            <a:ext cx="3071166" cy="26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>
                <a:solidFill>
                  <a:srgbClr val="595959"/>
                </a:solidFill>
                <a:latin typeface="Roboto Mono"/>
              </a:rPr>
              <a:t>→ Slide 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89898" y="1800000"/>
            <a:ext cx="3631166" cy="4500000"/>
          </a:xfrm>
          <a:prstGeom prst="rect">
            <a:avLst/>
          </a:prstGeom>
          <a:noFill/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4289898" y="1800000"/>
            <a:ext cx="3631166" cy="60000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4569898" y="2100000"/>
            <a:ext cx="520000" cy="520000"/>
          </a:xfrm>
          <a:prstGeom prst="ellipse">
            <a:avLst/>
          </a:prstGeom>
          <a:noFill/>
          <a:ln w="15875">
            <a:solidFill>
              <a:srgbClr val="262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569898" y="2100000"/>
            <a:ext cx="520000" cy="52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000" b="1">
                <a:solidFill>
                  <a:srgbClr val="26282B"/>
                </a:solidFill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94136" y="2230000"/>
            <a:ext cx="746928" cy="240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26282B"/>
                </a:solidFill>
                <a:latin typeface="Roboto Mono"/>
              </a:rPr>
              <a:t>POTENTIAL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9898" y="2820000"/>
            <a:ext cx="3071166" cy="4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700" b="1">
                <a:solidFill>
                  <a:srgbClr val="26282B"/>
                </a:solidFill>
              </a:rPr>
              <a:t>Package likely bestsellers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9898" y="3300000"/>
            <a:ext cx="3071166" cy="125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26282B"/>
                </a:solidFill>
              </a:rPr>
              <a:t>Proactively package popular cases that showcase what Oracle pushes.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69898" y="4650000"/>
            <a:ext cx="3071166" cy="0"/>
          </a:xfrm>
          <a:prstGeom prst="line">
            <a:avLst/>
          </a:prstGeom>
          <a:ln w="9525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69898" y="4780000"/>
            <a:ext cx="3071166" cy="23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50" b="0">
                <a:solidFill>
                  <a:srgbClr val="808080"/>
                </a:solidFill>
                <a:latin typeface="Roboto Mono"/>
              </a:rPr>
              <a:t>ORACLE'S 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9898" y="5030000"/>
            <a:ext cx="3071166" cy="9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595959"/>
                </a:solidFill>
              </a:rPr>
              <a:t>○  </a:t>
            </a:r>
            <a:r>
              <a:rPr sz="1400" b="1">
                <a:solidFill>
                  <a:srgbClr val="26282B"/>
                </a:solidFill>
              </a:rPr>
              <a:t>Not now</a:t>
            </a:r>
            <a:r>
              <a:rPr sz="1400" b="0">
                <a:solidFill>
                  <a:srgbClr val="26282B"/>
                </a:solidFill>
              </a:rPr>
              <a:t> for AIDP; little resonance with Neil and Gero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9898" y="5920000"/>
            <a:ext cx="3071166" cy="26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>
                <a:solidFill>
                  <a:srgbClr val="595959"/>
                </a:solidFill>
                <a:latin typeface="Roboto Mono"/>
              </a:rPr>
              <a:t>→ Slide 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1064" y="1800000"/>
            <a:ext cx="3631166" cy="4500000"/>
          </a:xfrm>
          <a:prstGeom prst="rect">
            <a:avLst/>
          </a:prstGeom>
          <a:noFill/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8221064" y="1800000"/>
            <a:ext cx="3631166" cy="60000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8501064" y="2100000"/>
            <a:ext cx="520000" cy="520000"/>
          </a:xfrm>
          <a:prstGeom prst="ellipse">
            <a:avLst/>
          </a:prstGeom>
          <a:noFill/>
          <a:ln w="15875">
            <a:solidFill>
              <a:srgbClr val="262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501064" y="2100000"/>
            <a:ext cx="520000" cy="52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000" b="1">
                <a:solidFill>
                  <a:srgbClr val="26282B"/>
                </a:solidFill>
              </a:rPr>
              <a:t>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825302" y="2230000"/>
            <a:ext cx="746928" cy="240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26282B"/>
                </a:solidFill>
                <a:latin typeface="Roboto Mono"/>
              </a:rPr>
              <a:t>POTENTIAL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1064" y="2820000"/>
            <a:ext cx="3071166" cy="4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700" b="1">
                <a:solidFill>
                  <a:srgbClr val="26282B"/>
                </a:solidFill>
              </a:rPr>
              <a:t>Package our own expertise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1064" y="3300000"/>
            <a:ext cx="3071166" cy="125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26282B"/>
                </a:solidFill>
              </a:rPr>
              <a:t>Proactively package cases beyond databases and ERP, such as physical AI, built on our expertise.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501064" y="4650000"/>
            <a:ext cx="3071166" cy="0"/>
          </a:xfrm>
          <a:prstGeom prst="line">
            <a:avLst/>
          </a:prstGeom>
          <a:ln w="9525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501064" y="4780000"/>
            <a:ext cx="3071166" cy="23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50" b="0">
                <a:solidFill>
                  <a:srgbClr val="808080"/>
                </a:solidFill>
                <a:latin typeface="Roboto Mono"/>
              </a:rPr>
              <a:t>ORACLE'S 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1064" y="5030000"/>
            <a:ext cx="3071166" cy="9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595959"/>
                </a:solidFill>
              </a:rPr>
              <a:t>◐  </a:t>
            </a:r>
            <a:r>
              <a:rPr sz="1400" b="1">
                <a:solidFill>
                  <a:srgbClr val="26282B"/>
                </a:solidFill>
              </a:rPr>
              <a:t>Off focus:</a:t>
            </a:r>
            <a:r>
              <a:rPr sz="1400" b="0">
                <a:solidFill>
                  <a:srgbClr val="26282B"/>
                </a:solidFill>
              </a:rPr>
              <a:t> mostly OCI, while Neil and Gero push AIDP and the coming Oracle Intelligence platform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1064" y="5920000"/>
            <a:ext cx="3071166" cy="26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>
                <a:solidFill>
                  <a:srgbClr val="595959"/>
                </a:solidFill>
                <a:latin typeface="Roboto Mono"/>
              </a:rPr>
              <a:t>→ Slide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34" sz="quarter"/>
          </p:nvPr>
        </p:nvSpPr>
        <p:spPr/>
        <p:txBody>
          <a:bodyPr/>
          <a:lstStyle/>
          <a:p>
            <a:r>
              <a:t>Oracle packs · packaging strategy · Option 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58732" y="1081987"/>
            <a:ext cx="11493500" cy="470000"/>
          </a:xfrm>
        </p:spPr>
        <p:txBody>
          <a:bodyPr/>
          <a:lstStyle/>
          <a:p>
            <a:r>
              <a:rPr sz="2800" cap="none">
                <a:latin typeface="+mj-lt"/>
              </a:rPr>
              <a:t>Option 1 today: </a:t>
            </a:r>
            <a:r>
              <a:rPr sz="2800" cap="none">
                <a:solidFill>
                  <a:srgbClr val="F36949"/>
                </a:solidFill>
                <a:latin typeface="+mj-lt"/>
              </a:rPr>
              <a:t>our presales and PoV cases, packaged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AF2A96F-0713-AFAF-1B23-3B040EC9FA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46032" y="1687300"/>
            <a:ext cx="11518900" cy="4273960"/>
          </a:xfrm>
          <a:prstGeom prst="rect">
            <a:avLst/>
          </a:prstGeom>
          <a:noFill/>
          <a:ln w="1270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mini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732" y="1700000"/>
            <a:ext cx="11493500" cy="4248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58732" y="6060000"/>
            <a:ext cx="11493500" cy="3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>
                <a:solidFill>
                  <a:srgbClr val="1485C3"/>
                </a:solidFill>
                <a:hlinkClick r:id="rId4"/>
              </a:rPr>
              <a:t>Open the live mini-site products page →</a:t>
            </a:r>
            <a:r>
              <a:rPr sz="900" b="0">
                <a:solidFill>
                  <a:srgbClr val="808080"/>
                </a:solidFill>
                <a:hlinkClick r:id="rId4"/>
              </a:rPr>
              <a:t>   https://claude.ai/artifact/HTEJADBQF3ZevFPuSoTHri#/products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34" sz="quarter"/>
          </p:nvPr>
        </p:nvSpPr>
        <p:spPr/>
        <p:txBody>
          <a:bodyPr/>
          <a:lstStyle/>
          <a:p>
            <a:r>
              <a:t>Oracle packs · packaging strategy · Option 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58732" y="1081987"/>
            <a:ext cx="11493500" cy="470000"/>
          </a:xfrm>
        </p:spPr>
        <p:txBody>
          <a:bodyPr/>
          <a:lstStyle/>
          <a:p>
            <a:r>
              <a:rPr sz="2800" cap="none">
                <a:latin typeface="+mj-lt"/>
              </a:rPr>
              <a:t>Option 2: new packs that </a:t>
            </a:r>
            <a:r>
              <a:rPr sz="2800" cap="none">
                <a:solidFill>
                  <a:srgbClr val="F36949"/>
                </a:solidFill>
                <a:latin typeface="+mj-lt"/>
              </a:rPr>
              <a:t>show what Oracle's platforms do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AF2A96F-0713-AFAF-1B23-3B040EC9FA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08732" y="1660000"/>
            <a:ext cx="520000" cy="220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800" b="0">
                <a:solidFill>
                  <a:srgbClr val="808080"/>
                </a:solidFill>
                <a:latin typeface="Roboto Mono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32" y="1660000"/>
            <a:ext cx="2200000" cy="220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800" b="0">
                <a:solidFill>
                  <a:srgbClr val="808080"/>
                </a:solidFill>
                <a:latin typeface="Roboto Mono"/>
              </a:rPr>
              <a:t>PACK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8732" y="1660000"/>
            <a:ext cx="2950000" cy="220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800" b="0">
                <a:solidFill>
                  <a:srgbClr val="808080"/>
                </a:solidFill>
                <a:latin typeface="Roboto Mono"/>
              </a:rPr>
              <a:t>WHO HAS 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8732" y="1660000"/>
            <a:ext cx="2800000" cy="220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800" b="0">
                <a:solidFill>
                  <a:srgbClr val="808080"/>
                </a:solidFill>
                <a:latin typeface="Roboto Mono"/>
              </a:rPr>
              <a:t>WHAT CHANGES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78732" y="1660000"/>
            <a:ext cx="1620000" cy="220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800" b="0">
                <a:solidFill>
                  <a:srgbClr val="808080"/>
                </a:solidFill>
                <a:latin typeface="Roboto Mono"/>
              </a:rPr>
              <a:t>RUNS 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98732" y="1660000"/>
            <a:ext cx="803500" cy="220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800" b="0">
                <a:solidFill>
                  <a:srgbClr val="808080"/>
                </a:solidFill>
                <a:latin typeface="Roboto Mono"/>
              </a:rPr>
              <a:t>CAMPAIGN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8732" y="1920000"/>
            <a:ext cx="11493500" cy="0"/>
          </a:xfrm>
          <a:prstGeom prst="line">
            <a:avLst/>
          </a:prstGeom>
          <a:ln w="12700">
            <a:solidFill>
              <a:srgbClr val="F369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08732" y="1995000"/>
            <a:ext cx="520000" cy="180000"/>
          </a:xfrm>
          <a:prstGeom prst="roundRect">
            <a:avLst>
              <a:gd name="adj" fmla="val 50000"/>
            </a:avLst>
          </a:prstGeom>
          <a:solidFill>
            <a:srgbClr val="262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Roboto Mono"/>
              </a:rPr>
              <a:t>NEW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32" y="1975000"/>
            <a:ext cx="2200000" cy="3045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26282B"/>
                </a:solidFill>
              </a:rPr>
              <a:t>Document Q&amp;A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8732" y="1975000"/>
            <a:ext cx="2950000" cy="3045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950" b="1">
                <a:solidFill>
                  <a:srgbClr val="26282B"/>
                </a:solidFill>
              </a:rPr>
              <a:t>Legal </a:t>
            </a:r>
            <a:r>
              <a:rPr sz="950" b="0">
                <a:solidFill>
                  <a:srgbClr val="26282B"/>
                </a:solidFill>
              </a:rPr>
              <a:t>reads every contract to answer one question.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8732" y="1975000"/>
            <a:ext cx="2800000" cy="3045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950" b="0">
                <a:solidFill>
                  <a:srgbClr val="26282B"/>
                </a:solidFill>
              </a:rPr>
              <a:t>Ask stored documents in plain words; the answer quotes the clause.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78732" y="1985000"/>
            <a:ext cx="373200" cy="200000"/>
          </a:xfrm>
          <a:prstGeom prst="roundRect">
            <a:avLst>
              <a:gd name="adj" fmla="val 50000"/>
            </a:avLst>
          </a:prstGeom>
          <a:solidFill>
            <a:srgbClr val="FD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26282B"/>
                </a:solidFill>
              </a:rPr>
              <a:t>AIDP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98732" y="1975000"/>
            <a:ext cx="803500" cy="3045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850" b="0">
                <a:solidFill>
                  <a:srgbClr val="595959"/>
                </a:solidFill>
              </a:rPr>
              <a:t>Laser A5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58732" y="2304545"/>
            <a:ext cx="11493500" cy="0"/>
          </a:xfrm>
          <a:prstGeom prst="line">
            <a:avLst/>
          </a:prstGeom>
          <a:ln w="9525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08732" y="2379545"/>
            <a:ext cx="520000" cy="180000"/>
          </a:xfrm>
          <a:prstGeom prst="roundRect">
            <a:avLst>
              <a:gd name="adj" fmla="val 50000"/>
            </a:avLst>
          </a:prstGeom>
          <a:solidFill>
            <a:srgbClr val="262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Roboto Mono"/>
              </a:rPr>
              <a:t>NEW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32" y="2359545"/>
            <a:ext cx="2200000" cy="3045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26282B"/>
                </a:solidFill>
              </a:rPr>
              <a:t>P&amp;L variance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28732" y="2359545"/>
            <a:ext cx="2950000" cy="3045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950" b="1">
                <a:solidFill>
                  <a:srgbClr val="26282B"/>
                </a:solidFill>
              </a:rPr>
              <a:t>The CFO </a:t>
            </a:r>
            <a:r>
              <a:rPr sz="950" b="0">
                <a:solidFill>
                  <a:srgbClr val="26282B"/>
                </a:solidFill>
              </a:rPr>
              <a:t>needs two weeks to explain a budget miss.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8732" y="2359545"/>
            <a:ext cx="2800000" cy="3045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950" b="0">
                <a:solidFill>
                  <a:srgbClr val="26282B"/>
                </a:solidFill>
              </a:rPr>
              <a:t>Oracle's agent ranks the causes and proposes an action, same day.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78732" y="2369545"/>
            <a:ext cx="373200" cy="200000"/>
          </a:xfrm>
          <a:prstGeom prst="roundRect">
            <a:avLst>
              <a:gd name="adj" fmla="val 50000"/>
            </a:avLst>
          </a:prstGeom>
          <a:solidFill>
            <a:srgbClr val="FD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26282B"/>
                </a:solidFill>
              </a:rPr>
              <a:t>AIDP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98732" y="2359545"/>
            <a:ext cx="803500" cy="3045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850" b="0">
                <a:solidFill>
                  <a:srgbClr val="595959"/>
                </a:solidFill>
              </a:rPr>
              <a:t>Laser A2, A4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58732" y="2689090"/>
            <a:ext cx="11493500" cy="0"/>
          </a:xfrm>
          <a:prstGeom prst="line">
            <a:avLst/>
          </a:prstGeom>
          <a:ln w="9525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08732" y="2764090"/>
            <a:ext cx="520000" cy="180000"/>
          </a:xfrm>
          <a:prstGeom prst="roundRect">
            <a:avLst>
              <a:gd name="adj" fmla="val 50000"/>
            </a:avLst>
          </a:prstGeom>
          <a:solidFill>
            <a:srgbClr val="262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Roboto Mono"/>
              </a:rPr>
              <a:t>NEW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32" y="2744090"/>
            <a:ext cx="2200000" cy="3045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26282B"/>
                </a:solidFill>
              </a:rPr>
              <a:t>EBS exception agents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28732" y="2744090"/>
            <a:ext cx="2950000" cy="3045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950" b="1">
                <a:solidFill>
                  <a:srgbClr val="26282B"/>
                </a:solidFill>
              </a:rPr>
              <a:t>EBS finance and supply </a:t>
            </a:r>
            <a:r>
              <a:rPr sz="950" b="0">
                <a:solidFill>
                  <a:srgbClr val="26282B"/>
                </a:solidFill>
              </a:rPr>
              <a:t>find held invoices, late orders, slow stock too late.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8732" y="2744090"/>
            <a:ext cx="2800000" cy="3045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950" b="0">
                <a:solidFill>
                  <a:srgbClr val="26282B"/>
                </a:solidFill>
              </a:rPr>
              <a:t>Agents flag each case and prepare the fix for approval: faster close.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78732" y="2754090"/>
            <a:ext cx="373200" cy="200000"/>
          </a:xfrm>
          <a:prstGeom prst="roundRect">
            <a:avLst>
              <a:gd name="adj" fmla="val 50000"/>
            </a:avLst>
          </a:prstGeom>
          <a:solidFill>
            <a:srgbClr val="FD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26282B"/>
                </a:solidFill>
              </a:rPr>
              <a:t>AIDP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98732" y="2744090"/>
            <a:ext cx="803500" cy="3045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850" b="0">
                <a:solidFill>
                  <a:srgbClr val="595959"/>
                </a:solidFill>
              </a:rPr>
              <a:t>★ Laser A1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58732" y="3073635"/>
            <a:ext cx="11493500" cy="0"/>
          </a:xfrm>
          <a:prstGeom prst="line">
            <a:avLst/>
          </a:prstGeom>
          <a:ln w="9525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08732" y="3148635"/>
            <a:ext cx="520000" cy="180000"/>
          </a:xfrm>
          <a:prstGeom prst="roundRect">
            <a:avLst>
              <a:gd name="adj" fmla="val 50000"/>
            </a:avLst>
          </a:prstGeom>
          <a:solidFill>
            <a:srgbClr val="262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Roboto Mono"/>
              </a:rPr>
              <a:t>NEW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8732" y="3128635"/>
            <a:ext cx="2200000" cy="3045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26282B"/>
                </a:solidFill>
              </a:rPr>
              <a:t>Customer churn and retention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28732" y="3128635"/>
            <a:ext cx="2950000" cy="3045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950" b="1">
                <a:solidFill>
                  <a:srgbClr val="26282B"/>
                </a:solidFill>
              </a:rPr>
              <a:t>Telcos and utilities </a:t>
            </a:r>
            <a:r>
              <a:rPr sz="950" b="0">
                <a:solidFill>
                  <a:srgbClr val="26282B"/>
                </a:solidFill>
              </a:rPr>
              <a:t>spot leavers at cancellation; discounts go to stayers.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8732" y="3128635"/>
            <a:ext cx="2800000" cy="3045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950" b="0">
                <a:solidFill>
                  <a:srgbClr val="26282B"/>
                </a:solidFill>
              </a:rPr>
              <a:t>Weekly risk score per customer, with the reason and the cheapest offer.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78732" y="3138635"/>
            <a:ext cx="373200" cy="200000"/>
          </a:xfrm>
          <a:prstGeom prst="roundRect">
            <a:avLst>
              <a:gd name="adj" fmla="val 50000"/>
            </a:avLst>
          </a:prstGeom>
          <a:solidFill>
            <a:srgbClr val="FD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26282B"/>
                </a:solidFill>
              </a:rPr>
              <a:t>AIDP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98732" y="3128635"/>
            <a:ext cx="803500" cy="3045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850" b="0">
                <a:solidFill>
                  <a:srgbClr val="595959"/>
                </a:solidFill>
              </a:rPr>
              <a:t>Upsell in L1, A3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58732" y="3458180"/>
            <a:ext cx="11493500" cy="0"/>
          </a:xfrm>
          <a:prstGeom prst="line">
            <a:avLst/>
          </a:prstGeom>
          <a:ln w="9525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408732" y="3533180"/>
            <a:ext cx="520000" cy="180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62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26282B"/>
                </a:solidFill>
                <a:latin typeface="Roboto Mono"/>
              </a:rPr>
              <a:t>EXTEND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8732" y="3513180"/>
            <a:ext cx="2200000" cy="3045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26282B"/>
                </a:solidFill>
              </a:rPr>
              <a:t>Large docs processing and review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28732" y="3513180"/>
            <a:ext cx="2950000" cy="3045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950" b="1">
                <a:solidFill>
                  <a:srgbClr val="26282B"/>
                </a:solidFill>
              </a:rPr>
              <a:t>Operations </a:t>
            </a:r>
            <a:r>
              <a:rPr sz="950" b="0">
                <a:solidFill>
                  <a:srgbClr val="26282B"/>
                </a:solidFill>
              </a:rPr>
              <a:t>retype contract rates by hand; wrong rates get paid.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78732" y="3513180"/>
            <a:ext cx="2800000" cy="3045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950" b="0">
                <a:solidFill>
                  <a:srgbClr val="26282B"/>
                </a:solidFill>
              </a:rPr>
              <a:t>Terms pulled with page links; a person confirms.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78732" y="3523180"/>
            <a:ext cx="1440000" cy="200000"/>
          </a:xfrm>
          <a:prstGeom prst="roundRect">
            <a:avLst>
              <a:gd name="adj" fmla="val 50000"/>
            </a:avLst>
          </a:prstGeom>
          <a:solidFill>
            <a:srgbClr val="D2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1485C3"/>
                </a:solidFill>
              </a:rPr>
              <a:t>OCI dedicated AI clusters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78732" y="3743180"/>
            <a:ext cx="1620000" cy="945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50" b="0">
                <a:solidFill>
                  <a:srgbClr val="595959"/>
                </a:solidFill>
              </a:rPr>
              <a:t>+ an AIDP edition to add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98732" y="3513180"/>
            <a:ext cx="803500" cy="3045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850" b="0">
                <a:solidFill>
                  <a:srgbClr val="595959"/>
                </a:solidFill>
              </a:rPr>
              <a:t>NVIDIA-funded; Laser A5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58732" y="3842725"/>
            <a:ext cx="11493500" cy="0"/>
          </a:xfrm>
          <a:prstGeom prst="line">
            <a:avLst/>
          </a:prstGeom>
          <a:ln w="9525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408732" y="3917725"/>
            <a:ext cx="520000" cy="180000"/>
          </a:xfrm>
          <a:prstGeom prst="roundRect">
            <a:avLst>
              <a:gd name="adj" fmla="val 50000"/>
            </a:avLst>
          </a:prstGeom>
          <a:solidFill>
            <a:srgbClr val="262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Roboto Mono"/>
              </a:rPr>
              <a:t>NEW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8732" y="3897725"/>
            <a:ext cx="2200000" cy="3045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26282B"/>
                </a:solidFill>
              </a:rPr>
              <a:t>Customer service agent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28732" y="3897725"/>
            <a:ext cx="2950000" cy="3045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950" b="1">
                <a:solidFill>
                  <a:srgbClr val="26282B"/>
                </a:solidFill>
              </a:rPr>
              <a:t>Contact centres: </a:t>
            </a:r>
            <a:r>
              <a:rPr sz="950" b="0">
                <a:solidFill>
                  <a:srgbClr val="26282B"/>
                </a:solidFill>
              </a:rPr>
              <a:t>scripted bots fail; routine requests queue for staff.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78732" y="3897725"/>
            <a:ext cx="2800000" cy="3045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950" b="0">
                <a:solidFill>
                  <a:srgbClr val="26282B"/>
                </a:solidFill>
              </a:rPr>
              <a:t>An agent answers, completes simple requests, hands off the rest.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278732" y="3907725"/>
            <a:ext cx="1440000" cy="200000"/>
          </a:xfrm>
          <a:prstGeom prst="roundRect">
            <a:avLst>
              <a:gd name="adj" fmla="val 50000"/>
            </a:avLst>
          </a:prstGeom>
          <a:solidFill>
            <a:srgbClr val="D2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1485C3"/>
                </a:solidFill>
              </a:rPr>
              <a:t>OCI dedicated AI clusters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78732" y="4127725"/>
            <a:ext cx="1620000" cy="945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50" b="0">
                <a:solidFill>
                  <a:srgbClr val="595959"/>
                </a:solidFill>
              </a:rPr>
              <a:t>with Oracle Digital Assistant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98732" y="3897725"/>
            <a:ext cx="803500" cy="3045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850" b="0">
                <a:solidFill>
                  <a:srgbClr val="595959"/>
                </a:solidFill>
              </a:rPr>
              <a:t>★ Laser O1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58732" y="4227270"/>
            <a:ext cx="11493500" cy="0"/>
          </a:xfrm>
          <a:prstGeom prst="line">
            <a:avLst/>
          </a:prstGeom>
          <a:ln w="9525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408732" y="4302270"/>
            <a:ext cx="520000" cy="180000"/>
          </a:xfrm>
          <a:prstGeom prst="roundRect">
            <a:avLst>
              <a:gd name="adj" fmla="val 50000"/>
            </a:avLst>
          </a:prstGeom>
          <a:solidFill>
            <a:srgbClr val="262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Roboto Mono"/>
              </a:rPr>
              <a:t>SERVICE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8732" y="4282270"/>
            <a:ext cx="2200000" cy="3045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26282B"/>
                </a:solidFill>
              </a:rPr>
              <a:t>AI running-cost reduction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28732" y="4282270"/>
            <a:ext cx="2950000" cy="3045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950" b="1">
                <a:solidFill>
                  <a:srgbClr val="26282B"/>
                </a:solidFill>
              </a:rPr>
              <a:t>CTOs </a:t>
            </a:r>
            <a:r>
              <a:rPr sz="950" b="0">
                <a:solidFill>
                  <a:srgbClr val="26282B"/>
                </a:solidFill>
              </a:rPr>
              <a:t>pay an outside AI service per request; data leaves the company.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78732" y="4282270"/>
            <a:ext cx="2800000" cy="3045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950" b="0">
                <a:solidFill>
                  <a:srgbClr val="26282B"/>
                </a:solidFill>
              </a:rPr>
              <a:t>Apps move to a tuned open model on OCI: same answers, lower cost.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278732" y="4292270"/>
            <a:ext cx="1440000" cy="200000"/>
          </a:xfrm>
          <a:prstGeom prst="roundRect">
            <a:avLst>
              <a:gd name="adj" fmla="val 50000"/>
            </a:avLst>
          </a:prstGeom>
          <a:solidFill>
            <a:srgbClr val="D2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1485C3"/>
                </a:solidFill>
              </a:rPr>
              <a:t>OCI dedicated AI clusters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98732" y="4282270"/>
            <a:ext cx="803500" cy="3045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850" b="0">
                <a:solidFill>
                  <a:srgbClr val="595959"/>
                </a:solidFill>
              </a:rPr>
              <a:t>★ Laser O3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358732" y="4611815"/>
            <a:ext cx="11493500" cy="0"/>
          </a:xfrm>
          <a:prstGeom prst="line">
            <a:avLst/>
          </a:prstGeom>
          <a:ln w="9525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408732" y="4686815"/>
            <a:ext cx="520000" cy="180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595959"/>
                </a:solidFill>
                <a:latin typeface="Roboto Mono"/>
              </a:rPr>
              <a:t>HAVE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8732" y="4666815"/>
            <a:ext cx="2200000" cy="3045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595959"/>
                </a:solidFill>
              </a:rPr>
              <a:t>Business metrics Q&amp;A +</a:t>
            </a:r>
          </a:p>
          <a:p>
            <a:pPr algn="l">
              <a:lnSpc>
                <a:spcPct val="95000"/>
              </a:lnSpc>
            </a:pPr>
            <a:r>
              <a:rPr sz="1000" b="1">
                <a:solidFill>
                  <a:srgbClr val="595959"/>
                </a:solidFill>
              </a:rPr>
              <a:t>Cross-system ERP Q&amp;A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28732" y="4666815"/>
            <a:ext cx="2950000" cy="3045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950" b="1">
                <a:solidFill>
                  <a:srgbClr val="595959"/>
                </a:solidFill>
              </a:rPr>
              <a:t>Managers </a:t>
            </a:r>
            <a:r>
              <a:rPr sz="950" b="0">
                <a:solidFill>
                  <a:srgbClr val="595959"/>
                </a:solidFill>
              </a:rPr>
              <a:t>wait a week for answers across finance and sales; numbers disagree.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78732" y="4666815"/>
            <a:ext cx="2800000" cy="3045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950" b="0">
                <a:solidFill>
                  <a:srgbClr val="595959"/>
                </a:solidFill>
              </a:rPr>
              <a:t>Metrics defined once: ask in plain words, one number in minutes.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278732" y="4676815"/>
            <a:ext cx="1135200" cy="200000"/>
          </a:xfrm>
          <a:prstGeom prst="roundRect">
            <a:avLst>
              <a:gd name="adj" fmla="val 50000"/>
            </a:avLst>
          </a:prstGeom>
          <a:solidFill>
            <a:srgbClr val="F369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26282B"/>
                </a:solidFill>
              </a:rPr>
              <a:t>AIDP + AI Lakehouse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998732" y="4666815"/>
            <a:ext cx="803500" cy="3045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850" b="0">
                <a:solidFill>
                  <a:srgbClr val="595959"/>
                </a:solidFill>
              </a:rPr>
              <a:t>★ Laser L1; L3, A3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358732" y="4996360"/>
            <a:ext cx="11493500" cy="0"/>
          </a:xfrm>
          <a:prstGeom prst="line">
            <a:avLst/>
          </a:prstGeom>
          <a:ln w="9525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408732" y="5071360"/>
            <a:ext cx="520000" cy="180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595959"/>
                </a:solidFill>
                <a:latin typeface="Roboto Mono"/>
              </a:rPr>
              <a:t>HAVE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28732" y="5051360"/>
            <a:ext cx="2200000" cy="3045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595959"/>
                </a:solidFill>
              </a:rPr>
              <a:t>Plan vs actual investigation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328732" y="5051360"/>
            <a:ext cx="2950000" cy="3045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950" b="1">
                <a:solidFill>
                  <a:srgbClr val="595959"/>
                </a:solidFill>
              </a:rPr>
              <a:t>Project controls </a:t>
            </a:r>
            <a:r>
              <a:rPr sz="950" b="0">
                <a:solidFill>
                  <a:srgbClr val="595959"/>
                </a:solidFill>
              </a:rPr>
              <a:t>can't trace overruns, so the next bid repeats them.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78732" y="5051360"/>
            <a:ext cx="2800000" cy="3045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950" b="0">
                <a:solidFill>
                  <a:srgbClr val="595959"/>
                </a:solidFill>
              </a:rPr>
              <a:t>Each overrun traced to its cause and record before the next bid.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278732" y="5061360"/>
            <a:ext cx="1440000" cy="200000"/>
          </a:xfrm>
          <a:prstGeom prst="roundRect">
            <a:avLst>
              <a:gd name="adj" fmla="val 50000"/>
            </a:avLst>
          </a:prstGeom>
          <a:solidFill>
            <a:srgbClr val="D2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1485C3"/>
                </a:solidFill>
              </a:rPr>
              <a:t>OCI dedicated AI clusters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998732" y="5051360"/>
            <a:ext cx="803500" cy="3045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850" b="0">
                <a:solidFill>
                  <a:srgbClr val="595959"/>
                </a:solidFill>
              </a:rPr>
              <a:t>NVIDIA-funded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358732" y="5380905"/>
            <a:ext cx="11493500" cy="0"/>
          </a:xfrm>
          <a:prstGeom prst="line">
            <a:avLst/>
          </a:prstGeom>
          <a:ln w="9525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408732" y="5455905"/>
            <a:ext cx="520000" cy="180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595959"/>
                </a:solidFill>
                <a:latin typeface="Roboto Mono"/>
              </a:rPr>
              <a:t>HAVE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28732" y="5435905"/>
            <a:ext cx="2200000" cy="3045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595959"/>
                </a:solidFill>
              </a:rPr>
              <a:t>Workforce optimization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328732" y="5435905"/>
            <a:ext cx="2950000" cy="3045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950" b="1">
                <a:solidFill>
                  <a:srgbClr val="595959"/>
                </a:solidFill>
              </a:rPr>
              <a:t>Dispatchers </a:t>
            </a:r>
            <a:r>
              <a:rPr sz="950" b="0">
                <a:solidFill>
                  <a:srgbClr val="595959"/>
                </a:solidFill>
              </a:rPr>
              <a:t>plan by hand: uneven loads, fewer paid jobs a day.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78732" y="5435905"/>
            <a:ext cx="2800000" cy="3045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950" b="0">
                <a:solidFill>
                  <a:srgbClr val="595959"/>
                </a:solidFill>
              </a:rPr>
              <a:t>Four-week plan in minutes; more paid jobs a day.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278732" y="5445905"/>
            <a:ext cx="1440000" cy="200000"/>
          </a:xfrm>
          <a:prstGeom prst="roundRect">
            <a:avLst>
              <a:gd name="adj" fmla="val 50000"/>
            </a:avLst>
          </a:prstGeom>
          <a:solidFill>
            <a:srgbClr val="D2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1485C3"/>
                </a:solidFill>
              </a:rPr>
              <a:t>OCI dedicated AI clusters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98732" y="5435905"/>
            <a:ext cx="803500" cy="3045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850" b="0">
                <a:solidFill>
                  <a:srgbClr val="595959"/>
                </a:solidFill>
              </a:rPr>
              <a:t>NVIDIA-funded; Laser A3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358732" y="5765450"/>
            <a:ext cx="11493500" cy="0"/>
          </a:xfrm>
          <a:prstGeom prst="line">
            <a:avLst/>
          </a:prstGeom>
          <a:ln w="9525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ounded Rectangle 84"/>
          <p:cNvSpPr/>
          <p:nvPr/>
        </p:nvSpPr>
        <p:spPr>
          <a:xfrm>
            <a:off x="408732" y="5840450"/>
            <a:ext cx="520000" cy="180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595959"/>
                </a:solidFill>
                <a:latin typeface="Roboto Mono"/>
              </a:rPr>
              <a:t>HAVE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28732" y="5820450"/>
            <a:ext cx="2200000" cy="3045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595959"/>
                </a:solidFill>
              </a:rPr>
              <a:t>Repair-or-replace decisions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328732" y="5820450"/>
            <a:ext cx="2950000" cy="3045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950" b="1">
                <a:solidFill>
                  <a:srgbClr val="595959"/>
                </a:solidFill>
              </a:rPr>
              <a:t>Claims and repair teams </a:t>
            </a:r>
            <a:r>
              <a:rPr sz="950" b="0">
                <a:solidFill>
                  <a:srgbClr val="595959"/>
                </a:solidFill>
              </a:rPr>
              <a:t>judge damage by eye: needless replacements.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78732" y="5820450"/>
            <a:ext cx="2800000" cy="3045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950" b="0">
                <a:solidFill>
                  <a:srgbClr val="595959"/>
                </a:solidFill>
              </a:rPr>
              <a:t>Damage measured from photos against the rules; a person confirms.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278732" y="5830450"/>
            <a:ext cx="1440000" cy="200000"/>
          </a:xfrm>
          <a:prstGeom prst="roundRect">
            <a:avLst>
              <a:gd name="adj" fmla="val 50000"/>
            </a:avLst>
          </a:prstGeom>
          <a:solidFill>
            <a:srgbClr val="D2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1485C3"/>
                </a:solidFill>
              </a:rPr>
              <a:t>OCI dedicated AI clusters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998732" y="5820450"/>
            <a:ext cx="803500" cy="3045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850" b="0">
                <a:solidFill>
                  <a:srgbClr val="595959"/>
                </a:solidFill>
              </a:rPr>
              <a:t>NVIDIA-funded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358732" y="6149995"/>
            <a:ext cx="11493500" cy="0"/>
          </a:xfrm>
          <a:prstGeom prst="line">
            <a:avLst/>
          </a:prstGeom>
          <a:ln w="9525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358732" y="6210000"/>
            <a:ext cx="11493500" cy="2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595959"/>
                </a:solidFill>
              </a:rPr>
              <a:t>★ </a:t>
            </a:r>
            <a:r>
              <a:rPr sz="800" b="0">
                <a:solidFill>
                  <a:srgbClr val="595959"/>
                </a:solidFill>
              </a:rPr>
              <a:t>Oracle priority campaign   ·   </a:t>
            </a:r>
            <a:r>
              <a:rPr sz="800" b="1">
                <a:solidFill>
                  <a:srgbClr val="595959"/>
                </a:solidFill>
              </a:rPr>
              <a:t>Laser L / A / O: </a:t>
            </a:r>
            <a:r>
              <a:rPr sz="800" b="0">
                <a:solidFill>
                  <a:srgbClr val="595959"/>
                </a:solidFill>
              </a:rPr>
              <a:t>Oracle's campaigns for AI Lakehouse, AIDP and OCI AI customers   ·   </a:t>
            </a:r>
            <a:r>
              <a:rPr sz="800" b="1">
                <a:solidFill>
                  <a:srgbClr val="595959"/>
                </a:solidFill>
              </a:rPr>
              <a:t>NVIDIA-funded: </a:t>
            </a:r>
            <a:r>
              <a:rPr sz="800" b="0">
                <a:solidFill>
                  <a:srgbClr val="595959"/>
                </a:solidFill>
              </a:rPr>
              <a:t>OCI deals Oracle brings with NVIDIA funding   ·   </a:t>
            </a:r>
            <a:r>
              <a:rPr sz="800" b="1">
                <a:solidFill>
                  <a:srgbClr val="595959"/>
                </a:solidFill>
              </a:rPr>
              <a:t>Grey rows: </a:t>
            </a:r>
            <a:r>
              <a:rPr sz="800" b="0">
                <a:solidFill>
                  <a:srgbClr val="595959"/>
                </a:solidFill>
              </a:rPr>
              <a:t>packs we already have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34" sz="quarter"/>
          </p:nvPr>
        </p:nvSpPr>
        <p:spPr/>
        <p:txBody>
          <a:bodyPr/>
          <a:lstStyle/>
          <a:p>
            <a:r>
              <a:t>Oracle packs · packaging strategy · Option 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58732" y="1081987"/>
            <a:ext cx="11493500" cy="470000"/>
          </a:xfrm>
        </p:spPr>
        <p:txBody>
          <a:bodyPr/>
          <a:lstStyle/>
          <a:p>
            <a:r>
              <a:rPr sz="2800" cap="none">
                <a:latin typeface="+mj-lt"/>
              </a:rPr>
              <a:t>Option 3: </a:t>
            </a:r>
            <a:r>
              <a:rPr sz="2800" cap="none">
                <a:solidFill>
                  <a:srgbClr val="F36949"/>
                </a:solidFill>
                <a:latin typeface="+mj-lt"/>
              </a:rPr>
              <a:t>our expertise beyond databases and ERP</a:t>
            </a:r>
            <a:r>
              <a:rPr sz="2800" cap="none">
                <a:latin typeface="+mj-lt"/>
              </a:rPr>
              <a:t>, mostly on OCI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AF2A96F-0713-AFAF-1B23-3B040EC9FA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08732" y="1660000"/>
            <a:ext cx="660000" cy="220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800" b="0">
                <a:solidFill>
                  <a:srgbClr val="808080"/>
                </a:solidFill>
                <a:latin typeface="Roboto Mono"/>
              </a:rPr>
              <a:t>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8732" y="1660000"/>
            <a:ext cx="2150000" cy="220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800" b="0">
                <a:solidFill>
                  <a:srgbClr val="808080"/>
                </a:solidFill>
                <a:latin typeface="Roboto Mono"/>
              </a:rPr>
              <a:t>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18732" y="1660000"/>
            <a:ext cx="3250000" cy="220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800" b="0">
                <a:solidFill>
                  <a:srgbClr val="808080"/>
                </a:solidFill>
                <a:latin typeface="Roboto Mono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8732" y="1660000"/>
            <a:ext cx="3250000" cy="220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800" b="0">
                <a:solidFill>
                  <a:srgbClr val="808080"/>
                </a:solidFill>
                <a:latin typeface="Roboto Mono"/>
              </a:rPr>
              <a:t>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18732" y="1660000"/>
            <a:ext cx="1683500" cy="220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800" b="0">
                <a:solidFill>
                  <a:srgbClr val="808080"/>
                </a:solidFill>
                <a:latin typeface="Roboto Mono"/>
              </a:rPr>
              <a:t>RUNS 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58732" y="1920000"/>
            <a:ext cx="11493500" cy="0"/>
          </a:xfrm>
          <a:prstGeom prst="line">
            <a:avLst/>
          </a:prstGeom>
          <a:ln w="12700">
            <a:solidFill>
              <a:srgbClr val="F369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08732" y="1995000"/>
            <a:ext cx="660000" cy="180000"/>
          </a:xfrm>
          <a:prstGeom prst="roundRect">
            <a:avLst>
              <a:gd name="adj" fmla="val 50000"/>
            </a:avLst>
          </a:prstGeom>
          <a:solidFill>
            <a:srgbClr val="262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Roboto Mono"/>
              </a:rPr>
              <a:t>PURSUE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8732" y="1975000"/>
            <a:ext cx="2150000" cy="3744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1050" b="1">
                <a:solidFill>
                  <a:srgbClr val="26282B"/>
                </a:solidFill>
              </a:rPr>
              <a:t>Digital twins for sites and factories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8732" y="1975000"/>
            <a:ext cx="3250000" cy="3744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1000" b="1">
                <a:solidFill>
                  <a:srgbClr val="26282B"/>
                </a:solidFill>
              </a:rPr>
              <a:t>Planners </a:t>
            </a:r>
            <a:r>
              <a:rPr sz="1000" b="0">
                <a:solidFill>
                  <a:srgbClr val="26282B"/>
                </a:solidFill>
              </a:rPr>
              <a:t>redesign sites and factories on paper and on site; each change takes months.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8732" y="1975000"/>
            <a:ext cx="3250000" cy="3744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1000" b="0">
                <a:solidFill>
                  <a:srgbClr val="26282B"/>
                </a:solidFill>
              </a:rPr>
              <a:t>A live 3D twin tests changes before building: siting from 18 months to 8 weeks.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18732" y="1985000"/>
            <a:ext cx="1440000" cy="200000"/>
          </a:xfrm>
          <a:prstGeom prst="roundRect">
            <a:avLst>
              <a:gd name="adj" fmla="val 50000"/>
            </a:avLst>
          </a:prstGeom>
          <a:solidFill>
            <a:srgbClr val="D2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1485C3"/>
                </a:solidFill>
              </a:rPr>
              <a:t>OCI dedicated AI clusters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8732" y="2205000"/>
            <a:ext cx="1683500" cy="1644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50" b="0">
                <a:solidFill>
                  <a:srgbClr val="595959"/>
                </a:solidFill>
              </a:rPr>
              <a:t>NVIDIA Omniverse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58732" y="2374444"/>
            <a:ext cx="11493500" cy="0"/>
          </a:xfrm>
          <a:prstGeom prst="line">
            <a:avLst/>
          </a:prstGeom>
          <a:ln w="9525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08732" y="2449444"/>
            <a:ext cx="660000" cy="180000"/>
          </a:xfrm>
          <a:prstGeom prst="roundRect">
            <a:avLst>
              <a:gd name="adj" fmla="val 50000"/>
            </a:avLst>
          </a:prstGeom>
          <a:solidFill>
            <a:srgbClr val="262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Roboto Mono"/>
              </a:rPr>
              <a:t>PURSUE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8732" y="2429444"/>
            <a:ext cx="2150000" cy="3744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1050" b="1">
                <a:solidFill>
                  <a:srgbClr val="26282B"/>
                </a:solidFill>
              </a:rPr>
              <a:t>Physics simulation models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18732" y="2429444"/>
            <a:ext cx="3250000" cy="3744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1000" b="1">
                <a:solidFill>
                  <a:srgbClr val="26282B"/>
                </a:solidFill>
              </a:rPr>
              <a:t>Engineers </a:t>
            </a:r>
            <a:r>
              <a:rPr sz="1000" b="0">
                <a:solidFill>
                  <a:srgbClr val="26282B"/>
                </a:solidFill>
              </a:rPr>
              <a:t>wait hours per physics simulation, so every design change delays the product.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8732" y="2429444"/>
            <a:ext cx="3250000" cy="3744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1000" b="0">
                <a:solidFill>
                  <a:srgbClr val="26282B"/>
                </a:solidFill>
              </a:rPr>
              <a:t>Physics-ML models on GPUs: simulation from 4 h to 5 min, downtime −15%.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18732" y="2439444"/>
            <a:ext cx="1440000" cy="200000"/>
          </a:xfrm>
          <a:prstGeom prst="roundRect">
            <a:avLst>
              <a:gd name="adj" fmla="val 50000"/>
            </a:avLst>
          </a:prstGeom>
          <a:solidFill>
            <a:srgbClr val="D2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1485C3"/>
                </a:solidFill>
              </a:rPr>
              <a:t>OCI dedicated AI clusters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18732" y="2659444"/>
            <a:ext cx="1683500" cy="1644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50" b="0">
                <a:solidFill>
                  <a:srgbClr val="595959"/>
                </a:solidFill>
              </a:rPr>
              <a:t>NVIDIA PhysicsNeMo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58732" y="2828888"/>
            <a:ext cx="11493500" cy="0"/>
          </a:xfrm>
          <a:prstGeom prst="line">
            <a:avLst/>
          </a:prstGeom>
          <a:ln w="9525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08732" y="2903888"/>
            <a:ext cx="660000" cy="180000"/>
          </a:xfrm>
          <a:prstGeom prst="roundRect">
            <a:avLst>
              <a:gd name="adj" fmla="val 50000"/>
            </a:avLst>
          </a:prstGeom>
          <a:solidFill>
            <a:srgbClr val="262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Roboto Mono"/>
              </a:rPr>
              <a:t>PURSUE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8732" y="2883888"/>
            <a:ext cx="2150000" cy="3744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1050" b="1">
                <a:solidFill>
                  <a:srgbClr val="26282B"/>
                </a:solidFill>
              </a:rPr>
              <a:t>GPU workload tuning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18732" y="2883888"/>
            <a:ext cx="3250000" cy="3744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1000" b="1">
                <a:solidFill>
                  <a:srgbClr val="26282B"/>
                </a:solidFill>
              </a:rPr>
              <a:t>CTOs </a:t>
            </a:r>
            <a:r>
              <a:rPr sz="1000" b="0">
                <a:solidFill>
                  <a:srgbClr val="26282B"/>
                </a:solidFill>
              </a:rPr>
              <a:t>run AI and simulation jobs on untuned cloud GPUs; the bill keeps climbing.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8732" y="2883888"/>
            <a:ext cx="3250000" cy="3744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1000" b="0">
                <a:solidFill>
                  <a:srgbClr val="26282B"/>
                </a:solidFill>
              </a:rPr>
              <a:t>Workloads moved to dedicated clusters and tuned: run time halved, cost about −50%.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18732" y="2893888"/>
            <a:ext cx="1440000" cy="200000"/>
          </a:xfrm>
          <a:prstGeom prst="roundRect">
            <a:avLst>
              <a:gd name="adj" fmla="val 50000"/>
            </a:avLst>
          </a:prstGeom>
          <a:solidFill>
            <a:srgbClr val="D2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1485C3"/>
                </a:solidFill>
              </a:rPr>
              <a:t>OCI dedicated AI clusters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58732" y="3283332"/>
            <a:ext cx="11493500" cy="0"/>
          </a:xfrm>
          <a:prstGeom prst="line">
            <a:avLst/>
          </a:prstGeom>
          <a:ln w="9525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08732" y="3358332"/>
            <a:ext cx="660000" cy="180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62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26282B"/>
                </a:solidFill>
                <a:latin typeface="Roboto Mono"/>
              </a:rPr>
              <a:t>PROOF ONLY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68732" y="3338332"/>
            <a:ext cx="2150000" cy="3744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1050" b="1">
                <a:solidFill>
                  <a:srgbClr val="26282B"/>
                </a:solidFill>
              </a:rPr>
              <a:t>Simulation-first robotics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18732" y="3338332"/>
            <a:ext cx="3250000" cy="3744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1000" b="1">
                <a:solidFill>
                  <a:srgbClr val="26282B"/>
                </a:solidFill>
              </a:rPr>
              <a:t>Robotics teams </a:t>
            </a:r>
            <a:r>
              <a:rPr sz="1000" b="0">
                <a:solidFill>
                  <a:srgbClr val="26282B"/>
                </a:solidFill>
              </a:rPr>
              <a:t>lack real training footage, so each robot deployment waits months.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8732" y="3338332"/>
            <a:ext cx="3250000" cy="3744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1000" b="0">
                <a:solidFill>
                  <a:srgbClr val="26282B"/>
                </a:solidFill>
              </a:rPr>
              <a:t>Trained in simulation, tuned on 15 min of real video: recall from 49% to 93%.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18732" y="3348332"/>
            <a:ext cx="1440000" cy="200000"/>
          </a:xfrm>
          <a:prstGeom prst="roundRect">
            <a:avLst>
              <a:gd name="adj" fmla="val 50000"/>
            </a:avLst>
          </a:prstGeom>
          <a:solidFill>
            <a:srgbClr val="D2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1485C3"/>
                </a:solidFill>
              </a:rPr>
              <a:t>OCI dedicated AI clusters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18732" y="3568332"/>
            <a:ext cx="1683500" cy="1644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50" b="0">
                <a:solidFill>
                  <a:srgbClr val="595959"/>
                </a:solidFill>
              </a:rPr>
              <a:t>synthetic data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58732" y="3737776"/>
            <a:ext cx="11493500" cy="0"/>
          </a:xfrm>
          <a:prstGeom prst="line">
            <a:avLst/>
          </a:prstGeom>
          <a:ln w="9525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408732" y="3812776"/>
            <a:ext cx="660000" cy="180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62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26282B"/>
                </a:solidFill>
                <a:latin typeface="Roboto Mono"/>
              </a:rPr>
              <a:t>PROOF ONLY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68732" y="3792776"/>
            <a:ext cx="2150000" cy="3744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1050" b="1">
                <a:solidFill>
                  <a:srgbClr val="26282B"/>
                </a:solidFill>
              </a:rPr>
              <a:t>Industrial IoT and production analytics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18732" y="3792776"/>
            <a:ext cx="3250000" cy="3744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1000" b="1">
                <a:solidFill>
                  <a:srgbClr val="26282B"/>
                </a:solidFill>
              </a:rPr>
              <a:t>Production engineers </a:t>
            </a:r>
            <a:r>
              <a:rPr sz="1000" b="0">
                <a:solidFill>
                  <a:srgbClr val="26282B"/>
                </a:solidFill>
              </a:rPr>
              <a:t>can't explain losses with machine and test data spread over ~10 systems.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8732" y="3792776"/>
            <a:ext cx="3250000" cy="3744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1000" b="0">
                <a:solidFill>
                  <a:srgbClr val="26282B"/>
                </a:solidFill>
              </a:rPr>
              <a:t>One analytics layer over factory data: energy −10%, testing productivity +10–15%.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118732" y="3802776"/>
            <a:ext cx="373200" cy="200000"/>
          </a:xfrm>
          <a:prstGeom prst="roundRect">
            <a:avLst>
              <a:gd name="adj" fmla="val 50000"/>
            </a:avLst>
          </a:prstGeom>
          <a:solidFill>
            <a:srgbClr val="FD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26282B"/>
                </a:solidFill>
              </a:rPr>
              <a:t>AIDP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58732" y="4192220"/>
            <a:ext cx="11493500" cy="0"/>
          </a:xfrm>
          <a:prstGeom prst="line">
            <a:avLst/>
          </a:prstGeom>
          <a:ln w="9525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408732" y="4267220"/>
            <a:ext cx="660000" cy="180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62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26282B"/>
                </a:solidFill>
                <a:latin typeface="Roboto Mono"/>
              </a:rPr>
              <a:t>PROOF ONLY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68732" y="4247220"/>
            <a:ext cx="2150000" cy="3744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1050" b="1">
                <a:solidFill>
                  <a:srgbClr val="26282B"/>
                </a:solidFill>
              </a:rPr>
              <a:t>Energy production and emissions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18732" y="4247220"/>
            <a:ext cx="3250000" cy="3744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1000" b="1">
                <a:solidFill>
                  <a:srgbClr val="26282B"/>
                </a:solidFill>
              </a:rPr>
              <a:t>Oil and gas operators </a:t>
            </a:r>
            <a:r>
              <a:rPr sz="1000" b="0">
                <a:solidFill>
                  <a:srgbClr val="26282B"/>
                </a:solidFill>
              </a:rPr>
              <a:t>tune well pumps and gas lift by hand, so wells under-produce.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8732" y="4247220"/>
            <a:ext cx="3250000" cy="3744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1000" b="0">
                <a:solidFill>
                  <a:srgbClr val="26282B"/>
                </a:solidFill>
              </a:rPr>
              <a:t>ML on production data tunes pumps and gas lift: +45,000 barrels a month.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118732" y="4257220"/>
            <a:ext cx="373200" cy="200000"/>
          </a:xfrm>
          <a:prstGeom prst="roundRect">
            <a:avLst>
              <a:gd name="adj" fmla="val 50000"/>
            </a:avLst>
          </a:prstGeom>
          <a:solidFill>
            <a:srgbClr val="FD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26282B"/>
                </a:solidFill>
              </a:rPr>
              <a:t>AIDP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58732" y="4646664"/>
            <a:ext cx="11493500" cy="0"/>
          </a:xfrm>
          <a:prstGeom prst="line">
            <a:avLst/>
          </a:prstGeom>
          <a:ln w="9525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408732" y="4721664"/>
            <a:ext cx="660000" cy="180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595959"/>
                </a:solidFill>
                <a:latin typeface="Roboto Mono"/>
              </a:rPr>
              <a:t>PARK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68732" y="4701664"/>
            <a:ext cx="2150000" cy="3744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1050" b="1">
                <a:solidFill>
                  <a:srgbClr val="26282B"/>
                </a:solidFill>
              </a:rPr>
              <a:t>Seismic and asset-image deep learning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18732" y="4701664"/>
            <a:ext cx="3250000" cy="3744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1000" b="1">
                <a:solidFill>
                  <a:srgbClr val="26282B"/>
                </a:solidFill>
              </a:rPr>
              <a:t>Geoscientists and inspectors </a:t>
            </a:r>
            <a:r>
              <a:rPr sz="1000" b="0">
                <a:solidFill>
                  <a:srgbClr val="26282B"/>
                </a:solidFill>
              </a:rPr>
              <a:t>read seismic volumes and inspection images by hand; findings come late.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68732" y="4701664"/>
            <a:ext cx="3250000" cy="3744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1000" b="0">
                <a:solidFill>
                  <a:srgbClr val="26282B"/>
                </a:solidFill>
              </a:rPr>
              <a:t>Deep learning segments 3D seismic data and flags corrosion in images (PoC level).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118732" y="4711664"/>
            <a:ext cx="1440000" cy="200000"/>
          </a:xfrm>
          <a:prstGeom prst="roundRect">
            <a:avLst>
              <a:gd name="adj" fmla="val 50000"/>
            </a:avLst>
          </a:prstGeom>
          <a:solidFill>
            <a:srgbClr val="D2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1485C3"/>
                </a:solidFill>
              </a:rPr>
              <a:t>OCI dedicated AI clusters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58732" y="5101108"/>
            <a:ext cx="11493500" cy="0"/>
          </a:xfrm>
          <a:prstGeom prst="line">
            <a:avLst/>
          </a:prstGeom>
          <a:ln w="9525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408732" y="5176108"/>
            <a:ext cx="660000" cy="180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595959"/>
                </a:solidFill>
                <a:latin typeface="Roboto Mono"/>
              </a:rPr>
              <a:t>PARK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68732" y="5156108"/>
            <a:ext cx="2150000" cy="3744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1050" b="1">
                <a:solidFill>
                  <a:srgbClr val="26282B"/>
                </a:solidFill>
              </a:rPr>
              <a:t>Generative content on brand data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418732" y="5156108"/>
            <a:ext cx="3250000" cy="3744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1000" b="1">
                <a:solidFill>
                  <a:srgbClr val="26282B"/>
                </a:solidFill>
              </a:rPr>
              <a:t>Brand teams </a:t>
            </a:r>
            <a:r>
              <a:rPr sz="1000" b="0">
                <a:solidFill>
                  <a:srgbClr val="26282B"/>
                </a:solidFill>
              </a:rPr>
              <a:t>produce labels and visuals by hand, so campaigns wait on designers.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68732" y="5156108"/>
            <a:ext cx="3250000" cy="3744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1000" b="0">
                <a:solidFill>
                  <a:srgbClr val="26282B"/>
                </a:solidFill>
              </a:rPr>
              <a:t>Models trained on brand assets generate labels and images at volume, live in production.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118732" y="5166108"/>
            <a:ext cx="1440000" cy="200000"/>
          </a:xfrm>
          <a:prstGeom prst="roundRect">
            <a:avLst>
              <a:gd name="adj" fmla="val 50000"/>
            </a:avLst>
          </a:prstGeom>
          <a:solidFill>
            <a:srgbClr val="D2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1485C3"/>
                </a:solidFill>
              </a:rPr>
              <a:t>OCI dedicated AI clusters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358732" y="5555552"/>
            <a:ext cx="11493500" cy="0"/>
          </a:xfrm>
          <a:prstGeom prst="line">
            <a:avLst/>
          </a:prstGeom>
          <a:ln w="9525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408732" y="5630552"/>
            <a:ext cx="660000" cy="180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595959"/>
                </a:solidFill>
                <a:latin typeface="Roboto Mono"/>
              </a:rPr>
              <a:t>PARK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68732" y="5610552"/>
            <a:ext cx="2150000" cy="3744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1050" b="1">
                <a:solidFill>
                  <a:srgbClr val="26282B"/>
                </a:solidFill>
              </a:rPr>
              <a:t>Vision on aerial imagery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18732" y="5610552"/>
            <a:ext cx="3250000" cy="3744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1000" b="1">
                <a:solidFill>
                  <a:srgbClr val="26282B"/>
                </a:solidFill>
              </a:rPr>
              <a:t>Insurers </a:t>
            </a:r>
            <a:r>
              <a:rPr sz="1000" b="0">
                <a:solidFill>
                  <a:srgbClr val="26282B"/>
                </a:solidFill>
              </a:rPr>
              <a:t>inspect properties visit by visit, so underwriting data is thin and costly.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68732" y="5610552"/>
            <a:ext cx="3250000" cy="3744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1000" b="0">
                <a:solidFill>
                  <a:srgbClr val="26282B"/>
                </a:solidFill>
              </a:rPr>
              <a:t>Vision models read 12 property attributes from aerial images for 25,000+ sites.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118732" y="5620552"/>
            <a:ext cx="1440000" cy="200000"/>
          </a:xfrm>
          <a:prstGeom prst="roundRect">
            <a:avLst>
              <a:gd name="adj" fmla="val 50000"/>
            </a:avLst>
          </a:prstGeom>
          <a:solidFill>
            <a:srgbClr val="D2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1485C3"/>
                </a:solidFill>
              </a:rPr>
              <a:t>OCI dedicated AI clusters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358732" y="6009996"/>
            <a:ext cx="11493500" cy="0"/>
          </a:xfrm>
          <a:prstGeom prst="line">
            <a:avLst/>
          </a:prstGeom>
          <a:ln w="9525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358732" y="6070000"/>
            <a:ext cx="11493500" cy="34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595959"/>
                </a:solidFill>
              </a:rPr>
              <a:t>Call (the expertise review's verdict on Oracle demand):</a:t>
            </a:r>
            <a:r>
              <a:rPr sz="800" b="0">
                <a:solidFill>
                  <a:srgbClr val="595959"/>
                </a:solidFill>
              </a:rPr>
              <a:t> Pursue = a live Oracle lead or priority campaign · Proof only = strong SoftServe proof, no Oracle lead · Park = thin proof or no demand signal.</a:t>
            </a:r>
          </a:p>
          <a:p>
            <a:pPr algn="l">
              <a:lnSpc>
                <a:spcPct val="100000"/>
              </a:lnSpc>
            </a:pPr>
            <a:r>
              <a:rPr sz="800" b="1">
                <a:solidFill>
                  <a:srgbClr val="595959"/>
                </a:solidFill>
              </a:rPr>
              <a:t>Also found, data- and ERP-centric (Option 2 territory):</a:t>
            </a:r>
            <a:r>
              <a:rPr sz="800" b="0">
                <a:solidFill>
                  <a:srgbClr val="595959"/>
                </a:solidFill>
              </a:rPr>
              <a:t> supply-chain agents on ERP data · CFO finance analytics · warehouse migrations · a governed semantic layer · banking risk data · document Q&amp;A.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26 Corporate Template">
  <a:themeElements>
    <a:clrScheme name="SoftServe">
      <a:dk1>
        <a:srgbClr val="000000"/>
      </a:dk1>
      <a:lt1>
        <a:srgbClr val="FFFFFF"/>
      </a:lt1>
      <a:dk2>
        <a:srgbClr val="26282B"/>
      </a:dk2>
      <a:lt2>
        <a:srgbClr val="EDF0F2"/>
      </a:lt2>
      <a:accent1>
        <a:srgbClr val="1485C3"/>
      </a:accent1>
      <a:accent2>
        <a:srgbClr val="459FDD"/>
      </a:accent2>
      <a:accent3>
        <a:srgbClr val="C1DFF3"/>
      </a:accent3>
      <a:accent4>
        <a:srgbClr val="F36949"/>
      </a:accent4>
      <a:accent5>
        <a:srgbClr val="FE8D6B"/>
      </a:accent5>
      <a:accent6>
        <a:srgbClr val="FFCEC0"/>
      </a:accent6>
      <a:hlink>
        <a:srgbClr val="0563C1"/>
      </a:hlink>
      <a:folHlink>
        <a:srgbClr val="4C5156"/>
      </a:folHlink>
    </a:clrScheme>
    <a:fontScheme name="Mix2">
      <a:majorFont>
        <a:latin typeface="Azurio"/>
        <a:ea typeface=""/>
        <a:cs typeface=""/>
      </a:majorFont>
      <a:minorFont>
        <a:latin typeface="Replica LL TT"/>
        <a:ea typeface=""/>
        <a:cs typeface="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ftServe Template_30.04" id="{78154BEB-4A8C-EB46-9F23-388FEC231FF7}" vid="{FFFE069B-A98E-1946-A600-E97DFA03DEC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213D2FA8-45BC-914D-B66F-02B3A077ACCB}">
  <we:reference id="wa200010001" version="1.0.0.1" store="en-GB" storeType="OMEX"/>
  <we:alternateReferences>
    <we:reference id="WA200010001" version="1.0.0.1" store="WA200010001" storeType="OMEX"/>
  </we:alternateReferences>
  <we:properties>
    <we:property name="claude.fileId" value="&quot;f69d9a96-e3ef-4104-8c4b-2ddeca3b27be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1D8B1DC3-C6EC-B840-AEB7-A60E8AC76933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9f2eafe5-bf42-4964-9d6e-64abb0700d17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EA2235D5E88145BF1C4547E2B18A06" ma:contentTypeVersion="4" ma:contentTypeDescription="Create a new document." ma:contentTypeScope="" ma:versionID="07eb133998e241ca422b03216c87fb5a">
  <xsd:schema xmlns:xsd="http://www.w3.org/2001/XMLSchema" xmlns:xs="http://www.w3.org/2001/XMLSchema" xmlns:p="http://schemas.microsoft.com/office/2006/metadata/properties" xmlns:ns2="8aa81e57-3ca5-41ca-b900-588daa88edda" targetNamespace="http://schemas.microsoft.com/office/2006/metadata/properties" ma:root="true" ma:fieldsID="75ca66f714348251d9eab6ffafbf4d89" ns2:_="">
    <xsd:import namespace="8aa81e57-3ca5-41ca-b900-588daa88ed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a81e57-3ca5-41ca-b900-588daa88ed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28D0A93-F0EA-45EB-9DB5-5B844358CA9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6738464-044C-470B-8810-28CF6336FCA2}">
  <ds:schemaRefs>
    <ds:schemaRef ds:uri="8aa81e57-3ca5-41ca-b900-588daa88edd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9383CD7-F1A8-471C-A0CD-38F0172F3A2B}">
  <ds:schemaRefs>
    <ds:schemaRef ds:uri="8aa81e57-3ca5-41ca-b900-588daa88edd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6c51c659-9d52-41af-81f7-dde16380e813}" enabled="0" method="" siteId="{6c51c659-9d52-41af-81f7-dde16380e81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SoftServe Template</Template>
  <Application>Microsoft Office PowerPoint</Application>
  <PresentationFormat>Widescreen</PresentationFormat>
  <Slides>23</Slides>
  <Notes>5</Notes>
  <HiddenSlides>4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2026 Corporate Template</vt:lpstr>
      <vt:lpstr>PowerPoint Presentation</vt:lpstr>
      <vt:lpstr>Contents</vt:lpstr>
      <vt:lpstr>Executive updates on cooperation progress</vt:lpstr>
      <vt:lpstr>Joint opportunities &amp; pipeline review</vt:lpstr>
      <vt:lpstr>Engagement Status (NVIDIA funding track)</vt:lpstr>
      <vt:lpstr>Engagement Status (Oracle-SoftServe direct customer pursuit)</vt:lpstr>
      <vt:lpstr>Follow-up topics from previous Executive Alignment May 2026</vt:lpstr>
      <vt:lpstr>AI-accelerated Apps initiative</vt:lpstr>
      <vt:lpstr>Workforce optimization – accelerator app</vt:lpstr>
      <vt:lpstr>Oracle aidp relaunch and gtm alignment</vt:lpstr>
      <vt:lpstr>Partnership structure</vt:lpstr>
      <vt:lpstr>AI FACTORY as SERVICE </vt:lpstr>
      <vt:lpstr>Softserve dedicated oracle practice</vt:lpstr>
      <vt:lpstr>PowerPoint Presentation</vt:lpstr>
      <vt:lpstr>HOW SOFTSERVE DEDICATED PRACTICE CAN CONTRIBUTE TO ORACLE’S AI AND DATA GTM STRATEGY</vt:lpstr>
      <vt:lpstr>01  · PACKAGED BUSINESS APPS</vt:lpstr>
      <vt:lpstr>01  · PACKAGED BUSINESS APPS: AI USE CASES</vt:lpstr>
      <vt:lpstr>HOW SOFTSERVE DEDICATED PRACTICE CAN CONTRIBUTE TO ORACLE’S AI AND DATA GTM STRATEGY</vt:lpstr>
      <vt:lpstr>01  · PACKAGED BUSINESS APPS: AI USE CASES</vt:lpstr>
      <vt:lpstr>02  ·  JOINT MARKETING &amp; LEAD GEN</vt:lpstr>
      <vt:lpstr>03  ·  SERVICE DELIVERY: VALUE REALIZATION &amp; ADOPTION</vt:lpstr>
      <vt:lpstr>Next Steps &amp; Closure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Nataliia Kolobkova</dc:creator>
  <cp:keywords/>
  <dc:description/>
  <cp:revision>2</cp:revision>
  <dcterms:created xsi:type="dcterms:W3CDTF">2026-05-05T14:12:12Z</dcterms:created>
  <dcterms:modified xsi:type="dcterms:W3CDTF">2026-07-27T11:41:55Z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0x01010081EA2235D5E88145BF1C4547E2B18A06</vt:lpwstr>
  </property>
  <property fmtid="{D5CDD505-2E9C-101B-9397-08002B2CF9AE}" pid="3" name="MediaServiceImageTags">
    <vt:lpwstr/>
  </property>
</Properties>
</file>